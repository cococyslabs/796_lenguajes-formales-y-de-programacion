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10287000" cx="18288000"/>
  <p:notesSz cx="6858000" cy="9144000"/>
  <p:embeddedFontLs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MqIpCVi5bN7F4LQqtDK5IJO1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4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21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regular.fnt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be55ded94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ebe55ded94_0_7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be55ded9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ebe55ded94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e55ded9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ebe55ded94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be55ded94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ebe55ded94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be55ded94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ebe55ded94_0_3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be55ded94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ebe55ded94_0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be55ded94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be55ded94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be1e41415_0_184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g3ebe1e41415_0_184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g3ebe1e41415_0_18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be1e41415_0_188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g3ebe1e41415_0_18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ebe1e41415_0_19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g3ebe1e41415_0_19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g3ebe1e41415_0_19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ebe1e41415_0_19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g3ebe1e41415_0_19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g3ebe1e41415_0_19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g3ebe1e41415_0_19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ebe1e41415_0_20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g3ebe1e41415_0_20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be1e41415_0_203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g3ebe1e41415_0_203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g3ebe1e41415_0_20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be1e41415_0_207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g3ebe1e41415_0_20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be1e41415_0_21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ebe1e41415_0_210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g3ebe1e41415_0_210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g3ebe1e41415_0_210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g3ebe1e41415_0_2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be1e41415_0_216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g3ebe1e41415_0_2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be1e41415_0_2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g3ebe1e41415_0_2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g3ebe1e41415_0_2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be1e41415_0_2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be55ded94_0_471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56" name="Google Shape;56;g3ebe55ded94_0_471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7" name="Google Shape;57;g3ebe55ded94_0_47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be55ded94_0_475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0" name="Google Shape;60;g3ebe55ded94_0_47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be55ded94_0_47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3" name="Google Shape;63;g3ebe55ded94_0_47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4" name="Google Shape;64;g3ebe55ded94_0_47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be55ded94_0_48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7" name="Google Shape;67;g3ebe55ded94_0_482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8" name="Google Shape;68;g3ebe55ded94_0_482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9" name="Google Shape;69;g3ebe55ded94_0_48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be55ded94_0_48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2" name="Google Shape;72;g3ebe55ded94_0_48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be55ded94_0_490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5" name="Google Shape;75;g3ebe55ded94_0_490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6" name="Google Shape;76;g3ebe55ded94_0_49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be55ded94_0_494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79" name="Google Shape;79;g3ebe55ded94_0_49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be55ded94_0_497"/>
          <p:cNvSpPr/>
          <p:nvPr/>
        </p:nvSpPr>
        <p:spPr>
          <a:xfrm>
            <a:off x="9144000" y="50"/>
            <a:ext cx="9144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be55ded94_0_49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83" name="Google Shape;83;g3ebe55ded94_0_49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g3ebe55ded94_0_497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>
                <a:solidFill>
                  <a:schemeClr val="dk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>
                <a:solidFill>
                  <a:schemeClr val="dk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>
                <a:solidFill>
                  <a:schemeClr val="dk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>
                <a:solidFill>
                  <a:schemeClr val="dk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>
                <a:solidFill>
                  <a:schemeClr val="dk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>
                <a:solidFill>
                  <a:schemeClr val="dk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>
                <a:solidFill>
                  <a:schemeClr val="dk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g3ebe55ded94_0_49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be55ded94_0_503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88" name="Google Shape;88;g3ebe55ded94_0_50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be55ded94_0_506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91" name="Google Shape;91;g3ebe55ded94_0_506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92" name="Google Shape;92;g3ebe55ded94_0_50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be55ded94_0_5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be55ded94_0_7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ebe55ded94_0_7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be55ded94_0_7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be55ded94_0_73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be55ded94_0_7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g3ebe55ded94_0_73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ebe55ded94_0_73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ebe55ded94_0_7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be55ded94_0_7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ebe55ded94_0_74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ebe55ded94_0_7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ebe55ded94_0_7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ebe55ded94_0_7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be55ded94_0_75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ebe55ded94_0_75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g3ebe55ded94_0_75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ebe55ded94_0_75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be55ded94_0_75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be55ded94_0_7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ebe55ded94_0_75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6" name="Google Shape;126;g3ebe55ded94_0_75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7" name="Google Shape;127;g3ebe55ded94_0_75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be55ded94_0_75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ebe55ded94_0_75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be55ded94_0_7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ebe55ded94_0_764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3" name="Google Shape;133;g3ebe55ded94_0_764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4" name="Google Shape;134;g3ebe55ded94_0_764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5" name="Google Shape;135;g3ebe55ded94_0_764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6" name="Google Shape;136;g3ebe55ded94_0_76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ebe55ded94_0_76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ebe55ded94_0_76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be55ded94_0_7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ebe55ded94_0_77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ebe55ded94_0_77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ebe55ded94_0_7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be55ded94_0_778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be55ded94_0_778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7" name="Google Shape;147;g3ebe55ded94_0_778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8" name="Google Shape;148;g3ebe55ded94_0_77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ebe55ded94_0_77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ebe55ded94_0_77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be55ded94_0_785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ebe55ded94_0_78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g3ebe55ded94_0_785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g3ebe55ded94_0_78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ebe55ded94_0_78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ebe55ded94_0_78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be55ded94_0_7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ebe55ded94_0_792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g3ebe55ded94_0_79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ebe55ded94_0_79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ebe55ded94_0_79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be55ded94_0_798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ebe55ded94_0_798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g3ebe55ded94_0_7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be55ded94_0_7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ebe55ded94_0_7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be1e41415_0_18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ebe1e41415_0_18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ebe1e41415_0_18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e55ded94_0_4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g3ebe55ded94_0_4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●"/>
              <a:defRPr sz="3600">
                <a:solidFill>
                  <a:schemeClr val="lt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○"/>
              <a:defRPr sz="2800">
                <a:solidFill>
                  <a:schemeClr val="lt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■"/>
              <a:defRPr sz="2800">
                <a:solidFill>
                  <a:schemeClr val="lt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sz="2800">
                <a:solidFill>
                  <a:schemeClr val="lt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○"/>
              <a:defRPr sz="2800">
                <a:solidFill>
                  <a:schemeClr val="lt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■"/>
              <a:defRPr sz="2800">
                <a:solidFill>
                  <a:schemeClr val="lt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sz="2800">
                <a:solidFill>
                  <a:schemeClr val="lt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○"/>
              <a:defRPr sz="2800">
                <a:solidFill>
                  <a:schemeClr val="lt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■"/>
              <a:defRPr sz="2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g3ebe55ded94_0_4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lt2"/>
                </a:solidFill>
              </a:defRPr>
            </a:lvl1pPr>
            <a:lvl2pPr lvl="1" algn="r">
              <a:buNone/>
              <a:defRPr sz="2000">
                <a:solidFill>
                  <a:schemeClr val="lt2"/>
                </a:solidFill>
              </a:defRPr>
            </a:lvl2pPr>
            <a:lvl3pPr lvl="2" algn="r">
              <a:buNone/>
              <a:defRPr sz="2000">
                <a:solidFill>
                  <a:schemeClr val="lt2"/>
                </a:solidFill>
              </a:defRPr>
            </a:lvl3pPr>
            <a:lvl4pPr lvl="3" algn="r">
              <a:buNone/>
              <a:defRPr sz="2000">
                <a:solidFill>
                  <a:schemeClr val="lt2"/>
                </a:solidFill>
              </a:defRPr>
            </a:lvl4pPr>
            <a:lvl5pPr lvl="4" algn="r">
              <a:buNone/>
              <a:defRPr sz="2000">
                <a:solidFill>
                  <a:schemeClr val="lt2"/>
                </a:solidFill>
              </a:defRPr>
            </a:lvl5pPr>
            <a:lvl6pPr lvl="5" algn="r">
              <a:buNone/>
              <a:defRPr sz="2000">
                <a:solidFill>
                  <a:schemeClr val="lt2"/>
                </a:solidFill>
              </a:defRPr>
            </a:lvl6pPr>
            <a:lvl7pPr lvl="6" algn="r">
              <a:buNone/>
              <a:defRPr sz="2000">
                <a:solidFill>
                  <a:schemeClr val="lt2"/>
                </a:solidFill>
              </a:defRPr>
            </a:lvl7pPr>
            <a:lvl8pPr lvl="7" algn="r">
              <a:buNone/>
              <a:defRPr sz="2000">
                <a:solidFill>
                  <a:schemeClr val="lt2"/>
                </a:solidFill>
              </a:defRPr>
            </a:lvl8pPr>
            <a:lvl9pPr lvl="8" algn="r">
              <a:buNone/>
              <a:defRPr sz="2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be55ded94_0_7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ebe55ded94_0_7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ebe55ded94_0_7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g3ebe55ded94_0_7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g3ebe55ded94_0_7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76" name="Google Shape;17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176" name="Google Shape;176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Google Shape;17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48661" y="9201150"/>
            <a:ext cx="8072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Carlos Samuel Aguilar Acosta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Lenguajes Formales y de Programación B+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be55ded94_0_710"/>
          <p:cNvSpPr/>
          <p:nvPr/>
        </p:nvSpPr>
        <p:spPr>
          <a:xfrm>
            <a:off x="4043575" y="2408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g3ebe55ded94_0_710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g3ebe55ded94_0_710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ebe55ded94_0_710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g3ebe55ded94_0_710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g3ebe55ded94_0_710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g3ebe55ded94_0_710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g3ebe55ded94_0_710"/>
          <p:cNvSpPr/>
          <p:nvPr/>
        </p:nvSpPr>
        <p:spPr>
          <a:xfrm>
            <a:off x="4853220" y="63889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g3ebe55ded94_0_710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g3ebe55ded94_0_710"/>
          <p:cNvSpPr txBox="1"/>
          <p:nvPr/>
        </p:nvSpPr>
        <p:spPr>
          <a:xfrm>
            <a:off x="5749367" y="66167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g3ebe55ded94_0_710"/>
          <p:cNvSpPr txBox="1"/>
          <p:nvPr/>
        </p:nvSpPr>
        <p:spPr>
          <a:xfrm>
            <a:off x="5336142" y="75897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g3ebe55ded94_0_710"/>
          <p:cNvSpPr txBox="1"/>
          <p:nvPr/>
        </p:nvSpPr>
        <p:spPr>
          <a:xfrm>
            <a:off x="4646667" y="85626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g3ebe55ded94_0_710"/>
          <p:cNvSpPr/>
          <p:nvPr/>
        </p:nvSpPr>
        <p:spPr>
          <a:xfrm>
            <a:off x="4853220" y="73174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g3ebe55ded94_0_710"/>
          <p:cNvSpPr/>
          <p:nvPr/>
        </p:nvSpPr>
        <p:spPr>
          <a:xfrm>
            <a:off x="4904395" y="83348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be55ded94_0_51"/>
          <p:cNvSpPr txBox="1"/>
          <p:nvPr/>
        </p:nvSpPr>
        <p:spPr>
          <a:xfrm>
            <a:off x="-684700" y="1557650"/>
            <a:ext cx="10524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Presentación del tutor</a:t>
            </a:r>
            <a:endParaRPr b="1" i="0" sz="5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g3ebe55ded94_0_51"/>
          <p:cNvSpPr txBox="1"/>
          <p:nvPr/>
        </p:nvSpPr>
        <p:spPr>
          <a:xfrm>
            <a:off x="433025" y="4012425"/>
            <a:ext cx="95802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Datos tutor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Nombre: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Carlos Samuel Aguilar Acosta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Correo: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3846591440115@ingenieria.usac.edu.gt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0" name="Google Shape;210;g3ebe55ded94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6200" y="928875"/>
            <a:ext cx="6324201" cy="84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be55ded94_0_153"/>
          <p:cNvSpPr txBox="1"/>
          <p:nvPr/>
        </p:nvSpPr>
        <p:spPr>
          <a:xfrm>
            <a:off x="2042550" y="1118800"/>
            <a:ext cx="1420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Evaluación de Conocimientos Previos                             </a:t>
            </a:r>
            <a:endParaRPr b="1" i="0" sz="5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6" name="Google Shape;216;g3ebe55ded94_0_153"/>
          <p:cNvSpPr txBox="1"/>
          <p:nvPr/>
        </p:nvSpPr>
        <p:spPr>
          <a:xfrm>
            <a:off x="756902" y="7912700"/>
            <a:ext cx="167742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Enlace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https://wayground.com/join/quiz/6a2df81f535ca074d55e6afa/start?studentShare=true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7" name="Google Shape;217;g3ebe55ded94_0_153" title="0R8sw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8650" y="2499075"/>
            <a:ext cx="5288847" cy="5288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be55ded94_0_255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Presentación de los Estudiantes </a:t>
            </a:r>
            <a:endParaRPr b="1" i="0" sz="5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g3ebe55ded94_0_255"/>
          <p:cNvSpPr txBox="1"/>
          <p:nvPr/>
        </p:nvSpPr>
        <p:spPr>
          <a:xfrm>
            <a:off x="2042100" y="2904350"/>
            <a:ext cx="7744800" cy="5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Presentación de estudiantes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 elegirán estudiantes al azar para que prendan micrófono y respondan lo siguiente: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AutoNum type="arabicPeriod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Nombre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AutoNum type="arabicPeriod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Edad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AutoNum type="arabicPeriod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Algo que me apasiona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AutoNum type="arabicPeriod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 que espero de este curso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4" name="Google Shape;224;g3ebe55ded94_0_2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1600" y="2665100"/>
            <a:ext cx="6437001" cy="643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be55ded94_0_358"/>
          <p:cNvSpPr/>
          <p:nvPr/>
        </p:nvSpPr>
        <p:spPr>
          <a:xfrm>
            <a:off x="12612839" y="4545089"/>
            <a:ext cx="4656153" cy="4966728"/>
          </a:xfrm>
          <a:custGeom>
            <a:rect b="b" l="l" r="r" t="t"/>
            <a:pathLst>
              <a:path extrusionOk="0" h="4281662" w="4013925">
                <a:moveTo>
                  <a:pt x="0" y="4180062"/>
                </a:moveTo>
                <a:lnTo>
                  <a:pt x="4013925" y="4180062"/>
                </a:lnTo>
                <a:lnTo>
                  <a:pt x="3886925" y="4281662"/>
                </a:lnTo>
                <a:cubicBezTo>
                  <a:pt x="3886925" y="4281662"/>
                  <a:pt x="2896325" y="4205462"/>
                  <a:pt x="2794725" y="4205462"/>
                </a:cubicBezTo>
                <a:lnTo>
                  <a:pt x="1219200" y="4205462"/>
                </a:lnTo>
                <a:cubicBezTo>
                  <a:pt x="1117600" y="4205462"/>
                  <a:pt x="127000" y="4281662"/>
                  <a:pt x="127000" y="4281662"/>
                </a:cubicBezTo>
                <a:lnTo>
                  <a:pt x="0" y="4180062"/>
                </a:lnTo>
                <a:lnTo>
                  <a:pt x="0" y="0"/>
                </a:lnTo>
                <a:lnTo>
                  <a:pt x="4013925" y="0"/>
                </a:lnTo>
                <a:lnTo>
                  <a:pt x="4013925" y="4180062"/>
                </a:lnTo>
                <a:lnTo>
                  <a:pt x="12700" y="4180062"/>
                </a:lnTo>
                <a:lnTo>
                  <a:pt x="12700" y="4167362"/>
                </a:lnTo>
                <a:lnTo>
                  <a:pt x="4001225" y="4167362"/>
                </a:lnTo>
                <a:lnTo>
                  <a:pt x="4001225" y="12700"/>
                </a:lnTo>
                <a:lnTo>
                  <a:pt x="12700" y="12700"/>
                </a:lnTo>
                <a:lnTo>
                  <a:pt x="12700" y="4180062"/>
                </a:lnTo>
              </a:path>
            </a:pathLst>
          </a:custGeom>
          <a:solidFill>
            <a:srgbClr val="394C60">
              <a:alpha val="780"/>
            </a:srgbClr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ebe55ded94_0_358"/>
          <p:cNvSpPr txBox="1"/>
          <p:nvPr>
            <p:ph type="ctrTitle"/>
          </p:nvPr>
        </p:nvSpPr>
        <p:spPr>
          <a:xfrm>
            <a:off x="623400" y="1117850"/>
            <a:ext cx="17041200" cy="2062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>
                <a:latin typeface="Comic Sans MS"/>
                <a:ea typeface="Comic Sans MS"/>
                <a:cs typeface="Comic Sans MS"/>
                <a:sym typeface="Comic Sans MS"/>
              </a:rPr>
              <a:t>4. Programa del Curso </a:t>
            </a:r>
            <a:endParaRPr sz="13200"/>
          </a:p>
        </p:txBody>
      </p:sp>
      <p:sp>
        <p:nvSpPr>
          <p:cNvPr id="231" name="Google Shape;231;g3ebe55ded94_0_358"/>
          <p:cNvSpPr txBox="1"/>
          <p:nvPr>
            <p:ph idx="1" type="subTitle"/>
          </p:nvPr>
        </p:nvSpPr>
        <p:spPr>
          <a:xfrm>
            <a:off x="623400" y="371090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Lectura del programa del curso en Uedi</a:t>
            </a:r>
            <a:endParaRPr sz="4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2" name="Google Shape;232;g3ebe55ded94_0_3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500" y="5296100"/>
            <a:ext cx="11949000" cy="43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be55ded94_0_461"/>
          <p:cNvSpPr txBox="1"/>
          <p:nvPr/>
        </p:nvSpPr>
        <p:spPr>
          <a:xfrm>
            <a:off x="3410550" y="969200"/>
            <a:ext cx="114672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b="1" i="0" lang="en-US" sz="5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Evaluación de Conocimientos del Curso Actual </a:t>
            </a: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8" name="Google Shape;238;g3ebe55ded94_0_461" title="EvaluacindeConocimientosdelCursoActu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300" y="3603250"/>
            <a:ext cx="4548178" cy="454817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ebe55ded94_0_461"/>
          <p:cNvSpPr txBox="1"/>
          <p:nvPr/>
        </p:nvSpPr>
        <p:spPr>
          <a:xfrm>
            <a:off x="756902" y="7912700"/>
            <a:ext cx="167742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Enlace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https://wayground.com/join/quiz/6a2dfcbaa49a5f4b6da64005/start?studentShare=true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be55ded94_0_564"/>
          <p:cNvSpPr txBox="1"/>
          <p:nvPr>
            <p:ph type="title"/>
          </p:nvPr>
        </p:nvSpPr>
        <p:spPr>
          <a:xfrm>
            <a:off x="531000" y="163990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. Tarea de fortalecimiento académico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5" name="Google Shape;245;g3ebe55ded94_0_564"/>
          <p:cNvSpPr txBox="1"/>
          <p:nvPr>
            <p:ph idx="1" type="subTitle"/>
          </p:nvPr>
        </p:nvSpPr>
        <p:spPr>
          <a:xfrm>
            <a:off x="618000" y="514350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Leer el enunciado en la Uedi</a:t>
            </a:r>
            <a:endParaRPr sz="3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46" name="Google Shape;246;g3ebe55ded94_0_564"/>
          <p:cNvPicPr preferRelativeResize="0"/>
          <p:nvPr/>
        </p:nvPicPr>
        <p:blipFill rotWithShape="1">
          <a:blip r:embed="rId3">
            <a:alphaModFix/>
          </a:blip>
          <a:srcRect b="0" l="0" r="31271" t="0"/>
          <a:stretch/>
        </p:blipFill>
        <p:spPr>
          <a:xfrm>
            <a:off x="8861250" y="0"/>
            <a:ext cx="9426749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ebe55ded94_0_5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900" y="6688000"/>
            <a:ext cx="7208850" cy="264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