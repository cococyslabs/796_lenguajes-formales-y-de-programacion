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6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y="5143500" cx="9144000"/>
  <p:notesSz cx="6858000" cy="9144000"/>
  <p:embeddedFontLst>
    <p:embeddedFont>
      <p:font typeface="Lobster"/>
      <p:regular r:id="rId26"/>
    </p:embeddedFont>
    <p:embeddedFont>
      <p:font typeface="Montserrat"/>
      <p:regular r:id="rId27"/>
      <p:bold r:id="rId28"/>
      <p:italic r:id="rId29"/>
      <p:boldItalic r:id="rId30"/>
    </p:embeddedFont>
    <p:embeddedFont>
      <p:font typeface="Montserrat Medium"/>
      <p:regular r:id="rId31"/>
      <p:bold r:id="rId32"/>
      <p:italic r:id="rId33"/>
      <p:boldItalic r:id="rId34"/>
    </p:embeddedFont>
    <p:embeddedFont>
      <p:font typeface="Pacifico"/>
      <p:regular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36" roundtripDataSignature="AMtx7mgLg7TGDw2LRavd3l9//1k0Azncy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199F60F-BD71-4DD9-AC4B-6FD8F186D878}">
  <a:tblStyle styleId="{D199F60F-BD71-4DD9-AC4B-6FD8F186D878}"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694A20BA-9F1A-4841-AC64-6C731D83B091}" styleName="Table_1">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font" Target="fonts/Lobster-regular.fntdata"/><Relationship Id="rId25" Type="http://schemas.openxmlformats.org/officeDocument/2006/relationships/slide" Target="slides/slide18.xml"/><Relationship Id="rId28" Type="http://schemas.openxmlformats.org/officeDocument/2006/relationships/font" Target="fonts/Montserrat-bold.fntdata"/><Relationship Id="rId27" Type="http://schemas.openxmlformats.org/officeDocument/2006/relationships/font" Target="fonts/Montserrat-regular.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Montserrat-italic.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MontserratMedium-regular.fntdata"/><Relationship Id="rId30" Type="http://schemas.openxmlformats.org/officeDocument/2006/relationships/font" Target="fonts/Montserrat-boldItalic.fntdata"/><Relationship Id="rId11" Type="http://schemas.openxmlformats.org/officeDocument/2006/relationships/slide" Target="slides/slide4.xml"/><Relationship Id="rId33" Type="http://schemas.openxmlformats.org/officeDocument/2006/relationships/font" Target="fonts/MontserratMedium-italic.fntdata"/><Relationship Id="rId10" Type="http://schemas.openxmlformats.org/officeDocument/2006/relationships/slide" Target="slides/slide3.xml"/><Relationship Id="rId32" Type="http://schemas.openxmlformats.org/officeDocument/2006/relationships/font" Target="fonts/MontserratMedium-bold.fntdata"/><Relationship Id="rId13" Type="http://schemas.openxmlformats.org/officeDocument/2006/relationships/slide" Target="slides/slide6.xml"/><Relationship Id="rId35" Type="http://schemas.openxmlformats.org/officeDocument/2006/relationships/font" Target="fonts/Pacifico-regular.fntdata"/><Relationship Id="rId12" Type="http://schemas.openxmlformats.org/officeDocument/2006/relationships/slide" Target="slides/slide5.xml"/><Relationship Id="rId34" Type="http://schemas.openxmlformats.org/officeDocument/2006/relationships/font" Target="fonts/MontserratMedium-boldItalic.fntdata"/><Relationship Id="rId15" Type="http://schemas.openxmlformats.org/officeDocument/2006/relationships/slide" Target="slides/slide8.xml"/><Relationship Id="rId14" Type="http://schemas.openxmlformats.org/officeDocument/2006/relationships/slide" Target="slides/slide7.xml"/><Relationship Id="rId36" Type="http://customschemas.google.com/relationships/presentationmetadata" Target="metadata"/><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 name="Google Shape;97;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5" name="Google Shape;105;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5" name="Google Shape;115;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7" name="Google Shape;137;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8" name="Google Shape;148;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6" name="Google Shape;156;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3" name="Google Shape;163;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9" name="Google Shape;169;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7" name="Google Shape;177;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4" name="Google Shape;184;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2" name="Google Shape;192;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0" name="Google Shape;200;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7" name="Google Shape;207;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4" name="Google Shape;214;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1" name="Google Shape;221;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8" name="Google Shape;228;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6" name="Google Shape;236;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4" name="Google Shape;244;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 name="Shape 9"/>
        <p:cNvGrpSpPr/>
        <p:nvPr/>
      </p:nvGrpSpPr>
      <p:grpSpPr>
        <a:xfrm>
          <a:off x="0" y="0"/>
          <a:ext cx="0" cy="0"/>
          <a:chOff x="0" y="0"/>
          <a:chExt cx="0" cy="0"/>
        </a:xfrm>
      </p:grpSpPr>
      <p:sp>
        <p:nvSpPr>
          <p:cNvPr id="10" name="Google Shape;10;p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 name="Google Shape;11;p2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2" name="Google Shape;12;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 name="Shape 13"/>
        <p:cNvGrpSpPr/>
        <p:nvPr/>
      </p:nvGrpSpPr>
      <p:grpSpPr>
        <a:xfrm>
          <a:off x="0" y="0"/>
          <a:ext cx="0" cy="0"/>
          <a:chOff x="0" y="0"/>
          <a:chExt cx="0" cy="0"/>
        </a:xfrm>
      </p:grpSpPr>
      <p:sp>
        <p:nvSpPr>
          <p:cNvPr id="14" name="Google Shape;14;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7" name="Google Shape;17;p2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8" name="Google Shape;18;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sp>
        <p:nvSpPr>
          <p:cNvPr id="20" name="Google Shape;20;p25"/>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1" name="Google Shape;21;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2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 name="Google Shape;24;p26"/>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5" name="Google Shape;25;p26"/>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6" name="Google Shape;26;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2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9" name="Google Shape;29;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28"/>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2" name="Google Shape;32;p28"/>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3" name="Google Shape;33;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 name="Shape 34"/>
        <p:cNvGrpSpPr/>
        <p:nvPr/>
      </p:nvGrpSpPr>
      <p:grpSpPr>
        <a:xfrm>
          <a:off x="0" y="0"/>
          <a:ext cx="0" cy="0"/>
          <a:chOff x="0" y="0"/>
          <a:chExt cx="0" cy="0"/>
        </a:xfrm>
      </p:grpSpPr>
      <p:sp>
        <p:nvSpPr>
          <p:cNvPr id="35" name="Google Shape;35;p29"/>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6" name="Google Shape;36;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3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30"/>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0" name="Google Shape;40;p30"/>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1" name="Google Shape;41;p30"/>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2" name="Google Shape;42;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31"/>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5" name="Google Shape;45;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32"/>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8" name="Google Shape;48;p32"/>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9" name="Google Shape;49;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6" name="Shape 56"/>
        <p:cNvGrpSpPr/>
        <p:nvPr/>
      </p:nvGrpSpPr>
      <p:grpSpPr>
        <a:xfrm>
          <a:off x="0" y="0"/>
          <a:ext cx="0" cy="0"/>
          <a:chOff x="0" y="0"/>
          <a:chExt cx="0" cy="0"/>
        </a:xfrm>
      </p:grpSpPr>
      <p:sp>
        <p:nvSpPr>
          <p:cNvPr id="57" name="Google Shape;57;p33"/>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58" name="Google Shape;58;p33"/>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9" name="Google Shape;59;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0" name="Shape 60"/>
        <p:cNvGrpSpPr/>
        <p:nvPr/>
      </p:nvGrpSpPr>
      <p:grpSpPr>
        <a:xfrm>
          <a:off x="0" y="0"/>
          <a:ext cx="0" cy="0"/>
          <a:chOff x="0" y="0"/>
          <a:chExt cx="0" cy="0"/>
        </a:xfrm>
      </p:grpSpPr>
      <p:sp>
        <p:nvSpPr>
          <p:cNvPr id="61" name="Google Shape;61;p34"/>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62" name="Google Shape;62;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3" name="Shape 63"/>
        <p:cNvGrpSpPr/>
        <p:nvPr/>
      </p:nvGrpSpPr>
      <p:grpSpPr>
        <a:xfrm>
          <a:off x="0" y="0"/>
          <a:ext cx="0" cy="0"/>
          <a:chOff x="0" y="0"/>
          <a:chExt cx="0" cy="0"/>
        </a:xfrm>
      </p:grpSpPr>
      <p:sp>
        <p:nvSpPr>
          <p:cNvPr id="64" name="Google Shape;64;p3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5" name="Google Shape;65;p3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66" name="Google Shape;66;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7" name="Shape 67"/>
        <p:cNvGrpSpPr/>
        <p:nvPr/>
      </p:nvGrpSpPr>
      <p:grpSpPr>
        <a:xfrm>
          <a:off x="0" y="0"/>
          <a:ext cx="0" cy="0"/>
          <a:chOff x="0" y="0"/>
          <a:chExt cx="0" cy="0"/>
        </a:xfrm>
      </p:grpSpPr>
      <p:sp>
        <p:nvSpPr>
          <p:cNvPr id="68" name="Google Shape;68;p3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9" name="Google Shape;69;p36"/>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0" name="Google Shape;70;p36"/>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1" name="Google Shape;71;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2" name="Shape 72"/>
        <p:cNvGrpSpPr/>
        <p:nvPr/>
      </p:nvGrpSpPr>
      <p:grpSpPr>
        <a:xfrm>
          <a:off x="0" y="0"/>
          <a:ext cx="0" cy="0"/>
          <a:chOff x="0" y="0"/>
          <a:chExt cx="0" cy="0"/>
        </a:xfrm>
      </p:grpSpPr>
      <p:sp>
        <p:nvSpPr>
          <p:cNvPr id="73" name="Google Shape;73;p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4" name="Google Shape;74;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5" name="Shape 75"/>
        <p:cNvGrpSpPr/>
        <p:nvPr/>
      </p:nvGrpSpPr>
      <p:grpSpPr>
        <a:xfrm>
          <a:off x="0" y="0"/>
          <a:ext cx="0" cy="0"/>
          <a:chOff x="0" y="0"/>
          <a:chExt cx="0" cy="0"/>
        </a:xfrm>
      </p:grpSpPr>
      <p:sp>
        <p:nvSpPr>
          <p:cNvPr id="76" name="Google Shape;76;p38"/>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77" name="Google Shape;77;p38"/>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8" name="Google Shape;78;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9" name="Shape 79"/>
        <p:cNvGrpSpPr/>
        <p:nvPr/>
      </p:nvGrpSpPr>
      <p:grpSpPr>
        <a:xfrm>
          <a:off x="0" y="0"/>
          <a:ext cx="0" cy="0"/>
          <a:chOff x="0" y="0"/>
          <a:chExt cx="0" cy="0"/>
        </a:xfrm>
      </p:grpSpPr>
      <p:sp>
        <p:nvSpPr>
          <p:cNvPr id="80" name="Google Shape;80;p39"/>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81" name="Google Shape;81;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2" name="Shape 82"/>
        <p:cNvGrpSpPr/>
        <p:nvPr/>
      </p:nvGrpSpPr>
      <p:grpSpPr>
        <a:xfrm>
          <a:off x="0" y="0"/>
          <a:ext cx="0" cy="0"/>
          <a:chOff x="0" y="0"/>
          <a:chExt cx="0" cy="0"/>
        </a:xfrm>
      </p:grpSpPr>
      <p:sp>
        <p:nvSpPr>
          <p:cNvPr id="83" name="Google Shape;83;p4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40"/>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85" name="Google Shape;85;p40"/>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6" name="Google Shape;86;p40"/>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87" name="Google Shape;87;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8" name="Shape 88"/>
        <p:cNvGrpSpPr/>
        <p:nvPr/>
      </p:nvGrpSpPr>
      <p:grpSpPr>
        <a:xfrm>
          <a:off x="0" y="0"/>
          <a:ext cx="0" cy="0"/>
          <a:chOff x="0" y="0"/>
          <a:chExt cx="0" cy="0"/>
        </a:xfrm>
      </p:grpSpPr>
      <p:sp>
        <p:nvSpPr>
          <p:cNvPr id="89" name="Google Shape;89;p41"/>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90" name="Google Shape;90;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1" name="Shape 91"/>
        <p:cNvGrpSpPr/>
        <p:nvPr/>
      </p:nvGrpSpPr>
      <p:grpSpPr>
        <a:xfrm>
          <a:off x="0" y="0"/>
          <a:ext cx="0" cy="0"/>
          <a:chOff x="0" y="0"/>
          <a:chExt cx="0" cy="0"/>
        </a:xfrm>
      </p:grpSpPr>
      <p:sp>
        <p:nvSpPr>
          <p:cNvPr id="92" name="Google Shape;92;p42"/>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3" name="Google Shape;93;p42"/>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94" name="Google Shape;94;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2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52" name="Google Shape;52;p2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53" name="Google Shape;53;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spd="med">
    <p:fade thruBlk="1"/>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13.png"/><Relationship Id="rId6"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hyperlink" Target="https://www.google.com/search?sca_esv=5d812c3a7137edf1&amp;sxsrf=AE3TifNFDslEKrBAAnYIWkL_kiPQT8C_Hw%3A1756777486953&amp;q=aut%C3%B3mata+finito+no+determinista&amp;sa=X&amp;ved=2ahUKEwj9ubyQ-riPAxWTQjABHQYWLSYQxccNegQIHRAB&amp;mstk=AUtExfCDpcqULavIDM-_Vp2VaWMLDF2AYr_0PXA3PvEq5TMbNCb_rRQAMee4UT_yB08Iy0qNZ4iQTvrJ51zJ9ygkmwmvHKKscZJRpStzQi2Nio7snM-NTvycyYa8WRn1s92uy1zAG2VTfIbb6FJ-0_EmEXCXOvtoYfkmLuC4bIGVxEvkALncrO45yDG4QCgpXoYPC2M-ri1PduYPhuM3btZRFQQC_Vb4XQN4fGx0VuJroEGXeXIi2SwMiucEDAlT91VMWJNw4MfOgj9E34AbclkVg4EyoH985pJlppVjQgYYs8Fccg&amp;csui=3" TargetMode="External"/><Relationship Id="rId5" Type="http://schemas.openxmlformats.org/officeDocument/2006/relationships/hyperlink" Target="https://www.google.com/search?sca_esv=5d812c3a7137edf1&amp;sxsrf=AE3TifNFDslEKrBAAnYIWkL_kiPQT8C_Hw%3A1756777486953&amp;q=AFD+equivalente&amp;sa=X&amp;ved=2ahUKEwj9ubyQ-riPAxWTQjABHQYWLSYQxccNegQIKBAB&amp;mstk=AUtExfCDpcqULavIDM-_Vp2VaWMLDF2AYr_0PXA3PvEq5TMbNCb_rRQAMee4UT_yB08Iy0qNZ4iQTvrJ51zJ9ygkmwmvHKKscZJRpStzQi2Nio7snM-NTvycyYa8WRn1s92uy1zAG2VTfIbb6FJ-0_EmEXCXOvtoYfkmLuC4bIGVxEvkALncrO45yDG4QCgpXoYPC2M-ri1PduYPhuM3btZRFQQC_Vb4XQN4fGx0VuJroEGXeXIi2SwMiucEDAlT91VMWJNw4MfOgj9E34AbclkVg4EyoH985pJlppVjQgYYs8Fccg&amp;csui=3" TargetMode="External"/><Relationship Id="rId6"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hyperlink" Target="https://www.google.com/search?sca_esv=5d812c3a7137edf1&amp;sxsrf=AE3TifNFDslEKrBAAnYIWkL_kiPQT8C_Hw%3A1756777486953&amp;q=aut%C3%B3mata+finito+no+determinista&amp;sa=X&amp;ved=2ahUKEwj9ubyQ-riPAxWTQjABHQYWLSYQxccNegQIHRAB&amp;mstk=AUtExfCDpcqULavIDM-_Vp2VaWMLDF2AYr_0PXA3PvEq5TMbNCb_rRQAMee4UT_yB08Iy0qNZ4iQTvrJ51zJ9ygkmwmvHKKscZJRpStzQi2Nio7snM-NTvycyYa8WRn1s92uy1zAG2VTfIbb6FJ-0_EmEXCXOvtoYfkmLuC4bIGVxEvkALncrO45yDG4QCgpXoYPC2M-ri1PduYPhuM3btZRFQQC_Vb4XQN4fGx0VuJroEGXeXIi2SwMiucEDAlT91VMWJNw4MfOgj9E34AbclkVg4EyoH985pJlppVjQgYYs8Fccg&amp;csui=3" TargetMode="External"/><Relationship Id="rId5" Type="http://schemas.openxmlformats.org/officeDocument/2006/relationships/hyperlink" Target="https://www.google.com/search?sca_esv=5d812c3a7137edf1&amp;sxsrf=AE3TifNFDslEKrBAAnYIWkL_kiPQT8C_Hw%3A1756777486953&amp;q=AFD+equivalente&amp;sa=X&amp;ved=2ahUKEwj9ubyQ-riPAxWTQjABHQYWLSYQxccNegQIKBAB&amp;mstk=AUtExfCDpcqULavIDM-_Vp2VaWMLDF2AYr_0PXA3PvEq5TMbNCb_rRQAMee4UT_yB08Iy0qNZ4iQTvrJ51zJ9ygkmwmvHKKscZJRpStzQi2Nio7snM-NTvycyYa8WRn1s92uy1zAG2VTfIbb6FJ-0_EmEXCXOvtoYfkmLuC4bIGVxEvkALncrO45yDG4QCgpXoYPC2M-ri1PduYPhuM3btZRFQQC_Vb4XQN4fGx0VuJroEGXeXIi2SwMiucEDAlT91VMWJNw4MfOgj9E34AbclkVg4EyoH985pJlppVjQgYYs8Fccg&amp;csui=3" TargetMode="External"/><Relationship Id="rId6"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png"/><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2.png"/><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pic>
        <p:nvPicPr>
          <p:cNvPr id="99" name="Google Shape;99;p1"/>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graphicFrame>
        <p:nvGraphicFramePr>
          <p:cNvPr id="100" name="Google Shape;100;p1"/>
          <p:cNvGraphicFramePr/>
          <p:nvPr/>
        </p:nvGraphicFramePr>
        <p:xfrm>
          <a:off x="3764250" y="970025"/>
          <a:ext cx="3000000" cy="3000000"/>
        </p:xfrm>
        <a:graphic>
          <a:graphicData uri="http://schemas.openxmlformats.org/drawingml/2006/table">
            <a:tbl>
              <a:tblPr>
                <a:noFill/>
                <a:tableStyleId>{D199F60F-BD71-4DD9-AC4B-6FD8F186D878}</a:tableStyleId>
              </a:tblPr>
              <a:tblGrid>
                <a:gridCol w="2161575"/>
                <a:gridCol w="3092950"/>
              </a:tblGrid>
              <a:tr h="322450">
                <a:tc>
                  <a:txBody>
                    <a:bodyPr/>
                    <a:lstStyle/>
                    <a:p>
                      <a:pPr indent="0" lvl="0" marL="0" marR="0" rtl="0" algn="l">
                        <a:lnSpc>
                          <a:spcPct val="100000"/>
                        </a:lnSpc>
                        <a:spcBef>
                          <a:spcPts val="0"/>
                        </a:spcBef>
                        <a:spcAft>
                          <a:spcPts val="0"/>
                        </a:spcAft>
                        <a:buClr>
                          <a:srgbClr val="000000"/>
                        </a:buClr>
                        <a:buSzPts val="1400"/>
                        <a:buFont typeface="Arial"/>
                        <a:buNone/>
                      </a:pPr>
                      <a:r>
                        <a:rPr b="1" lang="es" sz="1400" u="none" cap="none" strike="noStrike">
                          <a:solidFill>
                            <a:schemeClr val="dk1"/>
                          </a:solidFill>
                        </a:rPr>
                        <a:t>Día, Fecha:</a:t>
                      </a:r>
                      <a:endParaRPr b="1"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s" sz="1400" u="none" cap="none" strike="noStrike"/>
                        <a:t>Martes </a:t>
                      </a:r>
                      <a:r>
                        <a:rPr b="1" lang="es" sz="1400" u="none" cap="none" strike="noStrike"/>
                        <a:t>XX</a:t>
                      </a:r>
                      <a:r>
                        <a:rPr b="1" lang="es" sz="1400" u="none" cap="none" strike="noStrike"/>
                        <a:t> de </a:t>
                      </a:r>
                      <a:r>
                        <a:rPr b="1" lang="es" sz="1400" u="none" cap="none" strike="noStrike"/>
                        <a:t>XXXX </a:t>
                      </a:r>
                      <a:r>
                        <a:rPr b="1" lang="es" sz="1400" u="none" cap="none" strike="noStrike"/>
                        <a:t>de 2026</a:t>
                      </a:r>
                      <a:endParaRPr b="1" sz="1400" u="none" cap="none" strike="noStrike"/>
                    </a:p>
                  </a:txBody>
                  <a:tcPr marT="91425" marB="91425" marR="91425" marL="91425"/>
                </a:tc>
              </a:tr>
              <a:tr h="363100">
                <a:tc>
                  <a:txBody>
                    <a:bodyPr/>
                    <a:lstStyle/>
                    <a:p>
                      <a:pPr indent="0" lvl="0" marL="0" marR="0" rtl="0" algn="l">
                        <a:lnSpc>
                          <a:spcPct val="100000"/>
                        </a:lnSpc>
                        <a:spcBef>
                          <a:spcPts val="0"/>
                        </a:spcBef>
                        <a:spcAft>
                          <a:spcPts val="0"/>
                        </a:spcAft>
                        <a:buClr>
                          <a:srgbClr val="000000"/>
                        </a:buClr>
                        <a:buSzPts val="1400"/>
                        <a:buFont typeface="Arial"/>
                        <a:buNone/>
                      </a:pPr>
                      <a:r>
                        <a:rPr b="1" lang="es" sz="1400" u="none" cap="none" strike="noStrike">
                          <a:solidFill>
                            <a:schemeClr val="dk1"/>
                          </a:solidFill>
                        </a:rPr>
                        <a:t>Hora de inicio:</a:t>
                      </a:r>
                      <a:endParaRPr b="1"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s" sz="1400" u="none" cap="none" strike="noStrike"/>
                        <a:t>09:00 - 10:40</a:t>
                      </a:r>
                      <a:endParaRPr b="1" sz="1400" u="none" cap="none" strike="noStrike"/>
                    </a:p>
                  </a:txBody>
                  <a:tcPr marT="91425" marB="91425" marR="91425" marL="91425"/>
                </a:tc>
              </a:tr>
            </a:tbl>
          </a:graphicData>
        </a:graphic>
      </p:graphicFrame>
      <p:sp>
        <p:nvSpPr>
          <p:cNvPr id="101" name="Google Shape;101;p1"/>
          <p:cNvSpPr txBox="1"/>
          <p:nvPr/>
        </p:nvSpPr>
        <p:spPr>
          <a:xfrm>
            <a:off x="1176000" y="2287038"/>
            <a:ext cx="67920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1" i="0" lang="es" sz="2500" u="none" cap="none" strike="noStrike">
                <a:solidFill>
                  <a:srgbClr val="000000"/>
                </a:solidFill>
                <a:latin typeface="Arial"/>
                <a:ea typeface="Arial"/>
                <a:cs typeface="Arial"/>
                <a:sym typeface="Arial"/>
              </a:rPr>
              <a:t>Lenguajes Formales y De Programación </a:t>
            </a:r>
            <a:r>
              <a:rPr b="1" i="0" lang="es" sz="2500" u="none" cap="none" strike="noStrike">
                <a:solidFill>
                  <a:srgbClr val="000000"/>
                </a:solidFill>
                <a:latin typeface="Arial"/>
                <a:ea typeface="Arial"/>
                <a:cs typeface="Arial"/>
                <a:sym typeface="Arial"/>
              </a:rPr>
              <a:t>Xx</a:t>
            </a:r>
            <a:endParaRPr b="1" i="0" sz="2500" u="none" cap="none" strike="noStrike">
              <a:solidFill>
                <a:srgbClr val="000000"/>
              </a:solidFill>
              <a:latin typeface="Arial"/>
              <a:ea typeface="Arial"/>
              <a:cs typeface="Arial"/>
              <a:sym typeface="Arial"/>
            </a:endParaRPr>
          </a:p>
        </p:txBody>
      </p:sp>
      <p:sp>
        <p:nvSpPr>
          <p:cNvPr id="102" name="Google Shape;102;p1"/>
          <p:cNvSpPr txBox="1"/>
          <p:nvPr/>
        </p:nvSpPr>
        <p:spPr>
          <a:xfrm>
            <a:off x="2329050" y="2887925"/>
            <a:ext cx="44859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s" sz="2000" u="none" cap="none" strike="noStrike">
                <a:solidFill>
                  <a:srgbClr val="000000"/>
                </a:solidFill>
                <a:latin typeface="Arial"/>
                <a:ea typeface="Arial"/>
                <a:cs typeface="Arial"/>
                <a:sym typeface="Arial"/>
              </a:rPr>
              <a:t>XXXX XXXX XXXX XXXX</a:t>
            </a:r>
            <a:endParaRPr b="1" i="0" sz="20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
          <p:cNvSpPr/>
          <p:nvPr/>
        </p:nvSpPr>
        <p:spPr>
          <a:xfrm>
            <a:off x="6270654" y="0"/>
            <a:ext cx="2873346" cy="85589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sp>
      <p:sp>
        <p:nvSpPr>
          <p:cNvPr id="108" name="Google Shape;108;p2"/>
          <p:cNvSpPr txBox="1"/>
          <p:nvPr/>
        </p:nvSpPr>
        <p:spPr>
          <a:xfrm>
            <a:off x="873350" y="3524763"/>
            <a:ext cx="7533300" cy="3693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Clr>
                <a:srgbClr val="000000"/>
              </a:buClr>
              <a:buSzPts val="2500"/>
              <a:buFont typeface="Arial"/>
              <a:buNone/>
            </a:pPr>
            <a:r>
              <a:rPr b="1" i="0" lang="es" sz="2400" u="none" cap="none" strike="noStrike">
                <a:solidFill>
                  <a:srgbClr val="131416"/>
                </a:solidFill>
                <a:latin typeface="Montserrat"/>
                <a:ea typeface="Montserrat"/>
                <a:cs typeface="Montserrat"/>
                <a:sym typeface="Montserrat"/>
              </a:rPr>
              <a:t>Lenguajes Formales y de Programación</a:t>
            </a:r>
            <a:endParaRPr b="0" i="0" sz="600" u="none" cap="none" strike="noStrike">
              <a:solidFill>
                <a:srgbClr val="000000"/>
              </a:solidFill>
              <a:latin typeface="Montserrat"/>
              <a:ea typeface="Montserrat"/>
              <a:cs typeface="Montserrat"/>
              <a:sym typeface="Montserrat"/>
            </a:endParaRPr>
          </a:p>
        </p:txBody>
      </p:sp>
      <p:sp>
        <p:nvSpPr>
          <p:cNvPr id="109" name="Google Shape;109;p2"/>
          <p:cNvSpPr txBox="1"/>
          <p:nvPr/>
        </p:nvSpPr>
        <p:spPr>
          <a:xfrm>
            <a:off x="972600" y="2041188"/>
            <a:ext cx="7198800" cy="708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4600"/>
              <a:buFont typeface="Arial"/>
              <a:buNone/>
            </a:pPr>
            <a:r>
              <a:rPr b="1" i="0" lang="es" sz="4600" u="none" cap="none" strike="noStrike">
                <a:solidFill>
                  <a:srgbClr val="131416"/>
                </a:solidFill>
                <a:latin typeface="Montserrat"/>
                <a:ea typeface="Montserrat"/>
                <a:cs typeface="Montserrat"/>
                <a:sym typeface="Montserrat"/>
              </a:rPr>
              <a:t>Analisis Lexico</a:t>
            </a:r>
            <a:endParaRPr b="0" i="0" sz="700" u="none" cap="none" strike="noStrike">
              <a:solidFill>
                <a:srgbClr val="000000"/>
              </a:solidFill>
              <a:latin typeface="Montserrat"/>
              <a:ea typeface="Montserrat"/>
              <a:cs typeface="Montserrat"/>
              <a:sym typeface="Montserrat"/>
            </a:endParaRPr>
          </a:p>
        </p:txBody>
      </p:sp>
      <p:sp>
        <p:nvSpPr>
          <p:cNvPr id="110" name="Google Shape;110;p2"/>
          <p:cNvSpPr txBox="1"/>
          <p:nvPr/>
        </p:nvSpPr>
        <p:spPr>
          <a:xfrm>
            <a:off x="3738800" y="4022913"/>
            <a:ext cx="4668000" cy="184800"/>
          </a:xfrm>
          <a:prstGeom prst="rect">
            <a:avLst/>
          </a:prstGeom>
          <a:noFill/>
          <a:ln>
            <a:noFill/>
          </a:ln>
        </p:spPr>
        <p:txBody>
          <a:bodyPr anchorCtr="0" anchor="t" bIns="0" lIns="0" spcFirstLastPara="1" rIns="0" wrap="square" tIns="0">
            <a:spAutoFit/>
          </a:bodyPr>
          <a:lstStyle/>
          <a:p>
            <a:pPr indent="0" lvl="0" marL="0" marR="0" rtl="0" algn="r">
              <a:lnSpc>
                <a:spcPct val="140016"/>
              </a:lnSpc>
              <a:spcBef>
                <a:spcPts val="0"/>
              </a:spcBef>
              <a:spcAft>
                <a:spcPts val="0"/>
              </a:spcAft>
              <a:buClr>
                <a:srgbClr val="000000"/>
              </a:buClr>
              <a:buSzPts val="1200"/>
              <a:buFont typeface="Arial"/>
              <a:buNone/>
            </a:pPr>
            <a:r>
              <a:rPr b="1" i="0" lang="es" sz="1200" u="none" cap="none" strike="noStrike">
                <a:solidFill>
                  <a:srgbClr val="131416"/>
                </a:solidFill>
                <a:latin typeface="Montserrat"/>
                <a:ea typeface="Montserrat"/>
                <a:cs typeface="Montserrat"/>
                <a:sym typeface="Montserrat"/>
              </a:rPr>
              <a:t>Escuela de Ingeniería de Ciencias Y Sistemas</a:t>
            </a:r>
            <a:endParaRPr b="0" i="0" sz="700" u="none" cap="none" strike="noStrike">
              <a:solidFill>
                <a:srgbClr val="000000"/>
              </a:solidFill>
              <a:latin typeface="Montserrat"/>
              <a:ea typeface="Montserrat"/>
              <a:cs typeface="Montserrat"/>
              <a:sym typeface="Montserrat"/>
            </a:endParaRPr>
          </a:p>
        </p:txBody>
      </p:sp>
      <p:sp>
        <p:nvSpPr>
          <p:cNvPr id="111" name="Google Shape;111;p2"/>
          <p:cNvSpPr txBox="1"/>
          <p:nvPr/>
        </p:nvSpPr>
        <p:spPr>
          <a:xfrm>
            <a:off x="6049700" y="4244163"/>
            <a:ext cx="2357100" cy="184800"/>
          </a:xfrm>
          <a:prstGeom prst="rect">
            <a:avLst/>
          </a:prstGeom>
          <a:noFill/>
          <a:ln>
            <a:noFill/>
          </a:ln>
        </p:spPr>
        <p:txBody>
          <a:bodyPr anchorCtr="0" anchor="t" bIns="0" lIns="0" spcFirstLastPara="1" rIns="0" wrap="square" tIns="0">
            <a:spAutoFit/>
          </a:bodyPr>
          <a:lstStyle/>
          <a:p>
            <a:pPr indent="0" lvl="0" marL="0" marR="0" rtl="0" algn="r">
              <a:lnSpc>
                <a:spcPct val="140016"/>
              </a:lnSpc>
              <a:spcBef>
                <a:spcPts val="0"/>
              </a:spcBef>
              <a:spcAft>
                <a:spcPts val="0"/>
              </a:spcAft>
              <a:buClr>
                <a:srgbClr val="000000"/>
              </a:buClr>
              <a:buSzPts val="1200"/>
              <a:buFont typeface="Arial"/>
              <a:buNone/>
            </a:pPr>
            <a:r>
              <a:rPr b="1" i="0" lang="es" sz="1200" u="none" cap="none" strike="noStrike">
                <a:solidFill>
                  <a:srgbClr val="131416"/>
                </a:solidFill>
                <a:latin typeface="Montserrat"/>
                <a:ea typeface="Montserrat"/>
                <a:cs typeface="Montserrat"/>
                <a:sym typeface="Montserrat"/>
              </a:rPr>
              <a:t>Facultad de Ingeniería</a:t>
            </a:r>
            <a:endParaRPr b="0" i="0" sz="700" u="none" cap="none" strike="noStrike">
              <a:solidFill>
                <a:srgbClr val="000000"/>
              </a:solidFill>
              <a:latin typeface="Montserrat"/>
              <a:ea typeface="Montserrat"/>
              <a:cs typeface="Montserrat"/>
              <a:sym typeface="Montserrat"/>
            </a:endParaRPr>
          </a:p>
        </p:txBody>
      </p:sp>
      <p:sp>
        <p:nvSpPr>
          <p:cNvPr id="112" name="Google Shape;112;p2"/>
          <p:cNvSpPr txBox="1"/>
          <p:nvPr/>
        </p:nvSpPr>
        <p:spPr>
          <a:xfrm>
            <a:off x="4122350" y="4465413"/>
            <a:ext cx="4284300" cy="184800"/>
          </a:xfrm>
          <a:prstGeom prst="rect">
            <a:avLst/>
          </a:prstGeom>
          <a:noFill/>
          <a:ln>
            <a:noFill/>
          </a:ln>
        </p:spPr>
        <p:txBody>
          <a:bodyPr anchorCtr="0" anchor="t" bIns="0" lIns="0" spcFirstLastPara="1" rIns="0" wrap="square" tIns="0">
            <a:spAutoFit/>
          </a:bodyPr>
          <a:lstStyle/>
          <a:p>
            <a:pPr indent="0" lvl="0" marL="0" marR="0" rtl="0" algn="r">
              <a:lnSpc>
                <a:spcPct val="140016"/>
              </a:lnSpc>
              <a:spcBef>
                <a:spcPts val="0"/>
              </a:spcBef>
              <a:spcAft>
                <a:spcPts val="0"/>
              </a:spcAft>
              <a:buClr>
                <a:srgbClr val="000000"/>
              </a:buClr>
              <a:buSzPts val="1200"/>
              <a:buFont typeface="Arial"/>
              <a:buNone/>
            </a:pPr>
            <a:r>
              <a:rPr b="1" i="0" lang="es" sz="1200" u="none" cap="none" strike="noStrike">
                <a:solidFill>
                  <a:srgbClr val="131416"/>
                </a:solidFill>
                <a:latin typeface="Montserrat"/>
                <a:ea typeface="Montserrat"/>
                <a:cs typeface="Montserrat"/>
                <a:sym typeface="Montserrat"/>
              </a:rPr>
              <a:t>Universidad de San Carlos de Guatemala</a:t>
            </a:r>
            <a:endParaRPr b="0" i="0" sz="7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grpSp>
        <p:nvGrpSpPr>
          <p:cNvPr id="117" name="Google Shape;117;p3"/>
          <p:cNvGrpSpPr/>
          <p:nvPr/>
        </p:nvGrpSpPr>
        <p:grpSpPr>
          <a:xfrm>
            <a:off x="913044" y="2066205"/>
            <a:ext cx="2057663" cy="778267"/>
            <a:chOff x="0" y="-76200"/>
            <a:chExt cx="1083836" cy="409938"/>
          </a:xfrm>
        </p:grpSpPr>
        <p:sp>
          <p:nvSpPr>
            <p:cNvPr id="118" name="Google Shape;118;p3"/>
            <p:cNvSpPr/>
            <p:nvPr/>
          </p:nvSpPr>
          <p:spPr>
            <a:xfrm>
              <a:off x="0" y="0"/>
              <a:ext cx="1083836" cy="333738"/>
            </a:xfrm>
            <a:custGeom>
              <a:rect b="b" l="l" r="r" t="t"/>
              <a:pathLst>
                <a:path extrusionOk="0" h="333738" w="1083836">
                  <a:moveTo>
                    <a:pt x="880636" y="0"/>
                  </a:moveTo>
                  <a:lnTo>
                    <a:pt x="0" y="0"/>
                  </a:lnTo>
                  <a:lnTo>
                    <a:pt x="0" y="333738"/>
                  </a:lnTo>
                  <a:lnTo>
                    <a:pt x="880636" y="333738"/>
                  </a:lnTo>
                  <a:lnTo>
                    <a:pt x="1083836" y="166869"/>
                  </a:lnTo>
                  <a:lnTo>
                    <a:pt x="880636" y="0"/>
                  </a:lnTo>
                  <a:close/>
                </a:path>
              </a:pathLst>
            </a:custGeom>
            <a:solidFill>
              <a:srgbClr val="FFFFFF"/>
            </a:solidFill>
            <a:ln>
              <a:noFill/>
            </a:ln>
          </p:spPr>
        </p:sp>
        <p:sp>
          <p:nvSpPr>
            <p:cNvPr id="119" name="Google Shape;119;p3"/>
            <p:cNvSpPr txBox="1"/>
            <p:nvPr/>
          </p:nvSpPr>
          <p:spPr>
            <a:xfrm>
              <a:off x="0" y="-76200"/>
              <a:ext cx="969600" cy="409800"/>
            </a:xfrm>
            <a:prstGeom prst="rect">
              <a:avLst/>
            </a:prstGeom>
            <a:noFill/>
            <a:ln>
              <a:noFill/>
            </a:ln>
          </p:spPr>
          <p:txBody>
            <a:bodyPr anchorCtr="0" anchor="ctr" bIns="25400" lIns="25400" spcFirstLastPara="1" rIns="25400" wrap="square" tIns="25400">
              <a:noAutofit/>
            </a:bodyPr>
            <a:lstStyle/>
            <a:p>
              <a:pPr indent="0" lvl="0" marL="0" marR="0" rtl="0" algn="ctr">
                <a:lnSpc>
                  <a:spcPct val="148017"/>
                </a:lnSpc>
                <a:spcBef>
                  <a:spcPts val="0"/>
                </a:spcBef>
                <a:spcAft>
                  <a:spcPts val="0"/>
                </a:spcAft>
                <a:buClr>
                  <a:srgbClr val="000000"/>
                </a:buClr>
                <a:buSzPts val="1400"/>
                <a:buFont typeface="Arial"/>
                <a:buNone/>
              </a:pPr>
              <a:r>
                <a:rPr b="0" i="0" lang="es" sz="1400" u="none" cap="none" strike="noStrike">
                  <a:solidFill>
                    <a:srgbClr val="000000"/>
                  </a:solidFill>
                  <a:latin typeface="Montserrat"/>
                  <a:ea typeface="Montserrat"/>
                  <a:cs typeface="Montserrat"/>
                  <a:sym typeface="Montserrat"/>
                </a:rPr>
                <a:t>RECORDATORIOS</a:t>
              </a:r>
              <a:endParaRPr b="0" i="0" sz="700" u="none" cap="none" strike="noStrike">
                <a:solidFill>
                  <a:srgbClr val="000000"/>
                </a:solidFill>
                <a:latin typeface="Montserrat"/>
                <a:ea typeface="Montserrat"/>
                <a:cs typeface="Montserrat"/>
                <a:sym typeface="Montserrat"/>
              </a:endParaRPr>
            </a:p>
          </p:txBody>
        </p:sp>
      </p:grpSp>
      <p:sp>
        <p:nvSpPr>
          <p:cNvPr id="120" name="Google Shape;120;p3"/>
          <p:cNvSpPr/>
          <p:nvPr/>
        </p:nvSpPr>
        <p:spPr>
          <a:xfrm>
            <a:off x="532102" y="2237105"/>
            <a:ext cx="376946" cy="436464"/>
          </a:xfrm>
          <a:custGeom>
            <a:rect b="b" l="l" r="r" t="t"/>
            <a:pathLst>
              <a:path extrusionOk="0" h="872928" w="753892">
                <a:moveTo>
                  <a:pt x="0" y="0"/>
                </a:moveTo>
                <a:lnTo>
                  <a:pt x="753892" y="0"/>
                </a:lnTo>
                <a:lnTo>
                  <a:pt x="753892" y="872927"/>
                </a:lnTo>
                <a:lnTo>
                  <a:pt x="0" y="872927"/>
                </a:lnTo>
                <a:lnTo>
                  <a:pt x="0" y="0"/>
                </a:lnTo>
                <a:close/>
              </a:path>
            </a:pathLst>
          </a:custGeom>
          <a:blipFill rotWithShape="1">
            <a:blip r:embed="rId3">
              <a:alphaModFix/>
            </a:blip>
            <a:stretch>
              <a:fillRect b="0" l="0" r="0" t="0"/>
            </a:stretch>
          </a:blipFill>
          <a:ln>
            <a:noFill/>
          </a:ln>
        </p:spPr>
      </p:sp>
      <p:grpSp>
        <p:nvGrpSpPr>
          <p:cNvPr id="121" name="Google Shape;121;p3"/>
          <p:cNvGrpSpPr/>
          <p:nvPr/>
        </p:nvGrpSpPr>
        <p:grpSpPr>
          <a:xfrm>
            <a:off x="5919652" y="2323179"/>
            <a:ext cx="2676912" cy="850600"/>
            <a:chOff x="0" y="-114300"/>
            <a:chExt cx="1410014" cy="448038"/>
          </a:xfrm>
        </p:grpSpPr>
        <p:sp>
          <p:nvSpPr>
            <p:cNvPr id="122" name="Google Shape;122;p3"/>
            <p:cNvSpPr/>
            <p:nvPr/>
          </p:nvSpPr>
          <p:spPr>
            <a:xfrm>
              <a:off x="0" y="0"/>
              <a:ext cx="1410014" cy="333738"/>
            </a:xfrm>
            <a:custGeom>
              <a:rect b="b" l="l" r="r" t="t"/>
              <a:pathLst>
                <a:path extrusionOk="0" h="333738" w="1410014">
                  <a:moveTo>
                    <a:pt x="1206814" y="0"/>
                  </a:moveTo>
                  <a:lnTo>
                    <a:pt x="0" y="0"/>
                  </a:lnTo>
                  <a:lnTo>
                    <a:pt x="0" y="333738"/>
                  </a:lnTo>
                  <a:lnTo>
                    <a:pt x="1206814" y="333738"/>
                  </a:lnTo>
                  <a:lnTo>
                    <a:pt x="1410014" y="166869"/>
                  </a:lnTo>
                  <a:lnTo>
                    <a:pt x="1206814" y="0"/>
                  </a:lnTo>
                  <a:close/>
                </a:path>
              </a:pathLst>
            </a:custGeom>
            <a:solidFill>
              <a:srgbClr val="FFFFFF"/>
            </a:solidFill>
            <a:ln>
              <a:noFill/>
            </a:ln>
          </p:spPr>
        </p:sp>
        <p:sp>
          <p:nvSpPr>
            <p:cNvPr id="123" name="Google Shape;123;p3"/>
            <p:cNvSpPr txBox="1"/>
            <p:nvPr/>
          </p:nvSpPr>
          <p:spPr>
            <a:xfrm>
              <a:off x="59628" y="-114300"/>
              <a:ext cx="1295700" cy="447900"/>
            </a:xfrm>
            <a:prstGeom prst="rect">
              <a:avLst/>
            </a:prstGeom>
            <a:noFill/>
            <a:ln>
              <a:noFill/>
            </a:ln>
          </p:spPr>
          <p:txBody>
            <a:bodyPr anchorCtr="0" anchor="ctr" bIns="25400" lIns="25400" spcFirstLastPara="1" rIns="25400" wrap="square" tIns="25400">
              <a:noAutofit/>
            </a:bodyPr>
            <a:lstStyle/>
            <a:p>
              <a:pPr indent="0" lvl="0" marL="0" marR="0" rtl="0" algn="ctr">
                <a:lnSpc>
                  <a:spcPct val="148010"/>
                </a:lnSpc>
                <a:spcBef>
                  <a:spcPts val="0"/>
                </a:spcBef>
                <a:spcAft>
                  <a:spcPts val="0"/>
                </a:spcAft>
                <a:buClr>
                  <a:srgbClr val="000000"/>
                </a:buClr>
                <a:buSzPts val="2200"/>
                <a:buFont typeface="Arial"/>
                <a:buNone/>
              </a:pPr>
              <a:r>
                <a:rPr b="0" i="0" lang="es" sz="2200" u="none" cap="none" strike="noStrike">
                  <a:solidFill>
                    <a:srgbClr val="000000"/>
                  </a:solidFill>
                  <a:latin typeface="Montserrat"/>
                  <a:ea typeface="Montserrat"/>
                  <a:cs typeface="Montserrat"/>
                  <a:sym typeface="Montserrat"/>
                </a:rPr>
                <a:t>Link del Video</a:t>
              </a:r>
              <a:endParaRPr b="0" i="0" sz="700" u="none" cap="none" strike="noStrike">
                <a:solidFill>
                  <a:srgbClr val="000000"/>
                </a:solidFill>
                <a:latin typeface="Montserrat"/>
                <a:ea typeface="Montserrat"/>
                <a:cs typeface="Montserrat"/>
                <a:sym typeface="Montserrat"/>
              </a:endParaRPr>
            </a:p>
          </p:txBody>
        </p:sp>
      </p:grpSp>
      <p:sp>
        <p:nvSpPr>
          <p:cNvPr id="124" name="Google Shape;124;p3"/>
          <p:cNvSpPr/>
          <p:nvPr/>
        </p:nvSpPr>
        <p:spPr>
          <a:xfrm>
            <a:off x="305427" y="3253103"/>
            <a:ext cx="226679" cy="275047"/>
          </a:xfrm>
          <a:custGeom>
            <a:rect b="b" l="l" r="r" t="t"/>
            <a:pathLst>
              <a:path extrusionOk="0" h="550094" w="453358">
                <a:moveTo>
                  <a:pt x="0" y="0"/>
                </a:moveTo>
                <a:lnTo>
                  <a:pt x="453358" y="0"/>
                </a:lnTo>
                <a:lnTo>
                  <a:pt x="453358" y="550094"/>
                </a:lnTo>
                <a:lnTo>
                  <a:pt x="0" y="550094"/>
                </a:lnTo>
                <a:lnTo>
                  <a:pt x="0" y="0"/>
                </a:lnTo>
                <a:close/>
              </a:path>
            </a:pathLst>
          </a:custGeom>
          <a:blipFill rotWithShape="1">
            <a:blip r:embed="rId4">
              <a:alphaModFix/>
            </a:blip>
            <a:stretch>
              <a:fillRect b="0" l="0" r="0" t="0"/>
            </a:stretch>
          </a:blipFill>
          <a:ln>
            <a:noFill/>
          </a:ln>
        </p:spPr>
      </p:sp>
      <p:sp>
        <p:nvSpPr>
          <p:cNvPr id="125" name="Google Shape;125;p3"/>
          <p:cNvSpPr txBox="1"/>
          <p:nvPr/>
        </p:nvSpPr>
        <p:spPr>
          <a:xfrm>
            <a:off x="682375" y="3227600"/>
            <a:ext cx="4899000" cy="261600"/>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Clr>
                <a:srgbClr val="000000"/>
              </a:buClr>
              <a:buSzPts val="1700"/>
              <a:buFont typeface="Arial"/>
              <a:buNone/>
            </a:pPr>
            <a:r>
              <a:rPr b="0" i="0" lang="es" sz="1700" u="none" cap="none" strike="noStrike">
                <a:solidFill>
                  <a:srgbClr val="152540"/>
                </a:solidFill>
                <a:latin typeface="Montserrat"/>
                <a:ea typeface="Montserrat"/>
                <a:cs typeface="Montserrat"/>
                <a:sym typeface="Montserrat"/>
              </a:rPr>
              <a:t>Autómatas Finitos</a:t>
            </a:r>
            <a:endParaRPr b="0" i="0" sz="700" u="none" cap="none" strike="noStrike">
              <a:solidFill>
                <a:srgbClr val="000000"/>
              </a:solidFill>
              <a:latin typeface="Montserrat"/>
              <a:ea typeface="Montserrat"/>
              <a:cs typeface="Montserrat"/>
              <a:sym typeface="Montserrat"/>
            </a:endParaRPr>
          </a:p>
        </p:txBody>
      </p:sp>
      <p:sp>
        <p:nvSpPr>
          <p:cNvPr id="126" name="Google Shape;126;p3"/>
          <p:cNvSpPr txBox="1"/>
          <p:nvPr/>
        </p:nvSpPr>
        <p:spPr>
          <a:xfrm>
            <a:off x="305424" y="640244"/>
            <a:ext cx="3855300" cy="1154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7500"/>
              <a:buFont typeface="Arial"/>
              <a:buNone/>
            </a:pPr>
            <a:r>
              <a:rPr b="0" i="0" lang="es" sz="7500" u="none" cap="none" strike="noStrike">
                <a:solidFill>
                  <a:srgbClr val="131416"/>
                </a:solidFill>
                <a:latin typeface="Pacifico"/>
                <a:ea typeface="Pacifico"/>
                <a:cs typeface="Pacifico"/>
                <a:sym typeface="Pacifico"/>
              </a:rPr>
              <a:t>Agenda</a:t>
            </a:r>
            <a:endParaRPr b="0" i="0" sz="700" u="none" cap="none" strike="noStrike">
              <a:solidFill>
                <a:srgbClr val="000000"/>
              </a:solidFill>
              <a:latin typeface="Pacifico"/>
              <a:ea typeface="Pacifico"/>
              <a:cs typeface="Pacifico"/>
              <a:sym typeface="Pacifico"/>
            </a:endParaRPr>
          </a:p>
        </p:txBody>
      </p:sp>
      <p:sp>
        <p:nvSpPr>
          <p:cNvPr id="127" name="Google Shape;127;p3"/>
          <p:cNvSpPr txBox="1"/>
          <p:nvPr/>
        </p:nvSpPr>
        <p:spPr>
          <a:xfrm>
            <a:off x="5027845" y="1100602"/>
            <a:ext cx="4208400" cy="1154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7500"/>
              <a:buFont typeface="Arial"/>
              <a:buNone/>
            </a:pPr>
            <a:r>
              <a:rPr b="0" i="0" lang="es" sz="7500" u="none" cap="none" strike="noStrike">
                <a:solidFill>
                  <a:srgbClr val="131416"/>
                </a:solidFill>
                <a:latin typeface="Lobster"/>
                <a:ea typeface="Lobster"/>
                <a:cs typeface="Lobster"/>
                <a:sym typeface="Lobster"/>
              </a:rPr>
              <a:t>Recursos</a:t>
            </a:r>
            <a:endParaRPr b="0" i="0" sz="700" u="none" cap="none" strike="noStrike">
              <a:solidFill>
                <a:srgbClr val="000000"/>
              </a:solidFill>
              <a:latin typeface="Lobster"/>
              <a:ea typeface="Lobster"/>
              <a:cs typeface="Lobster"/>
              <a:sym typeface="Lobster"/>
            </a:endParaRPr>
          </a:p>
        </p:txBody>
      </p:sp>
      <p:pic>
        <p:nvPicPr>
          <p:cNvPr id="128" name="Google Shape;128;p3"/>
          <p:cNvPicPr preferRelativeResize="0"/>
          <p:nvPr/>
        </p:nvPicPr>
        <p:blipFill rotWithShape="1">
          <a:blip r:embed="rId5">
            <a:alphaModFix/>
          </a:blip>
          <a:srcRect b="0" l="0" r="0" t="0"/>
          <a:stretch/>
        </p:blipFill>
        <p:spPr>
          <a:xfrm>
            <a:off x="5630750" y="2844463"/>
            <a:ext cx="554100" cy="554100"/>
          </a:xfrm>
          <a:prstGeom prst="rect">
            <a:avLst/>
          </a:prstGeom>
          <a:noFill/>
          <a:ln>
            <a:noFill/>
          </a:ln>
        </p:spPr>
      </p:pic>
      <p:sp>
        <p:nvSpPr>
          <p:cNvPr id="129" name="Google Shape;129;p3"/>
          <p:cNvSpPr/>
          <p:nvPr/>
        </p:nvSpPr>
        <p:spPr>
          <a:xfrm>
            <a:off x="4059802" y="2237099"/>
            <a:ext cx="376946" cy="436464"/>
          </a:xfrm>
          <a:custGeom>
            <a:rect b="b" l="l" r="r" t="t"/>
            <a:pathLst>
              <a:path extrusionOk="0" h="872928" w="753892">
                <a:moveTo>
                  <a:pt x="0" y="0"/>
                </a:moveTo>
                <a:lnTo>
                  <a:pt x="753892" y="0"/>
                </a:lnTo>
                <a:lnTo>
                  <a:pt x="753892" y="872927"/>
                </a:lnTo>
                <a:lnTo>
                  <a:pt x="0" y="872927"/>
                </a:lnTo>
                <a:lnTo>
                  <a:pt x="0" y="0"/>
                </a:lnTo>
                <a:close/>
              </a:path>
            </a:pathLst>
          </a:custGeom>
          <a:blipFill rotWithShape="1">
            <a:blip r:embed="rId3">
              <a:alphaModFix/>
            </a:blip>
            <a:stretch>
              <a:fillRect b="0" l="0" r="0" t="0"/>
            </a:stretch>
          </a:blipFill>
          <a:ln>
            <a:noFill/>
          </a:ln>
        </p:spPr>
      </p:sp>
      <p:sp>
        <p:nvSpPr>
          <p:cNvPr id="130" name="Google Shape;130;p3"/>
          <p:cNvSpPr txBox="1"/>
          <p:nvPr/>
        </p:nvSpPr>
        <p:spPr>
          <a:xfrm>
            <a:off x="3067275" y="2323181"/>
            <a:ext cx="1043400" cy="366254"/>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Clr>
                <a:srgbClr val="000000"/>
              </a:buClr>
              <a:buSzPts val="1700"/>
              <a:buFont typeface="Arial"/>
              <a:buNone/>
            </a:pPr>
            <a:r>
              <a:rPr b="1" i="0" lang="es" sz="1700" u="none" cap="none" strike="noStrike">
                <a:solidFill>
                  <a:srgbClr val="152540"/>
                </a:solidFill>
                <a:latin typeface="Montserrat"/>
                <a:ea typeface="Montserrat"/>
                <a:cs typeface="Montserrat"/>
                <a:sym typeface="Montserrat"/>
              </a:rPr>
              <a:t>FORO X</a:t>
            </a:r>
            <a:endParaRPr b="1" i="0" sz="700" u="none" cap="none" strike="noStrike">
              <a:solidFill>
                <a:srgbClr val="000000"/>
              </a:solidFill>
              <a:latin typeface="Montserrat"/>
              <a:ea typeface="Montserrat"/>
              <a:cs typeface="Montserrat"/>
              <a:sym typeface="Montserrat"/>
            </a:endParaRPr>
          </a:p>
        </p:txBody>
      </p:sp>
      <p:sp>
        <p:nvSpPr>
          <p:cNvPr id="131" name="Google Shape;131;p3"/>
          <p:cNvSpPr/>
          <p:nvPr/>
        </p:nvSpPr>
        <p:spPr>
          <a:xfrm>
            <a:off x="6270654" y="0"/>
            <a:ext cx="2873346" cy="85589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6">
              <a:alphaModFix/>
            </a:blip>
            <a:stretch>
              <a:fillRect b="0" l="0" r="0" t="0"/>
            </a:stretch>
          </a:blipFill>
          <a:ln>
            <a:noFill/>
          </a:ln>
        </p:spPr>
      </p:sp>
      <p:sp>
        <p:nvSpPr>
          <p:cNvPr id="132" name="Google Shape;132;p3"/>
          <p:cNvSpPr txBox="1"/>
          <p:nvPr/>
        </p:nvSpPr>
        <p:spPr>
          <a:xfrm>
            <a:off x="6043575" y="2930513"/>
            <a:ext cx="2553000" cy="461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0" i="0" lang="es" sz="900" u="none" cap="none" strike="noStrike">
                <a:solidFill>
                  <a:srgbClr val="000000"/>
                </a:solidFill>
                <a:latin typeface="Montserrat"/>
                <a:ea typeface="Montserrat"/>
                <a:cs typeface="Montserrat"/>
                <a:sym typeface="Montserrat"/>
              </a:rPr>
              <a:t>https://www.youtube.com/watch?v=d9aEE-uLmNE</a:t>
            </a:r>
            <a:endParaRPr b="0" i="0" sz="900" u="none" cap="none" strike="noStrike">
              <a:solidFill>
                <a:srgbClr val="000000"/>
              </a:solidFill>
              <a:latin typeface="Montserrat"/>
              <a:ea typeface="Montserrat"/>
              <a:cs typeface="Montserrat"/>
              <a:sym typeface="Montserrat"/>
            </a:endParaRPr>
          </a:p>
        </p:txBody>
      </p:sp>
      <p:sp>
        <p:nvSpPr>
          <p:cNvPr id="133" name="Google Shape;133;p3"/>
          <p:cNvSpPr/>
          <p:nvPr/>
        </p:nvSpPr>
        <p:spPr>
          <a:xfrm>
            <a:off x="305427" y="3771853"/>
            <a:ext cx="226679" cy="275047"/>
          </a:xfrm>
          <a:custGeom>
            <a:rect b="b" l="l" r="r" t="t"/>
            <a:pathLst>
              <a:path extrusionOk="0" h="550094" w="453358">
                <a:moveTo>
                  <a:pt x="0" y="0"/>
                </a:moveTo>
                <a:lnTo>
                  <a:pt x="453358" y="0"/>
                </a:lnTo>
                <a:lnTo>
                  <a:pt x="453358" y="550094"/>
                </a:lnTo>
                <a:lnTo>
                  <a:pt x="0" y="550094"/>
                </a:lnTo>
                <a:lnTo>
                  <a:pt x="0" y="0"/>
                </a:lnTo>
                <a:close/>
              </a:path>
            </a:pathLst>
          </a:custGeom>
          <a:blipFill rotWithShape="1">
            <a:blip r:embed="rId4">
              <a:alphaModFix/>
            </a:blip>
            <a:stretch>
              <a:fillRect b="0" l="0" r="0" t="0"/>
            </a:stretch>
          </a:blipFill>
          <a:ln>
            <a:noFill/>
          </a:ln>
        </p:spPr>
      </p:sp>
      <p:sp>
        <p:nvSpPr>
          <p:cNvPr id="134" name="Google Shape;134;p3"/>
          <p:cNvSpPr txBox="1"/>
          <p:nvPr/>
        </p:nvSpPr>
        <p:spPr>
          <a:xfrm>
            <a:off x="682375" y="3778575"/>
            <a:ext cx="4899000" cy="261600"/>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Clr>
                <a:schemeClr val="dk1"/>
              </a:buClr>
              <a:buSzPts val="1700"/>
              <a:buFont typeface="Arial"/>
              <a:buNone/>
            </a:pPr>
            <a:r>
              <a:rPr b="0" i="0" lang="es" sz="1700" u="none" cap="none" strike="noStrike">
                <a:solidFill>
                  <a:srgbClr val="152540"/>
                </a:solidFill>
                <a:latin typeface="Montserrat"/>
                <a:ea typeface="Montserrat"/>
                <a:cs typeface="Montserrat"/>
                <a:sym typeface="Montserrat"/>
              </a:rPr>
              <a:t>Autómatas Finitos</a:t>
            </a:r>
            <a:endParaRPr b="0" i="0" sz="1700" u="none" cap="none" strike="noStrike">
              <a:solidFill>
                <a:srgbClr val="152540"/>
              </a:solidFill>
              <a:latin typeface="Montserrat"/>
              <a:ea typeface="Montserrat"/>
              <a:cs typeface="Montserrat"/>
              <a:sym typeface="Montserra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4"/>
          <p:cNvSpPr txBox="1"/>
          <p:nvPr/>
        </p:nvSpPr>
        <p:spPr>
          <a:xfrm>
            <a:off x="1074220" y="1245145"/>
            <a:ext cx="6995700" cy="461700"/>
          </a:xfrm>
          <a:prstGeom prst="rect">
            <a:avLst/>
          </a:prstGeom>
          <a:noFill/>
          <a:ln>
            <a:noFill/>
          </a:ln>
        </p:spPr>
        <p:txBody>
          <a:bodyPr anchorCtr="0" anchor="t" bIns="0" lIns="0" spcFirstLastPara="1" rIns="0" wrap="square" tIns="0">
            <a:spAutoFit/>
          </a:bodyPr>
          <a:lstStyle/>
          <a:p>
            <a:pPr indent="0" lvl="0" marL="0" marR="0" rtl="0" algn="ctr">
              <a:lnSpc>
                <a:spcPct val="112987"/>
              </a:lnSpc>
              <a:spcBef>
                <a:spcPts val="0"/>
              </a:spcBef>
              <a:spcAft>
                <a:spcPts val="0"/>
              </a:spcAft>
              <a:buClr>
                <a:srgbClr val="000000"/>
              </a:buClr>
              <a:buSzPts val="3000"/>
              <a:buFont typeface="Arial"/>
              <a:buNone/>
            </a:pPr>
            <a:r>
              <a:rPr b="0" i="0" lang="es" sz="3000" u="none" cap="none" strike="noStrike">
                <a:solidFill>
                  <a:srgbClr val="131416"/>
                </a:solidFill>
                <a:latin typeface="Impact"/>
                <a:ea typeface="Impact"/>
                <a:cs typeface="Impact"/>
                <a:sym typeface="Impact"/>
              </a:rPr>
              <a:t> Dudas clase anterior ?</a:t>
            </a:r>
            <a:endParaRPr b="0" i="0" sz="700" u="none" cap="none" strike="noStrike">
              <a:solidFill>
                <a:srgbClr val="000000"/>
              </a:solidFill>
              <a:latin typeface="Impact"/>
              <a:ea typeface="Impact"/>
              <a:cs typeface="Impact"/>
              <a:sym typeface="Impact"/>
            </a:endParaRPr>
          </a:p>
        </p:txBody>
      </p:sp>
      <p:sp>
        <p:nvSpPr>
          <p:cNvPr id="140" name="Google Shape;140;p4"/>
          <p:cNvSpPr/>
          <p:nvPr/>
        </p:nvSpPr>
        <p:spPr>
          <a:xfrm>
            <a:off x="6270654" y="0"/>
            <a:ext cx="2873346" cy="85589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sp>
      <p:pic>
        <p:nvPicPr>
          <p:cNvPr id="141" name="Google Shape;141;p4"/>
          <p:cNvPicPr preferRelativeResize="0"/>
          <p:nvPr/>
        </p:nvPicPr>
        <p:blipFill rotWithShape="1">
          <a:blip r:embed="rId4">
            <a:alphaModFix/>
          </a:blip>
          <a:srcRect b="0" l="0" r="0" t="0"/>
          <a:stretch/>
        </p:blipFill>
        <p:spPr>
          <a:xfrm>
            <a:off x="7410013" y="3409513"/>
            <a:ext cx="1733987" cy="1733987"/>
          </a:xfrm>
          <a:prstGeom prst="rect">
            <a:avLst/>
          </a:prstGeom>
          <a:noFill/>
          <a:ln>
            <a:noFill/>
          </a:ln>
        </p:spPr>
      </p:pic>
      <p:grpSp>
        <p:nvGrpSpPr>
          <p:cNvPr id="142" name="Google Shape;142;p4"/>
          <p:cNvGrpSpPr/>
          <p:nvPr/>
        </p:nvGrpSpPr>
        <p:grpSpPr>
          <a:xfrm>
            <a:off x="1006558" y="1690298"/>
            <a:ext cx="6884151" cy="778005"/>
            <a:chOff x="-1336127" y="-38032"/>
            <a:chExt cx="3626100" cy="409800"/>
          </a:xfrm>
        </p:grpSpPr>
        <p:sp>
          <p:nvSpPr>
            <p:cNvPr id="143" name="Google Shape;143;p4"/>
            <p:cNvSpPr/>
            <p:nvPr/>
          </p:nvSpPr>
          <p:spPr>
            <a:xfrm>
              <a:off x="0" y="0"/>
              <a:ext cx="1083836" cy="333738"/>
            </a:xfrm>
            <a:custGeom>
              <a:rect b="b" l="l" r="r" t="t"/>
              <a:pathLst>
                <a:path extrusionOk="0" h="333738" w="1083836">
                  <a:moveTo>
                    <a:pt x="880636" y="0"/>
                  </a:moveTo>
                  <a:lnTo>
                    <a:pt x="0" y="0"/>
                  </a:lnTo>
                  <a:lnTo>
                    <a:pt x="0" y="333738"/>
                  </a:lnTo>
                  <a:lnTo>
                    <a:pt x="880636" y="333738"/>
                  </a:lnTo>
                  <a:lnTo>
                    <a:pt x="1083836" y="166869"/>
                  </a:lnTo>
                  <a:lnTo>
                    <a:pt x="880636" y="0"/>
                  </a:lnTo>
                  <a:close/>
                </a:path>
              </a:pathLst>
            </a:custGeom>
            <a:solidFill>
              <a:srgbClr val="FFFFFF"/>
            </a:solidFill>
            <a:ln>
              <a:noFill/>
            </a:ln>
          </p:spPr>
        </p:sp>
        <p:sp>
          <p:nvSpPr>
            <p:cNvPr id="144" name="Google Shape;144;p4"/>
            <p:cNvSpPr txBox="1"/>
            <p:nvPr/>
          </p:nvSpPr>
          <p:spPr>
            <a:xfrm>
              <a:off x="-1336127" y="-38032"/>
              <a:ext cx="3626100" cy="409800"/>
            </a:xfrm>
            <a:prstGeom prst="rect">
              <a:avLst/>
            </a:prstGeom>
            <a:noFill/>
            <a:ln>
              <a:noFill/>
            </a:ln>
          </p:spPr>
          <p:txBody>
            <a:bodyPr anchorCtr="0" anchor="ctr" bIns="25400" lIns="25400" spcFirstLastPara="1" rIns="25400" wrap="square" tIns="25400">
              <a:noAutofit/>
            </a:bodyPr>
            <a:lstStyle/>
            <a:p>
              <a:pPr indent="0" lvl="0" marL="0" marR="0" rtl="0" algn="ctr">
                <a:lnSpc>
                  <a:spcPct val="148017"/>
                </a:lnSpc>
                <a:spcBef>
                  <a:spcPts val="0"/>
                </a:spcBef>
                <a:spcAft>
                  <a:spcPts val="0"/>
                </a:spcAft>
                <a:buClr>
                  <a:srgbClr val="000000"/>
                </a:buClr>
                <a:buSzPts val="1400"/>
                <a:buFont typeface="Arial"/>
                <a:buNone/>
              </a:pPr>
              <a:r>
                <a:rPr b="0" i="0" lang="es" sz="1600" u="none" cap="none" strike="noStrike">
                  <a:solidFill>
                    <a:srgbClr val="000000"/>
                  </a:solidFill>
                  <a:latin typeface="Montserrat"/>
                  <a:ea typeface="Montserrat"/>
                  <a:cs typeface="Montserrat"/>
                  <a:sym typeface="Montserrat"/>
                </a:rPr>
                <a:t>Tema visto: </a:t>
              </a:r>
              <a:r>
                <a:rPr b="1" i="0" lang="es" sz="1600" u="none" cap="none" strike="noStrike">
                  <a:solidFill>
                    <a:srgbClr val="000000"/>
                  </a:solidFill>
                  <a:latin typeface="Montserrat"/>
                  <a:ea typeface="Montserrat"/>
                  <a:cs typeface="Montserrat"/>
                  <a:sym typeface="Montserrat"/>
                </a:rPr>
                <a:t>Analisis Lexico, Tokens, Lexemas, Errores Léxicos</a:t>
              </a:r>
              <a:endParaRPr b="1" i="0" sz="1000" u="none" cap="none" strike="noStrike">
                <a:solidFill>
                  <a:srgbClr val="000000"/>
                </a:solidFill>
                <a:latin typeface="Montserrat"/>
                <a:ea typeface="Montserrat"/>
                <a:cs typeface="Montserrat"/>
                <a:sym typeface="Montserrat"/>
              </a:endParaRPr>
            </a:p>
          </p:txBody>
        </p:sp>
      </p:grpSp>
      <p:pic>
        <p:nvPicPr>
          <p:cNvPr id="145" name="Google Shape;145;p4"/>
          <p:cNvPicPr preferRelativeResize="0"/>
          <p:nvPr/>
        </p:nvPicPr>
        <p:blipFill rotWithShape="1">
          <a:blip r:embed="rId5">
            <a:alphaModFix/>
          </a:blip>
          <a:srcRect b="0" l="0" r="0" t="0"/>
          <a:stretch/>
        </p:blipFill>
        <p:spPr>
          <a:xfrm>
            <a:off x="3131936" y="2468300"/>
            <a:ext cx="2633374" cy="19273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5"/>
          <p:cNvSpPr txBox="1"/>
          <p:nvPr/>
        </p:nvSpPr>
        <p:spPr>
          <a:xfrm>
            <a:off x="514350" y="944850"/>
            <a:ext cx="8198100" cy="983400"/>
          </a:xfrm>
          <a:prstGeom prst="rect">
            <a:avLst/>
          </a:prstGeom>
          <a:noFill/>
          <a:ln>
            <a:noFill/>
          </a:ln>
        </p:spPr>
        <p:txBody>
          <a:bodyPr anchorCtr="0" anchor="t" bIns="0" lIns="0" spcFirstLastPara="1" rIns="0" wrap="square" tIns="0">
            <a:spAutoFit/>
          </a:bodyPr>
          <a:lstStyle/>
          <a:p>
            <a:pPr indent="0" lvl="0" marL="0" marR="0" rtl="0" algn="ctr">
              <a:lnSpc>
                <a:spcPct val="112987"/>
              </a:lnSpc>
              <a:spcBef>
                <a:spcPts val="0"/>
              </a:spcBef>
              <a:spcAft>
                <a:spcPts val="0"/>
              </a:spcAft>
              <a:buClr>
                <a:srgbClr val="000000"/>
              </a:buClr>
              <a:buSzPts val="3000"/>
              <a:buFont typeface="Arial"/>
              <a:buNone/>
            </a:pPr>
            <a:r>
              <a:rPr b="1" i="0" lang="es" sz="3000" u="none" cap="none" strike="noStrike">
                <a:solidFill>
                  <a:srgbClr val="131416"/>
                </a:solidFill>
                <a:latin typeface="Montserrat"/>
                <a:ea typeface="Montserrat"/>
                <a:cs typeface="Montserrat"/>
                <a:sym typeface="Montserrat"/>
              </a:rPr>
              <a:t>COMPETENCIA QUE DESARROLLAREMOS</a:t>
            </a:r>
            <a:endParaRPr b="1" i="0" sz="700" u="none" cap="none" strike="noStrike">
              <a:solidFill>
                <a:srgbClr val="000000"/>
              </a:solidFill>
              <a:latin typeface="Montserrat"/>
              <a:ea typeface="Montserrat"/>
              <a:cs typeface="Montserrat"/>
              <a:sym typeface="Montserrat"/>
            </a:endParaRPr>
          </a:p>
        </p:txBody>
      </p:sp>
      <p:sp>
        <p:nvSpPr>
          <p:cNvPr id="151" name="Google Shape;151;p5"/>
          <p:cNvSpPr txBox="1"/>
          <p:nvPr/>
        </p:nvSpPr>
        <p:spPr>
          <a:xfrm>
            <a:off x="555675" y="2237925"/>
            <a:ext cx="8115300" cy="11112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2500"/>
              <a:buFont typeface="Arial"/>
              <a:buNone/>
            </a:pPr>
            <a:r>
              <a:rPr b="0" i="0" lang="es" sz="1900" u="none" cap="none" strike="noStrike">
                <a:solidFill>
                  <a:srgbClr val="131416"/>
                </a:solidFill>
                <a:latin typeface="Montserrat"/>
                <a:ea typeface="Montserrat"/>
                <a:cs typeface="Montserrat"/>
                <a:sym typeface="Montserrat"/>
              </a:rPr>
              <a:t>Construir analizadores léxicos utilizando conocimientos de AFD, POO, recursividad y programación imperativa para definir cada estado del AFD.</a:t>
            </a:r>
            <a:endParaRPr b="0" i="0" sz="100" u="none" cap="none" strike="noStrike">
              <a:solidFill>
                <a:srgbClr val="000000"/>
              </a:solidFill>
              <a:latin typeface="Montserrat"/>
              <a:ea typeface="Montserrat"/>
              <a:cs typeface="Montserrat"/>
              <a:sym typeface="Montserrat"/>
            </a:endParaRPr>
          </a:p>
        </p:txBody>
      </p:sp>
      <p:sp>
        <p:nvSpPr>
          <p:cNvPr id="152" name="Google Shape;152;p5"/>
          <p:cNvSpPr/>
          <p:nvPr/>
        </p:nvSpPr>
        <p:spPr>
          <a:xfrm>
            <a:off x="6270654" y="0"/>
            <a:ext cx="2873346" cy="85589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sp>
      <p:pic>
        <p:nvPicPr>
          <p:cNvPr id="153" name="Google Shape;153;p5"/>
          <p:cNvPicPr preferRelativeResize="0"/>
          <p:nvPr/>
        </p:nvPicPr>
        <p:blipFill rotWithShape="1">
          <a:blip r:embed="rId4">
            <a:alphaModFix/>
          </a:blip>
          <a:srcRect b="0" l="0" r="0" t="0"/>
          <a:stretch/>
        </p:blipFill>
        <p:spPr>
          <a:xfrm>
            <a:off x="7046082" y="4160100"/>
            <a:ext cx="2097917" cy="9834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6"/>
          <p:cNvSpPr/>
          <p:nvPr/>
        </p:nvSpPr>
        <p:spPr>
          <a:xfrm>
            <a:off x="6270654" y="0"/>
            <a:ext cx="2873346" cy="85589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sp>
      <p:sp>
        <p:nvSpPr>
          <p:cNvPr id="159" name="Google Shape;159;p6"/>
          <p:cNvSpPr txBox="1"/>
          <p:nvPr/>
        </p:nvSpPr>
        <p:spPr>
          <a:xfrm>
            <a:off x="1148020" y="1237395"/>
            <a:ext cx="6995700" cy="723300"/>
          </a:xfrm>
          <a:prstGeom prst="rect">
            <a:avLst/>
          </a:prstGeom>
          <a:noFill/>
          <a:ln>
            <a:noFill/>
          </a:ln>
        </p:spPr>
        <p:txBody>
          <a:bodyPr anchorCtr="0" anchor="t" bIns="0" lIns="0" spcFirstLastPara="1" rIns="0" wrap="square" tIns="0">
            <a:spAutoFit/>
          </a:bodyPr>
          <a:lstStyle/>
          <a:p>
            <a:pPr indent="0" lvl="0" marL="0" marR="0" rtl="0" algn="ctr">
              <a:lnSpc>
                <a:spcPct val="112987"/>
              </a:lnSpc>
              <a:spcBef>
                <a:spcPts val="0"/>
              </a:spcBef>
              <a:spcAft>
                <a:spcPts val="0"/>
              </a:spcAft>
              <a:buClr>
                <a:srgbClr val="000000"/>
              </a:buClr>
              <a:buSzPts val="3000"/>
              <a:buFont typeface="Arial"/>
              <a:buNone/>
            </a:pPr>
            <a:r>
              <a:rPr b="0" i="0" lang="es" sz="4700" u="none" cap="none" strike="noStrike">
                <a:solidFill>
                  <a:srgbClr val="131416"/>
                </a:solidFill>
                <a:latin typeface="Impact"/>
                <a:ea typeface="Impact"/>
                <a:cs typeface="Impact"/>
                <a:sym typeface="Impact"/>
              </a:rPr>
              <a:t>DUDAS PROYECTO 1 ?</a:t>
            </a:r>
            <a:endParaRPr b="0" i="0" sz="2400" u="none" cap="none" strike="noStrike">
              <a:solidFill>
                <a:srgbClr val="000000"/>
              </a:solidFill>
              <a:latin typeface="Impact"/>
              <a:ea typeface="Impact"/>
              <a:cs typeface="Impact"/>
              <a:sym typeface="Impact"/>
            </a:endParaRPr>
          </a:p>
        </p:txBody>
      </p:sp>
      <p:pic>
        <p:nvPicPr>
          <p:cNvPr id="160" name="Google Shape;160;p6"/>
          <p:cNvPicPr preferRelativeResize="0"/>
          <p:nvPr/>
        </p:nvPicPr>
        <p:blipFill rotWithShape="1">
          <a:blip r:embed="rId4">
            <a:alphaModFix/>
          </a:blip>
          <a:srcRect b="0" l="0" r="0" t="0"/>
          <a:stretch/>
        </p:blipFill>
        <p:spPr>
          <a:xfrm>
            <a:off x="3405051" y="2021574"/>
            <a:ext cx="2481650" cy="24816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7"/>
          <p:cNvSpPr/>
          <p:nvPr/>
        </p:nvSpPr>
        <p:spPr>
          <a:xfrm>
            <a:off x="6270654" y="0"/>
            <a:ext cx="2873346" cy="85589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sp>
      <p:pic>
        <p:nvPicPr>
          <p:cNvPr id="166" name="Google Shape;166;p7"/>
          <p:cNvPicPr preferRelativeResize="0"/>
          <p:nvPr/>
        </p:nvPicPr>
        <p:blipFill rotWithShape="1">
          <a:blip r:embed="rId4">
            <a:alphaModFix/>
          </a:blip>
          <a:srcRect b="0" l="0" r="0" t="0"/>
          <a:stretch/>
        </p:blipFill>
        <p:spPr>
          <a:xfrm>
            <a:off x="2148275" y="905277"/>
            <a:ext cx="4847450" cy="37383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8"/>
          <p:cNvSpPr/>
          <p:nvPr/>
        </p:nvSpPr>
        <p:spPr>
          <a:xfrm>
            <a:off x="6270654" y="0"/>
            <a:ext cx="2873346" cy="85589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sp>
      <p:sp>
        <p:nvSpPr>
          <p:cNvPr id="172" name="Google Shape;172;p8"/>
          <p:cNvSpPr txBox="1"/>
          <p:nvPr/>
        </p:nvSpPr>
        <p:spPr>
          <a:xfrm>
            <a:off x="550723" y="538425"/>
            <a:ext cx="5038500" cy="538800"/>
          </a:xfrm>
          <a:prstGeom prst="rect">
            <a:avLst/>
          </a:prstGeom>
          <a:noFill/>
          <a:ln>
            <a:noFill/>
          </a:ln>
        </p:spPr>
        <p:txBody>
          <a:bodyPr anchorCtr="0" anchor="t" bIns="0" lIns="0" spcFirstLastPara="1" rIns="0" wrap="square" tIns="0">
            <a:spAutoFit/>
          </a:bodyPr>
          <a:lstStyle/>
          <a:p>
            <a:pPr indent="0" lvl="0" marL="0" marR="0" rtl="0" algn="l">
              <a:lnSpc>
                <a:spcPct val="112987"/>
              </a:lnSpc>
              <a:spcBef>
                <a:spcPts val="0"/>
              </a:spcBef>
              <a:spcAft>
                <a:spcPts val="0"/>
              </a:spcAft>
              <a:buClr>
                <a:srgbClr val="000000"/>
              </a:buClr>
              <a:buSzPts val="3000"/>
              <a:buFont typeface="Arial"/>
              <a:buNone/>
            </a:pPr>
            <a:r>
              <a:rPr b="0" i="0" lang="es" sz="3500" u="none" cap="none" strike="noStrike">
                <a:solidFill>
                  <a:srgbClr val="131416"/>
                </a:solidFill>
                <a:latin typeface="Impact"/>
                <a:ea typeface="Impact"/>
                <a:cs typeface="Impact"/>
                <a:sym typeface="Impact"/>
              </a:rPr>
              <a:t>Que es un AFN</a:t>
            </a:r>
            <a:endParaRPr b="0" i="0" sz="1200" u="none" cap="none" strike="noStrike">
              <a:solidFill>
                <a:srgbClr val="000000"/>
              </a:solidFill>
              <a:latin typeface="Impact"/>
              <a:ea typeface="Impact"/>
              <a:cs typeface="Impact"/>
              <a:sym typeface="Impact"/>
            </a:endParaRPr>
          </a:p>
        </p:txBody>
      </p:sp>
      <p:sp>
        <p:nvSpPr>
          <p:cNvPr id="173" name="Google Shape;173;p8"/>
          <p:cNvSpPr txBox="1"/>
          <p:nvPr/>
        </p:nvSpPr>
        <p:spPr>
          <a:xfrm>
            <a:off x="550725" y="1251126"/>
            <a:ext cx="8324100" cy="1847100"/>
          </a:xfrm>
          <a:prstGeom prst="rect">
            <a:avLst/>
          </a:prstGeom>
          <a:noFill/>
          <a:ln>
            <a:noFill/>
          </a:ln>
        </p:spPr>
        <p:txBody>
          <a:bodyPr anchorCtr="0" anchor="t" bIns="91425" lIns="91425" spcFirstLastPara="1" rIns="91425" wrap="square" tIns="91425">
            <a:spAutoFit/>
          </a:bodyPr>
          <a:lstStyle/>
          <a:p>
            <a:pPr indent="457200" lvl="0" marL="0" marR="0" rtl="0" algn="just">
              <a:lnSpc>
                <a:spcPct val="100000"/>
              </a:lnSpc>
              <a:spcBef>
                <a:spcPts val="0"/>
              </a:spcBef>
              <a:spcAft>
                <a:spcPts val="0"/>
              </a:spcAft>
              <a:buClr>
                <a:srgbClr val="000000"/>
              </a:buClr>
              <a:buSzPts val="1350"/>
              <a:buFont typeface="Arial"/>
              <a:buNone/>
            </a:pPr>
            <a:r>
              <a:rPr b="0" i="0" lang="es" sz="1350" u="none" cap="none" strike="noStrike">
                <a:solidFill>
                  <a:schemeClr val="dk1"/>
                </a:solidFill>
                <a:highlight>
                  <a:schemeClr val="lt1"/>
                </a:highlight>
                <a:latin typeface="Montserrat"/>
                <a:ea typeface="Montserrat"/>
                <a:cs typeface="Montserrat"/>
                <a:sym typeface="Montserrat"/>
              </a:rPr>
              <a:t>Un </a:t>
            </a:r>
            <a:r>
              <a:rPr b="0" i="0" lang="es" sz="1350" u="none" cap="none" strike="noStrike">
                <a:solidFill>
                  <a:schemeClr val="dk1"/>
                </a:solidFill>
                <a:highlight>
                  <a:schemeClr val="lt1"/>
                </a:highlight>
                <a:uFill>
                  <a:noFill/>
                </a:uFill>
                <a:latin typeface="Montserrat"/>
                <a:ea typeface="Montserrat"/>
                <a:cs typeface="Montserrat"/>
                <a:sym typeface="Montserrat"/>
                <a:hlinkClick r:id="rId4">
                  <a:extLst>
                    <a:ext uri="{A12FA001-AC4F-418D-AE19-62706E023703}">
                      <ahyp:hlinkClr val="tx"/>
                    </a:ext>
                  </a:extLst>
                </a:hlinkClick>
              </a:rPr>
              <a:t>autómata finito no determinista</a:t>
            </a:r>
            <a:r>
              <a:rPr b="0" i="0" lang="es" sz="1350" u="none" cap="none" strike="noStrike">
                <a:solidFill>
                  <a:schemeClr val="dk1"/>
                </a:solidFill>
                <a:highlight>
                  <a:schemeClr val="lt1"/>
                </a:highlight>
                <a:latin typeface="Montserrat"/>
                <a:ea typeface="Montserrat"/>
                <a:cs typeface="Montserrat"/>
                <a:sym typeface="Montserrat"/>
              </a:rPr>
              <a:t> (AFND) es un modelo de autómata finito que, a diferencia de un AFD, permite múltiples transiciones o ninguna transición desde un estado para un símbolo de entrada, o la posibilidad de transiciones "en vacío" (transiciones epsilon). </a:t>
            </a:r>
            <a:endParaRPr b="0" i="0" sz="1350" u="none" cap="none" strike="noStrike">
              <a:solidFill>
                <a:schemeClr val="dk1"/>
              </a:solidFill>
              <a:highlight>
                <a:schemeClr val="lt1"/>
              </a:highlight>
              <a:latin typeface="Montserrat"/>
              <a:ea typeface="Montserrat"/>
              <a:cs typeface="Montserrat"/>
              <a:sym typeface="Montserrat"/>
            </a:endParaRPr>
          </a:p>
          <a:p>
            <a:pPr indent="457200" lvl="0" marL="0" marR="0" rtl="0" algn="just">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highlight>
                <a:schemeClr val="lt1"/>
              </a:highlight>
              <a:latin typeface="Montserrat"/>
              <a:ea typeface="Montserrat"/>
              <a:cs typeface="Montserrat"/>
              <a:sym typeface="Montserrat"/>
            </a:endParaRPr>
          </a:p>
          <a:p>
            <a:pPr indent="457200" lvl="0" marL="0" marR="0" rtl="0" algn="just">
              <a:lnSpc>
                <a:spcPct val="100000"/>
              </a:lnSpc>
              <a:spcBef>
                <a:spcPts val="0"/>
              </a:spcBef>
              <a:spcAft>
                <a:spcPts val="0"/>
              </a:spcAft>
              <a:buClr>
                <a:srgbClr val="000000"/>
              </a:buClr>
              <a:buSzPts val="1350"/>
              <a:buFont typeface="Arial"/>
              <a:buNone/>
            </a:pPr>
            <a:r>
              <a:rPr b="0" i="0" lang="es" sz="1350" u="none" cap="none" strike="noStrike">
                <a:solidFill>
                  <a:schemeClr val="dk1"/>
                </a:solidFill>
                <a:highlight>
                  <a:schemeClr val="lt1"/>
                </a:highlight>
                <a:latin typeface="Montserrat"/>
                <a:ea typeface="Montserrat"/>
                <a:cs typeface="Montserrat"/>
                <a:sym typeface="Montserrat"/>
              </a:rPr>
              <a:t>Esto significa que, para un mismo estado y un símbolo de entrada, el autómata puede tener varias rutas posibles de procesamiento, simulando una suerte de cómputo paralelo. Aunque un AFND pueda "ramificarse", es importante destacar que todo AFND tiene un </a:t>
            </a:r>
            <a:r>
              <a:rPr b="0" i="0" lang="es" sz="1350" u="none" cap="none" strike="noStrike">
                <a:solidFill>
                  <a:schemeClr val="dk1"/>
                </a:solidFill>
                <a:highlight>
                  <a:schemeClr val="lt1"/>
                </a:highlight>
                <a:uFill>
                  <a:noFill/>
                </a:uFill>
                <a:latin typeface="Montserrat"/>
                <a:ea typeface="Montserrat"/>
                <a:cs typeface="Montserrat"/>
                <a:sym typeface="Montserrat"/>
                <a:hlinkClick r:id="rId5">
                  <a:extLst>
                    <a:ext uri="{A12FA001-AC4F-418D-AE19-62706E023703}">
                      <ahyp:hlinkClr val="tx"/>
                    </a:ext>
                  </a:extLst>
                </a:hlinkClick>
              </a:rPr>
              <a:t>AFD equivalente</a:t>
            </a:r>
            <a:r>
              <a:rPr b="0" i="0" lang="es" sz="1350" u="none" cap="none" strike="noStrike">
                <a:solidFill>
                  <a:schemeClr val="dk1"/>
                </a:solidFill>
                <a:highlight>
                  <a:schemeClr val="lt1"/>
                </a:highlight>
                <a:latin typeface="Montserrat"/>
                <a:ea typeface="Montserrat"/>
                <a:cs typeface="Montserrat"/>
                <a:sym typeface="Montserrat"/>
              </a:rPr>
              <a:t> y puede ser convertido en él. </a:t>
            </a:r>
            <a:endParaRPr b="0" i="0" sz="1400" u="none" cap="none" strike="noStrike">
              <a:solidFill>
                <a:schemeClr val="dk1"/>
              </a:solidFill>
              <a:highlight>
                <a:schemeClr val="lt1"/>
              </a:highlight>
              <a:latin typeface="Montserrat"/>
              <a:ea typeface="Montserrat"/>
              <a:cs typeface="Montserrat"/>
              <a:sym typeface="Montserrat"/>
            </a:endParaRPr>
          </a:p>
        </p:txBody>
      </p:sp>
      <p:pic>
        <p:nvPicPr>
          <p:cNvPr id="174" name="Google Shape;174;p8"/>
          <p:cNvPicPr preferRelativeResize="0"/>
          <p:nvPr/>
        </p:nvPicPr>
        <p:blipFill rotWithShape="1">
          <a:blip r:embed="rId6">
            <a:alphaModFix/>
          </a:blip>
          <a:srcRect b="0" l="0" r="0" t="0"/>
          <a:stretch/>
        </p:blipFill>
        <p:spPr>
          <a:xfrm>
            <a:off x="3083763" y="3214001"/>
            <a:ext cx="2976463" cy="174047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9"/>
          <p:cNvSpPr/>
          <p:nvPr/>
        </p:nvSpPr>
        <p:spPr>
          <a:xfrm>
            <a:off x="6270654" y="0"/>
            <a:ext cx="2873346" cy="85589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sp>
      <p:sp>
        <p:nvSpPr>
          <p:cNvPr id="180" name="Google Shape;180;p9"/>
          <p:cNvSpPr txBox="1"/>
          <p:nvPr/>
        </p:nvSpPr>
        <p:spPr>
          <a:xfrm>
            <a:off x="523273" y="855900"/>
            <a:ext cx="5038500" cy="538800"/>
          </a:xfrm>
          <a:prstGeom prst="rect">
            <a:avLst/>
          </a:prstGeom>
          <a:noFill/>
          <a:ln>
            <a:noFill/>
          </a:ln>
        </p:spPr>
        <p:txBody>
          <a:bodyPr anchorCtr="0" anchor="t" bIns="0" lIns="0" spcFirstLastPara="1" rIns="0" wrap="square" tIns="0">
            <a:spAutoFit/>
          </a:bodyPr>
          <a:lstStyle/>
          <a:p>
            <a:pPr indent="0" lvl="0" marL="0" marR="0" rtl="0" algn="ctr">
              <a:lnSpc>
                <a:spcPct val="112987"/>
              </a:lnSpc>
              <a:spcBef>
                <a:spcPts val="0"/>
              </a:spcBef>
              <a:spcAft>
                <a:spcPts val="0"/>
              </a:spcAft>
              <a:buClr>
                <a:srgbClr val="000000"/>
              </a:buClr>
              <a:buSzPts val="3000"/>
              <a:buFont typeface="Arial"/>
              <a:buNone/>
            </a:pPr>
            <a:r>
              <a:rPr b="0" i="0" lang="es" sz="3500" u="none" cap="none" strike="noStrike">
                <a:solidFill>
                  <a:srgbClr val="131416"/>
                </a:solidFill>
                <a:latin typeface="Impact"/>
                <a:ea typeface="Impact"/>
                <a:cs typeface="Impact"/>
                <a:sym typeface="Impact"/>
              </a:rPr>
              <a:t>Estructura de un AFN</a:t>
            </a:r>
            <a:endParaRPr b="0" i="0" sz="1200" u="none" cap="none" strike="noStrike">
              <a:solidFill>
                <a:srgbClr val="000000"/>
              </a:solidFill>
              <a:latin typeface="Impact"/>
              <a:ea typeface="Impact"/>
              <a:cs typeface="Impact"/>
              <a:sym typeface="Impact"/>
            </a:endParaRPr>
          </a:p>
        </p:txBody>
      </p:sp>
      <p:sp>
        <p:nvSpPr>
          <p:cNvPr id="181" name="Google Shape;181;p9"/>
          <p:cNvSpPr txBox="1"/>
          <p:nvPr/>
        </p:nvSpPr>
        <p:spPr>
          <a:xfrm>
            <a:off x="799725" y="1607263"/>
            <a:ext cx="7965600" cy="2680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1500"/>
              </a:spcBef>
              <a:spcAft>
                <a:spcPts val="0"/>
              </a:spcAft>
              <a:buClr>
                <a:srgbClr val="000000"/>
              </a:buClr>
              <a:buSzPts val="1350"/>
              <a:buFont typeface="Arial"/>
              <a:buNone/>
            </a:pPr>
            <a:r>
              <a:rPr b="0" i="0" lang="es" sz="1350" u="none" cap="none" strike="noStrike">
                <a:solidFill>
                  <a:schemeClr val="dk1"/>
                </a:solidFill>
                <a:highlight>
                  <a:schemeClr val="lt1"/>
                </a:highlight>
                <a:latin typeface="Montserrat"/>
                <a:ea typeface="Montserrat"/>
                <a:cs typeface="Montserrat"/>
                <a:sym typeface="Montserrat"/>
              </a:rPr>
              <a:t>Elementos estructurales:</a:t>
            </a:r>
            <a:endParaRPr b="0" i="0" sz="1350" u="none" cap="none" strike="noStrike">
              <a:solidFill>
                <a:schemeClr val="dk1"/>
              </a:solidFill>
              <a:highlight>
                <a:schemeClr val="lt1"/>
              </a:highlight>
              <a:latin typeface="Montserrat"/>
              <a:ea typeface="Montserrat"/>
              <a:cs typeface="Montserrat"/>
              <a:sym typeface="Montserrat"/>
            </a:endParaRPr>
          </a:p>
          <a:p>
            <a:pPr indent="0" lvl="0" marL="457200" marR="0" rtl="0" algn="l">
              <a:lnSpc>
                <a:spcPct val="100000"/>
              </a:lnSpc>
              <a:spcBef>
                <a:spcPts val="800"/>
              </a:spcBef>
              <a:spcAft>
                <a:spcPts val="0"/>
              </a:spcAft>
              <a:buClr>
                <a:srgbClr val="000000"/>
              </a:buClr>
              <a:buSzPts val="1200"/>
              <a:buFont typeface="Arial"/>
              <a:buNone/>
            </a:pPr>
            <a:r>
              <a:rPr b="1" i="0" lang="es" sz="1200" u="none" cap="none" strike="noStrike">
                <a:solidFill>
                  <a:schemeClr val="dk1"/>
                </a:solidFill>
                <a:highlight>
                  <a:schemeClr val="lt1"/>
                </a:highlight>
                <a:latin typeface="Montserrat"/>
                <a:ea typeface="Montserrat"/>
                <a:cs typeface="Montserrat"/>
                <a:sym typeface="Montserrat"/>
              </a:rPr>
              <a:t>Q:</a:t>
            </a:r>
            <a:r>
              <a:rPr b="0" i="0" lang="es" sz="1200" u="none" cap="none" strike="noStrike">
                <a:solidFill>
                  <a:schemeClr val="dk1"/>
                </a:solidFill>
                <a:highlight>
                  <a:schemeClr val="lt1"/>
                </a:highlight>
                <a:latin typeface="Montserrat"/>
                <a:ea typeface="Montserrat"/>
                <a:cs typeface="Montserrat"/>
                <a:sym typeface="Montserrat"/>
              </a:rPr>
              <a:t> El conjunto finito de estados del autómata. </a:t>
            </a:r>
            <a:endParaRPr b="0" i="0" sz="1200" u="none" cap="none" strike="noStrike">
              <a:solidFill>
                <a:schemeClr val="dk1"/>
              </a:solidFill>
              <a:highlight>
                <a:schemeClr val="lt1"/>
              </a:highlight>
              <a:latin typeface="Montserrat"/>
              <a:ea typeface="Montserrat"/>
              <a:cs typeface="Montserrat"/>
              <a:sym typeface="Montserrat"/>
            </a:endParaRPr>
          </a:p>
          <a:p>
            <a:pPr indent="0" lvl="0" marL="457200" marR="0" rtl="0" algn="l">
              <a:lnSpc>
                <a:spcPct val="100000"/>
              </a:lnSpc>
              <a:spcBef>
                <a:spcPts val="2100"/>
              </a:spcBef>
              <a:spcAft>
                <a:spcPts val="0"/>
              </a:spcAft>
              <a:buClr>
                <a:srgbClr val="000000"/>
              </a:buClr>
              <a:buSzPts val="1200"/>
              <a:buFont typeface="Arial"/>
              <a:buNone/>
            </a:pPr>
            <a:r>
              <a:rPr b="1" i="0" lang="es" sz="1200" u="none" cap="none" strike="noStrike">
                <a:solidFill>
                  <a:schemeClr val="dk1"/>
                </a:solidFill>
                <a:highlight>
                  <a:schemeClr val="lt1"/>
                </a:highlight>
                <a:latin typeface="Montserrat"/>
                <a:ea typeface="Montserrat"/>
                <a:cs typeface="Montserrat"/>
                <a:sym typeface="Montserrat"/>
              </a:rPr>
              <a:t>Σ:</a:t>
            </a:r>
            <a:r>
              <a:rPr b="0" i="0" lang="es" sz="1200" u="none" cap="none" strike="noStrike">
                <a:solidFill>
                  <a:schemeClr val="dk1"/>
                </a:solidFill>
                <a:highlight>
                  <a:schemeClr val="lt1"/>
                </a:highlight>
                <a:latin typeface="Montserrat"/>
                <a:ea typeface="Montserrat"/>
                <a:cs typeface="Montserrat"/>
                <a:sym typeface="Montserrat"/>
              </a:rPr>
              <a:t> El alfabeto finito de símbolos de entrada. </a:t>
            </a:r>
            <a:endParaRPr b="0" i="0" sz="1200" u="none" cap="none" strike="noStrike">
              <a:solidFill>
                <a:schemeClr val="dk1"/>
              </a:solidFill>
              <a:highlight>
                <a:schemeClr val="lt1"/>
              </a:highlight>
              <a:latin typeface="Montserrat"/>
              <a:ea typeface="Montserrat"/>
              <a:cs typeface="Montserrat"/>
              <a:sym typeface="Montserrat"/>
            </a:endParaRPr>
          </a:p>
          <a:p>
            <a:pPr indent="0" lvl="0" marL="457200" marR="0" rtl="0" algn="l">
              <a:lnSpc>
                <a:spcPct val="100000"/>
              </a:lnSpc>
              <a:spcBef>
                <a:spcPts val="2100"/>
              </a:spcBef>
              <a:spcAft>
                <a:spcPts val="0"/>
              </a:spcAft>
              <a:buClr>
                <a:srgbClr val="000000"/>
              </a:buClr>
              <a:buSzPts val="1200"/>
              <a:buFont typeface="Arial"/>
              <a:buNone/>
            </a:pPr>
            <a:r>
              <a:rPr b="1" i="0" lang="es" sz="1200" u="none" cap="none" strike="noStrike">
                <a:solidFill>
                  <a:schemeClr val="dk1"/>
                </a:solidFill>
                <a:highlight>
                  <a:schemeClr val="lt1"/>
                </a:highlight>
                <a:latin typeface="Montserrat"/>
                <a:ea typeface="Montserrat"/>
                <a:cs typeface="Montserrat"/>
                <a:sym typeface="Montserrat"/>
              </a:rPr>
              <a:t>δ:</a:t>
            </a:r>
            <a:r>
              <a:rPr b="0" i="0" lang="es" sz="1200" u="none" cap="none" strike="noStrike">
                <a:solidFill>
                  <a:schemeClr val="dk1"/>
                </a:solidFill>
                <a:highlight>
                  <a:schemeClr val="lt1"/>
                </a:highlight>
                <a:latin typeface="Montserrat"/>
                <a:ea typeface="Montserrat"/>
                <a:cs typeface="Montserrat"/>
                <a:sym typeface="Montserrat"/>
              </a:rPr>
              <a:t> La función de transición, que toma un estado y un símbolo de entrada (o ε) y devuelve un conjunto de estados posibles a los que se puede llegar. </a:t>
            </a:r>
            <a:endParaRPr b="0" i="0" sz="1200" u="none" cap="none" strike="noStrike">
              <a:solidFill>
                <a:schemeClr val="dk1"/>
              </a:solidFill>
              <a:highlight>
                <a:schemeClr val="lt1"/>
              </a:highlight>
              <a:latin typeface="Montserrat"/>
              <a:ea typeface="Montserrat"/>
              <a:cs typeface="Montserrat"/>
              <a:sym typeface="Montserrat"/>
            </a:endParaRPr>
          </a:p>
          <a:p>
            <a:pPr indent="0" lvl="0" marL="457200" marR="0" rtl="0" algn="l">
              <a:lnSpc>
                <a:spcPct val="100000"/>
              </a:lnSpc>
              <a:spcBef>
                <a:spcPts val="2100"/>
              </a:spcBef>
              <a:spcAft>
                <a:spcPts val="0"/>
              </a:spcAft>
              <a:buClr>
                <a:srgbClr val="000000"/>
              </a:buClr>
              <a:buSzPts val="1200"/>
              <a:buFont typeface="Arial"/>
              <a:buNone/>
            </a:pPr>
            <a:r>
              <a:rPr b="1" i="0" lang="es" sz="1200" u="none" cap="none" strike="noStrike">
                <a:solidFill>
                  <a:schemeClr val="dk1"/>
                </a:solidFill>
                <a:highlight>
                  <a:schemeClr val="lt1"/>
                </a:highlight>
                <a:latin typeface="Montserrat"/>
                <a:ea typeface="Montserrat"/>
                <a:cs typeface="Montserrat"/>
                <a:sym typeface="Montserrat"/>
              </a:rPr>
              <a:t>q₀:</a:t>
            </a:r>
            <a:r>
              <a:rPr b="0" i="0" lang="es" sz="1200" u="none" cap="none" strike="noStrike">
                <a:solidFill>
                  <a:schemeClr val="dk1"/>
                </a:solidFill>
                <a:highlight>
                  <a:schemeClr val="lt1"/>
                </a:highlight>
                <a:latin typeface="Montserrat"/>
                <a:ea typeface="Montserrat"/>
                <a:cs typeface="Montserrat"/>
                <a:sym typeface="Montserrat"/>
              </a:rPr>
              <a:t> El estado inicial del autómata, un único estado de Q. </a:t>
            </a:r>
            <a:endParaRPr b="0" i="0" sz="1200" u="none" cap="none" strike="noStrike">
              <a:solidFill>
                <a:schemeClr val="dk1"/>
              </a:solidFill>
              <a:highlight>
                <a:schemeClr val="lt1"/>
              </a:highlight>
              <a:latin typeface="Montserrat"/>
              <a:ea typeface="Montserrat"/>
              <a:cs typeface="Montserrat"/>
              <a:sym typeface="Montserrat"/>
            </a:endParaRPr>
          </a:p>
          <a:p>
            <a:pPr indent="0" lvl="0" marL="457200" marR="0" rtl="0" algn="l">
              <a:lnSpc>
                <a:spcPct val="100000"/>
              </a:lnSpc>
              <a:spcBef>
                <a:spcPts val="2100"/>
              </a:spcBef>
              <a:spcAft>
                <a:spcPts val="1500"/>
              </a:spcAft>
              <a:buClr>
                <a:srgbClr val="000000"/>
              </a:buClr>
              <a:buSzPts val="1200"/>
              <a:buFont typeface="Arial"/>
              <a:buNone/>
            </a:pPr>
            <a:r>
              <a:rPr b="1" i="0" lang="es" sz="1200" u="none" cap="none" strike="noStrike">
                <a:solidFill>
                  <a:schemeClr val="dk1"/>
                </a:solidFill>
                <a:highlight>
                  <a:schemeClr val="lt1"/>
                </a:highlight>
                <a:latin typeface="Montserrat"/>
                <a:ea typeface="Montserrat"/>
                <a:cs typeface="Montserrat"/>
                <a:sym typeface="Montserrat"/>
              </a:rPr>
              <a:t>F:</a:t>
            </a:r>
            <a:r>
              <a:rPr b="0" i="0" lang="es" sz="1200" u="none" cap="none" strike="noStrike">
                <a:solidFill>
                  <a:schemeClr val="dk1"/>
                </a:solidFill>
                <a:highlight>
                  <a:schemeClr val="lt1"/>
                </a:highlight>
                <a:latin typeface="Montserrat"/>
                <a:ea typeface="Montserrat"/>
                <a:cs typeface="Montserrat"/>
                <a:sym typeface="Montserrat"/>
              </a:rPr>
              <a:t> El conjunto de estados finales o de aceptación. </a:t>
            </a:r>
            <a:endParaRPr b="0" i="0" sz="1200" u="none" cap="none" strike="noStrike">
              <a:solidFill>
                <a:schemeClr val="dk1"/>
              </a:solidFill>
              <a:highlight>
                <a:schemeClr val="lt1"/>
              </a:highlight>
              <a:latin typeface="Montserrat"/>
              <a:ea typeface="Montserrat"/>
              <a:cs typeface="Montserrat"/>
              <a:sym typeface="Montserra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0"/>
          <p:cNvSpPr/>
          <p:nvPr/>
        </p:nvSpPr>
        <p:spPr>
          <a:xfrm>
            <a:off x="6270654" y="0"/>
            <a:ext cx="2873346" cy="85589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sp>
      <p:sp>
        <p:nvSpPr>
          <p:cNvPr id="187" name="Google Shape;187;p10"/>
          <p:cNvSpPr txBox="1"/>
          <p:nvPr/>
        </p:nvSpPr>
        <p:spPr>
          <a:xfrm>
            <a:off x="550723" y="538425"/>
            <a:ext cx="5038500" cy="538800"/>
          </a:xfrm>
          <a:prstGeom prst="rect">
            <a:avLst/>
          </a:prstGeom>
          <a:noFill/>
          <a:ln>
            <a:noFill/>
          </a:ln>
        </p:spPr>
        <p:txBody>
          <a:bodyPr anchorCtr="0" anchor="t" bIns="0" lIns="0" spcFirstLastPara="1" rIns="0" wrap="square" tIns="0">
            <a:spAutoFit/>
          </a:bodyPr>
          <a:lstStyle/>
          <a:p>
            <a:pPr indent="0" lvl="0" marL="0" marR="0" rtl="0" algn="l">
              <a:lnSpc>
                <a:spcPct val="112987"/>
              </a:lnSpc>
              <a:spcBef>
                <a:spcPts val="0"/>
              </a:spcBef>
              <a:spcAft>
                <a:spcPts val="0"/>
              </a:spcAft>
              <a:buClr>
                <a:srgbClr val="000000"/>
              </a:buClr>
              <a:buSzPts val="3000"/>
              <a:buFont typeface="Arial"/>
              <a:buNone/>
            </a:pPr>
            <a:r>
              <a:rPr b="0" i="0" lang="es" sz="3500" u="none" cap="none" strike="noStrike">
                <a:solidFill>
                  <a:srgbClr val="131416"/>
                </a:solidFill>
                <a:latin typeface="Impact"/>
                <a:ea typeface="Impact"/>
                <a:cs typeface="Impact"/>
                <a:sym typeface="Impact"/>
              </a:rPr>
              <a:t>Que es un AFD</a:t>
            </a:r>
            <a:endParaRPr b="0" i="0" sz="1200" u="none" cap="none" strike="noStrike">
              <a:solidFill>
                <a:srgbClr val="000000"/>
              </a:solidFill>
              <a:latin typeface="Impact"/>
              <a:ea typeface="Impact"/>
              <a:cs typeface="Impact"/>
              <a:sym typeface="Impact"/>
            </a:endParaRPr>
          </a:p>
        </p:txBody>
      </p:sp>
      <p:sp>
        <p:nvSpPr>
          <p:cNvPr id="188" name="Google Shape;188;p10"/>
          <p:cNvSpPr txBox="1"/>
          <p:nvPr/>
        </p:nvSpPr>
        <p:spPr>
          <a:xfrm>
            <a:off x="550725" y="1251126"/>
            <a:ext cx="8324100" cy="1847100"/>
          </a:xfrm>
          <a:prstGeom prst="rect">
            <a:avLst/>
          </a:prstGeom>
          <a:noFill/>
          <a:ln>
            <a:noFill/>
          </a:ln>
        </p:spPr>
        <p:txBody>
          <a:bodyPr anchorCtr="0" anchor="t" bIns="91425" lIns="91425" spcFirstLastPara="1" rIns="91425" wrap="square" tIns="91425">
            <a:spAutoFit/>
          </a:bodyPr>
          <a:lstStyle/>
          <a:p>
            <a:pPr indent="457200" lvl="0" marL="0" marR="0" rtl="0" algn="just">
              <a:lnSpc>
                <a:spcPct val="100000"/>
              </a:lnSpc>
              <a:spcBef>
                <a:spcPts val="0"/>
              </a:spcBef>
              <a:spcAft>
                <a:spcPts val="0"/>
              </a:spcAft>
              <a:buClr>
                <a:srgbClr val="000000"/>
              </a:buClr>
              <a:buSzPts val="1350"/>
              <a:buFont typeface="Arial"/>
              <a:buNone/>
            </a:pPr>
            <a:r>
              <a:rPr b="0" i="0" lang="es" sz="1350" u="none" cap="none" strike="noStrike">
                <a:solidFill>
                  <a:schemeClr val="dk1"/>
                </a:solidFill>
                <a:highlight>
                  <a:schemeClr val="lt1"/>
                </a:highlight>
                <a:latin typeface="Montserrat"/>
                <a:ea typeface="Montserrat"/>
                <a:cs typeface="Montserrat"/>
                <a:sym typeface="Montserrat"/>
              </a:rPr>
              <a:t>Un </a:t>
            </a:r>
            <a:r>
              <a:rPr b="0" i="0" lang="es" sz="1350" u="none" cap="none" strike="noStrike">
                <a:solidFill>
                  <a:schemeClr val="dk1"/>
                </a:solidFill>
                <a:highlight>
                  <a:schemeClr val="lt1"/>
                </a:highlight>
                <a:uFill>
                  <a:noFill/>
                </a:uFill>
                <a:latin typeface="Montserrat"/>
                <a:ea typeface="Montserrat"/>
                <a:cs typeface="Montserrat"/>
                <a:sym typeface="Montserrat"/>
                <a:hlinkClick r:id="rId4">
                  <a:extLst>
                    <a:ext uri="{A12FA001-AC4F-418D-AE19-62706E023703}">
                      <ahyp:hlinkClr val="tx"/>
                    </a:ext>
                  </a:extLst>
                </a:hlinkClick>
              </a:rPr>
              <a:t>autómata finito no determinista</a:t>
            </a:r>
            <a:r>
              <a:rPr b="0" i="0" lang="es" sz="1350" u="none" cap="none" strike="noStrike">
                <a:solidFill>
                  <a:schemeClr val="dk1"/>
                </a:solidFill>
                <a:highlight>
                  <a:schemeClr val="lt1"/>
                </a:highlight>
                <a:latin typeface="Montserrat"/>
                <a:ea typeface="Montserrat"/>
                <a:cs typeface="Montserrat"/>
                <a:sym typeface="Montserrat"/>
              </a:rPr>
              <a:t> (AFND) es un modelo de autómata finito que, a diferencia de un AFD, permite múltiples transiciones o ninguna transición desde un estado para un símbolo de entrada, o la posibilidad de transiciones "en vacío" (transiciones epsilon). </a:t>
            </a:r>
            <a:endParaRPr b="0" i="0" sz="1350" u="none" cap="none" strike="noStrike">
              <a:solidFill>
                <a:schemeClr val="dk1"/>
              </a:solidFill>
              <a:highlight>
                <a:schemeClr val="lt1"/>
              </a:highlight>
              <a:latin typeface="Montserrat"/>
              <a:ea typeface="Montserrat"/>
              <a:cs typeface="Montserrat"/>
              <a:sym typeface="Montserrat"/>
            </a:endParaRPr>
          </a:p>
          <a:p>
            <a:pPr indent="457200" lvl="0" marL="0" marR="0" rtl="0" algn="just">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highlight>
                <a:schemeClr val="lt1"/>
              </a:highlight>
              <a:latin typeface="Montserrat"/>
              <a:ea typeface="Montserrat"/>
              <a:cs typeface="Montserrat"/>
              <a:sym typeface="Montserrat"/>
            </a:endParaRPr>
          </a:p>
          <a:p>
            <a:pPr indent="457200" lvl="0" marL="0" marR="0" rtl="0" algn="just">
              <a:lnSpc>
                <a:spcPct val="100000"/>
              </a:lnSpc>
              <a:spcBef>
                <a:spcPts val="0"/>
              </a:spcBef>
              <a:spcAft>
                <a:spcPts val="0"/>
              </a:spcAft>
              <a:buClr>
                <a:srgbClr val="000000"/>
              </a:buClr>
              <a:buSzPts val="1350"/>
              <a:buFont typeface="Arial"/>
              <a:buNone/>
            </a:pPr>
            <a:r>
              <a:rPr b="0" i="0" lang="es" sz="1350" u="none" cap="none" strike="noStrike">
                <a:solidFill>
                  <a:schemeClr val="dk1"/>
                </a:solidFill>
                <a:highlight>
                  <a:schemeClr val="lt1"/>
                </a:highlight>
                <a:latin typeface="Montserrat"/>
                <a:ea typeface="Montserrat"/>
                <a:cs typeface="Montserrat"/>
                <a:sym typeface="Montserrat"/>
              </a:rPr>
              <a:t>Esto significa que, para un mismo estado y un símbolo de entrada, el autómata puede tener varias rutas posibles de procesamiento, simulando una suerte de cómputo paralelo. Aunque un AFND pueda "ramificarse", es importante destacar que todo AFND tiene un </a:t>
            </a:r>
            <a:r>
              <a:rPr b="0" i="0" lang="es" sz="1350" u="none" cap="none" strike="noStrike">
                <a:solidFill>
                  <a:schemeClr val="dk1"/>
                </a:solidFill>
                <a:highlight>
                  <a:schemeClr val="lt1"/>
                </a:highlight>
                <a:uFill>
                  <a:noFill/>
                </a:uFill>
                <a:latin typeface="Montserrat"/>
                <a:ea typeface="Montserrat"/>
                <a:cs typeface="Montserrat"/>
                <a:sym typeface="Montserrat"/>
                <a:hlinkClick r:id="rId5">
                  <a:extLst>
                    <a:ext uri="{A12FA001-AC4F-418D-AE19-62706E023703}">
                      <ahyp:hlinkClr val="tx"/>
                    </a:ext>
                  </a:extLst>
                </a:hlinkClick>
              </a:rPr>
              <a:t>AFD equivalente</a:t>
            </a:r>
            <a:r>
              <a:rPr b="0" i="0" lang="es" sz="1350" u="none" cap="none" strike="noStrike">
                <a:solidFill>
                  <a:schemeClr val="dk1"/>
                </a:solidFill>
                <a:highlight>
                  <a:schemeClr val="lt1"/>
                </a:highlight>
                <a:latin typeface="Montserrat"/>
                <a:ea typeface="Montserrat"/>
                <a:cs typeface="Montserrat"/>
                <a:sym typeface="Montserrat"/>
              </a:rPr>
              <a:t> y puede ser convertido en él. </a:t>
            </a:r>
            <a:endParaRPr b="0" i="0" sz="1400" u="none" cap="none" strike="noStrike">
              <a:solidFill>
                <a:schemeClr val="dk1"/>
              </a:solidFill>
              <a:highlight>
                <a:schemeClr val="lt1"/>
              </a:highlight>
              <a:latin typeface="Montserrat"/>
              <a:ea typeface="Montserrat"/>
              <a:cs typeface="Montserrat"/>
              <a:sym typeface="Montserrat"/>
            </a:endParaRPr>
          </a:p>
        </p:txBody>
      </p:sp>
      <p:pic>
        <p:nvPicPr>
          <p:cNvPr id="189" name="Google Shape;189;p10"/>
          <p:cNvPicPr preferRelativeResize="0"/>
          <p:nvPr/>
        </p:nvPicPr>
        <p:blipFill rotWithShape="1">
          <a:blip r:embed="rId6">
            <a:alphaModFix/>
          </a:blip>
          <a:srcRect b="0" l="0" r="0" t="0"/>
          <a:stretch/>
        </p:blipFill>
        <p:spPr>
          <a:xfrm>
            <a:off x="3083763" y="3214001"/>
            <a:ext cx="2976463" cy="174047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1"/>
          <p:cNvSpPr/>
          <p:nvPr/>
        </p:nvSpPr>
        <p:spPr>
          <a:xfrm>
            <a:off x="6270654" y="0"/>
            <a:ext cx="2873346" cy="85589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sp>
      <p:sp>
        <p:nvSpPr>
          <p:cNvPr id="195" name="Google Shape;195;p11"/>
          <p:cNvSpPr txBox="1"/>
          <p:nvPr/>
        </p:nvSpPr>
        <p:spPr>
          <a:xfrm>
            <a:off x="541598" y="544725"/>
            <a:ext cx="5038500" cy="538800"/>
          </a:xfrm>
          <a:prstGeom prst="rect">
            <a:avLst/>
          </a:prstGeom>
          <a:noFill/>
          <a:ln>
            <a:noFill/>
          </a:ln>
        </p:spPr>
        <p:txBody>
          <a:bodyPr anchorCtr="0" anchor="t" bIns="0" lIns="0" spcFirstLastPara="1" rIns="0" wrap="square" tIns="0">
            <a:spAutoFit/>
          </a:bodyPr>
          <a:lstStyle/>
          <a:p>
            <a:pPr indent="0" lvl="0" marL="0" marR="0" rtl="0" algn="ctr">
              <a:lnSpc>
                <a:spcPct val="112987"/>
              </a:lnSpc>
              <a:spcBef>
                <a:spcPts val="0"/>
              </a:spcBef>
              <a:spcAft>
                <a:spcPts val="0"/>
              </a:spcAft>
              <a:buClr>
                <a:srgbClr val="000000"/>
              </a:buClr>
              <a:buSzPts val="3000"/>
              <a:buFont typeface="Arial"/>
              <a:buNone/>
            </a:pPr>
            <a:r>
              <a:rPr b="0" i="0" lang="es" sz="3500" u="none" cap="none" strike="noStrike">
                <a:solidFill>
                  <a:srgbClr val="131416"/>
                </a:solidFill>
                <a:latin typeface="Impact"/>
                <a:ea typeface="Impact"/>
                <a:cs typeface="Impact"/>
                <a:sym typeface="Impact"/>
              </a:rPr>
              <a:t>Ejemplo de un AFD</a:t>
            </a:r>
            <a:endParaRPr b="0" i="0" sz="1200" u="none" cap="none" strike="noStrike">
              <a:solidFill>
                <a:srgbClr val="000000"/>
              </a:solidFill>
              <a:latin typeface="Impact"/>
              <a:ea typeface="Impact"/>
              <a:cs typeface="Impact"/>
              <a:sym typeface="Impact"/>
            </a:endParaRPr>
          </a:p>
        </p:txBody>
      </p:sp>
      <p:sp>
        <p:nvSpPr>
          <p:cNvPr id="196" name="Google Shape;196;p11"/>
          <p:cNvSpPr txBox="1"/>
          <p:nvPr/>
        </p:nvSpPr>
        <p:spPr>
          <a:xfrm>
            <a:off x="671575" y="1186375"/>
            <a:ext cx="4368900" cy="3554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chemeClr val="dk1"/>
                </a:solidFill>
                <a:latin typeface="Montserrat"/>
                <a:ea typeface="Montserrat"/>
                <a:cs typeface="Montserrat"/>
                <a:sym typeface="Montserrat"/>
              </a:rPr>
              <a:t>Q = {q₀, q₁, q₂}</a:t>
            </a:r>
            <a:endParaRPr b="0" i="0" sz="400" u="none" cap="none" strike="noStrike">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chemeClr val="dk1"/>
                </a:solidFill>
                <a:latin typeface="Montserrat"/>
                <a:ea typeface="Montserrat"/>
                <a:cs typeface="Montserrat"/>
                <a:sym typeface="Montserrat"/>
              </a:rPr>
              <a:t>Σ = {0, 1}</a:t>
            </a:r>
            <a:endParaRPr b="0" i="0" sz="1400" u="none" cap="none" strike="noStrike">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chemeClr val="dk1"/>
                </a:solidFill>
                <a:latin typeface="Montserrat"/>
                <a:ea typeface="Montserrat"/>
                <a:cs typeface="Montserrat"/>
                <a:sym typeface="Montserrat"/>
              </a:rPr>
              <a:t>Transiciones:</a:t>
            </a:r>
            <a:endParaRPr b="0" i="0" sz="1400" u="none" cap="none" strike="noStrike">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chemeClr val="dk1"/>
                </a:solidFill>
                <a:latin typeface="Montserrat"/>
                <a:ea typeface="Montserrat"/>
                <a:cs typeface="Montserrat"/>
                <a:sym typeface="Montserrat"/>
              </a:rPr>
              <a:t>δ:</a:t>
            </a:r>
            <a:endParaRPr b="0" i="0" sz="400" u="none" cap="none" strike="noStrike">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chemeClr val="dk1"/>
                </a:solidFill>
                <a:latin typeface="Montserrat"/>
                <a:ea typeface="Montserrat"/>
                <a:cs typeface="Montserrat"/>
                <a:sym typeface="Montserrat"/>
              </a:rPr>
              <a:t>- δ(q₀, 0) = q₁</a:t>
            </a:r>
            <a:endParaRPr b="0" i="0" sz="400" u="none" cap="none" strike="noStrike">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chemeClr val="dk1"/>
                </a:solidFill>
                <a:latin typeface="Montserrat"/>
                <a:ea typeface="Montserrat"/>
                <a:cs typeface="Montserrat"/>
                <a:sym typeface="Montserrat"/>
              </a:rPr>
              <a:t>- δ(q₀, 1) = q₀</a:t>
            </a:r>
            <a:endParaRPr b="0" i="0" sz="400" u="none" cap="none" strike="noStrike">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chemeClr val="dk1"/>
                </a:solidFill>
                <a:latin typeface="Montserrat"/>
                <a:ea typeface="Montserrat"/>
                <a:cs typeface="Montserrat"/>
                <a:sym typeface="Montserrat"/>
              </a:rPr>
              <a:t>- δ(q₁, 0) = q₁</a:t>
            </a:r>
            <a:endParaRPr b="0" i="0" sz="400" u="none" cap="none" strike="noStrike">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chemeClr val="dk1"/>
                </a:solidFill>
                <a:latin typeface="Montserrat"/>
                <a:ea typeface="Montserrat"/>
                <a:cs typeface="Montserrat"/>
                <a:sym typeface="Montserrat"/>
              </a:rPr>
              <a:t>- δ(q₁, 1) = q₂</a:t>
            </a:r>
            <a:endParaRPr b="0" i="0" sz="400" u="none" cap="none" strike="noStrike">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chemeClr val="dk1"/>
                </a:solidFill>
                <a:latin typeface="Montserrat"/>
                <a:ea typeface="Montserrat"/>
                <a:cs typeface="Montserrat"/>
                <a:sym typeface="Montserrat"/>
              </a:rPr>
              <a:t>- δ(q₂, 0) = q₁</a:t>
            </a:r>
            <a:endParaRPr b="0" i="0" sz="400" u="none" cap="none" strike="noStrike">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2400"/>
              <a:buFont typeface="Arial"/>
              <a:buNone/>
            </a:pPr>
            <a:r>
              <a:rPr b="0" i="0" lang="es" sz="1400" u="none" cap="none" strike="noStrike">
                <a:solidFill>
                  <a:schemeClr val="dk1"/>
                </a:solidFill>
                <a:latin typeface="Montserrat"/>
                <a:ea typeface="Montserrat"/>
                <a:cs typeface="Montserrat"/>
                <a:sym typeface="Montserrat"/>
              </a:rPr>
              <a:t>- δ(q₂, 1) = q₀</a:t>
            </a:r>
            <a:endParaRPr b="0" i="0" sz="400" u="none" cap="none" strike="noStrike">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chemeClr val="dk1"/>
                </a:solidFill>
                <a:latin typeface="Montserrat"/>
                <a:ea typeface="Montserrat"/>
                <a:cs typeface="Montserrat"/>
                <a:sym typeface="Montserrat"/>
              </a:rPr>
              <a:t>q₀: estado inicial  </a:t>
            </a:r>
            <a:endParaRPr b="0" i="0" sz="400" u="none" cap="none" strike="noStrike">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chemeClr val="dk1"/>
                </a:solidFill>
                <a:latin typeface="Montserrat"/>
                <a:ea typeface="Montserrat"/>
                <a:cs typeface="Montserrat"/>
                <a:sym typeface="Montserrat"/>
              </a:rPr>
              <a:t>F = {q₂}</a:t>
            </a:r>
            <a:endParaRPr b="0" i="0" sz="400" u="none" cap="none" strike="noStrike">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chemeClr val="dk1"/>
                </a:solidFill>
                <a:latin typeface="Montserrat"/>
                <a:ea typeface="Montserrat"/>
                <a:cs typeface="Montserrat"/>
                <a:sym typeface="Montserrat"/>
              </a:rPr>
              <a:t>Este AFD acepta cadenas como 101, 00001, pero rechaza 100, 111.</a:t>
            </a:r>
            <a:endParaRPr b="0" i="0" sz="800" u="none" cap="none" strike="noStrike">
              <a:solidFill>
                <a:schemeClr val="dk1"/>
              </a:solidFill>
              <a:latin typeface="Montserrat"/>
              <a:ea typeface="Montserrat"/>
              <a:cs typeface="Montserrat"/>
              <a:sym typeface="Montserrat"/>
            </a:endParaRPr>
          </a:p>
          <a:p>
            <a:pPr indent="0" lvl="0" marL="457200" marR="0" rtl="0" algn="l">
              <a:lnSpc>
                <a:spcPct val="100000"/>
              </a:lnSpc>
              <a:spcBef>
                <a:spcPts val="800"/>
              </a:spcBef>
              <a:spcAft>
                <a:spcPts val="1500"/>
              </a:spcAft>
              <a:buClr>
                <a:srgbClr val="000000"/>
              </a:buClr>
              <a:buSzPts val="100"/>
              <a:buFont typeface="Arial"/>
              <a:buNone/>
            </a:pPr>
            <a:r>
              <a:t/>
            </a:r>
            <a:endParaRPr b="0" i="0" sz="100" u="none" cap="none" strike="noStrike">
              <a:solidFill>
                <a:schemeClr val="dk1"/>
              </a:solidFill>
              <a:highlight>
                <a:schemeClr val="lt1"/>
              </a:highlight>
              <a:latin typeface="Montserrat"/>
              <a:ea typeface="Montserrat"/>
              <a:cs typeface="Montserrat"/>
              <a:sym typeface="Montserrat"/>
            </a:endParaRPr>
          </a:p>
        </p:txBody>
      </p:sp>
      <p:graphicFrame>
        <p:nvGraphicFramePr>
          <p:cNvPr id="197" name="Google Shape;197;p11"/>
          <p:cNvGraphicFramePr/>
          <p:nvPr/>
        </p:nvGraphicFramePr>
        <p:xfrm>
          <a:off x="5268525" y="1715200"/>
          <a:ext cx="3000000" cy="3000000"/>
        </p:xfrm>
        <a:graphic>
          <a:graphicData uri="http://schemas.openxmlformats.org/drawingml/2006/table">
            <a:tbl>
              <a:tblPr>
                <a:noFill/>
                <a:tableStyleId>{694A20BA-9F1A-4841-AC64-6C731D83B091}</a:tableStyleId>
              </a:tblPr>
              <a:tblGrid>
                <a:gridCol w="1137050"/>
                <a:gridCol w="974600"/>
                <a:gridCol w="974600"/>
              </a:tblGrid>
              <a:tr h="139700">
                <a:tc>
                  <a:txBody>
                    <a:bodyPr/>
                    <a:lstStyle/>
                    <a:p>
                      <a:pPr indent="0" lvl="0" marL="0" marR="0" rtl="0" algn="ctr">
                        <a:lnSpc>
                          <a:spcPct val="115000"/>
                        </a:lnSpc>
                        <a:spcBef>
                          <a:spcPts val="0"/>
                        </a:spcBef>
                        <a:spcAft>
                          <a:spcPts val="0"/>
                        </a:spcAft>
                        <a:buClr>
                          <a:srgbClr val="000000"/>
                        </a:buClr>
                        <a:buSzPts val="1100"/>
                        <a:buFont typeface="Arial"/>
                        <a:buNone/>
                      </a:pPr>
                      <a:r>
                        <a:rPr b="1" lang="es" sz="1100" u="none" cap="none" strike="noStrike">
                          <a:latin typeface="Montserrat"/>
                          <a:ea typeface="Montserrat"/>
                          <a:cs typeface="Montserrat"/>
                          <a:sym typeface="Montserrat"/>
                        </a:rPr>
                        <a:t>Estado</a:t>
                      </a:r>
                      <a:endParaRPr b="1" sz="1100" u="none" cap="none" strike="noStrike">
                        <a:latin typeface="Montserrat"/>
                        <a:ea typeface="Montserrat"/>
                        <a:cs typeface="Montserrat"/>
                        <a:sym typeface="Montserrat"/>
                      </a:endParaRPr>
                    </a:p>
                  </a:txBody>
                  <a:tcPr marT="91425" marB="91425" marR="91425" marL="91425"/>
                </a:tc>
                <a:tc>
                  <a:txBody>
                    <a:bodyPr/>
                    <a:lstStyle/>
                    <a:p>
                      <a:pPr indent="0" lvl="0" marL="0" marR="0" rtl="0" algn="ctr">
                        <a:lnSpc>
                          <a:spcPct val="115000"/>
                        </a:lnSpc>
                        <a:spcBef>
                          <a:spcPts val="0"/>
                        </a:spcBef>
                        <a:spcAft>
                          <a:spcPts val="0"/>
                        </a:spcAft>
                        <a:buClr>
                          <a:srgbClr val="000000"/>
                        </a:buClr>
                        <a:buSzPts val="1100"/>
                        <a:buFont typeface="Arial"/>
                        <a:buNone/>
                      </a:pPr>
                      <a:r>
                        <a:rPr b="1" lang="es" sz="1100" u="none" cap="none" strike="noStrike">
                          <a:latin typeface="Montserrat"/>
                          <a:ea typeface="Montserrat"/>
                          <a:cs typeface="Montserrat"/>
                          <a:sym typeface="Montserrat"/>
                        </a:rPr>
                        <a:t>Con </a:t>
                      </a:r>
                      <a:r>
                        <a:rPr b="1" lang="es" sz="1100" u="none" cap="none" strike="noStrike">
                          <a:solidFill>
                            <a:srgbClr val="188038"/>
                          </a:solidFill>
                          <a:latin typeface="Montserrat"/>
                          <a:ea typeface="Montserrat"/>
                          <a:cs typeface="Montserrat"/>
                          <a:sym typeface="Montserrat"/>
                        </a:rPr>
                        <a:t>0</a:t>
                      </a:r>
                      <a:endParaRPr b="1" sz="1100" u="none" cap="none" strike="noStrike">
                        <a:solidFill>
                          <a:srgbClr val="188038"/>
                        </a:solidFill>
                        <a:latin typeface="Montserrat"/>
                        <a:ea typeface="Montserrat"/>
                        <a:cs typeface="Montserrat"/>
                        <a:sym typeface="Montserrat"/>
                      </a:endParaRPr>
                    </a:p>
                  </a:txBody>
                  <a:tcPr marT="91425" marB="91425" marR="91425" marL="91425"/>
                </a:tc>
                <a:tc>
                  <a:txBody>
                    <a:bodyPr/>
                    <a:lstStyle/>
                    <a:p>
                      <a:pPr indent="0" lvl="0" marL="0" marR="0" rtl="0" algn="ctr">
                        <a:lnSpc>
                          <a:spcPct val="115000"/>
                        </a:lnSpc>
                        <a:spcBef>
                          <a:spcPts val="0"/>
                        </a:spcBef>
                        <a:spcAft>
                          <a:spcPts val="0"/>
                        </a:spcAft>
                        <a:buClr>
                          <a:srgbClr val="000000"/>
                        </a:buClr>
                        <a:buSzPts val="1100"/>
                        <a:buFont typeface="Arial"/>
                        <a:buNone/>
                      </a:pPr>
                      <a:r>
                        <a:rPr b="1" lang="es" sz="1100" u="none" cap="none" strike="noStrike">
                          <a:latin typeface="Montserrat"/>
                          <a:ea typeface="Montserrat"/>
                          <a:cs typeface="Montserrat"/>
                          <a:sym typeface="Montserrat"/>
                        </a:rPr>
                        <a:t>Con </a:t>
                      </a:r>
                      <a:r>
                        <a:rPr b="1" lang="es" sz="1100" u="none" cap="none" strike="noStrike">
                          <a:solidFill>
                            <a:srgbClr val="188038"/>
                          </a:solidFill>
                          <a:latin typeface="Montserrat"/>
                          <a:ea typeface="Montserrat"/>
                          <a:cs typeface="Montserrat"/>
                          <a:sym typeface="Montserrat"/>
                        </a:rPr>
                        <a:t>1</a:t>
                      </a:r>
                      <a:endParaRPr b="1" sz="1100" u="none" cap="none" strike="noStrike">
                        <a:solidFill>
                          <a:srgbClr val="188038"/>
                        </a:solidFill>
                        <a:latin typeface="Montserrat"/>
                        <a:ea typeface="Montserrat"/>
                        <a:cs typeface="Montserrat"/>
                        <a:sym typeface="Montserrat"/>
                      </a:endParaRPr>
                    </a:p>
                  </a:txBody>
                  <a:tcPr marT="91425" marB="91425" marR="91425" marL="91425"/>
                </a:tc>
              </a:tr>
              <a:tr h="177800">
                <a:tc>
                  <a:txBody>
                    <a:bodyPr/>
                    <a:lstStyle/>
                    <a:p>
                      <a:pPr indent="0" lvl="0" marL="0" marR="0" rtl="0" algn="ctr">
                        <a:lnSpc>
                          <a:spcPct val="100000"/>
                        </a:lnSpc>
                        <a:spcBef>
                          <a:spcPts val="0"/>
                        </a:spcBef>
                        <a:spcAft>
                          <a:spcPts val="0"/>
                        </a:spcAft>
                        <a:buClr>
                          <a:srgbClr val="000000"/>
                        </a:buClr>
                        <a:buSzPts val="1400"/>
                        <a:buFont typeface="Arial"/>
                        <a:buNone/>
                      </a:pPr>
                      <a:r>
                        <a:rPr lang="es" sz="1400" u="none" cap="none" strike="noStrike">
                          <a:latin typeface="Montserrat"/>
                          <a:ea typeface="Montserrat"/>
                          <a:cs typeface="Montserrat"/>
                          <a:sym typeface="Montserrat"/>
                        </a:rPr>
                        <a:t>q₀</a:t>
                      </a:r>
                      <a:endParaRPr sz="1400" u="none" cap="none" strike="noStrike">
                        <a:latin typeface="Montserrat"/>
                        <a:ea typeface="Montserrat"/>
                        <a:cs typeface="Montserrat"/>
                        <a:sym typeface="Montserrat"/>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s" sz="1400" u="none" cap="none" strike="noStrike">
                          <a:latin typeface="Montserrat"/>
                          <a:ea typeface="Montserrat"/>
                          <a:cs typeface="Montserrat"/>
                          <a:sym typeface="Montserrat"/>
                        </a:rPr>
                        <a:t>q₁</a:t>
                      </a:r>
                      <a:endParaRPr sz="1400" u="none" cap="none" strike="noStrike">
                        <a:latin typeface="Montserrat"/>
                        <a:ea typeface="Montserrat"/>
                        <a:cs typeface="Montserrat"/>
                        <a:sym typeface="Montserrat"/>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s" sz="1400" u="none" cap="none" strike="noStrike">
                          <a:latin typeface="Montserrat"/>
                          <a:ea typeface="Montserrat"/>
                          <a:cs typeface="Montserrat"/>
                          <a:sym typeface="Montserrat"/>
                        </a:rPr>
                        <a:t>q₀</a:t>
                      </a:r>
                      <a:endParaRPr sz="1400" u="none" cap="none" strike="noStrike">
                        <a:latin typeface="Montserrat"/>
                        <a:ea typeface="Montserrat"/>
                        <a:cs typeface="Montserrat"/>
                        <a:sym typeface="Montserrat"/>
                      </a:endParaRPr>
                    </a:p>
                  </a:txBody>
                  <a:tcPr marT="91425" marB="91425" marR="91425" marL="91425"/>
                </a:tc>
              </a:tr>
              <a:tr h="177800">
                <a:tc>
                  <a:txBody>
                    <a:bodyPr/>
                    <a:lstStyle/>
                    <a:p>
                      <a:pPr indent="0" lvl="0" marL="0" marR="0" rtl="0" algn="ctr">
                        <a:lnSpc>
                          <a:spcPct val="100000"/>
                        </a:lnSpc>
                        <a:spcBef>
                          <a:spcPts val="0"/>
                        </a:spcBef>
                        <a:spcAft>
                          <a:spcPts val="0"/>
                        </a:spcAft>
                        <a:buClr>
                          <a:srgbClr val="000000"/>
                        </a:buClr>
                        <a:buSzPts val="1400"/>
                        <a:buFont typeface="Arial"/>
                        <a:buNone/>
                      </a:pPr>
                      <a:r>
                        <a:rPr lang="es" sz="1400" u="none" cap="none" strike="noStrike">
                          <a:latin typeface="Montserrat"/>
                          <a:ea typeface="Montserrat"/>
                          <a:cs typeface="Montserrat"/>
                          <a:sym typeface="Montserrat"/>
                        </a:rPr>
                        <a:t>q₁</a:t>
                      </a:r>
                      <a:endParaRPr sz="1400" u="none" cap="none" strike="noStrike">
                        <a:latin typeface="Montserrat"/>
                        <a:ea typeface="Montserrat"/>
                        <a:cs typeface="Montserrat"/>
                        <a:sym typeface="Montserrat"/>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s" sz="1400" u="none" cap="none" strike="noStrike">
                          <a:latin typeface="Montserrat"/>
                          <a:ea typeface="Montserrat"/>
                          <a:cs typeface="Montserrat"/>
                          <a:sym typeface="Montserrat"/>
                        </a:rPr>
                        <a:t>q₁</a:t>
                      </a:r>
                      <a:endParaRPr sz="1400" u="none" cap="none" strike="noStrike">
                        <a:latin typeface="Montserrat"/>
                        <a:ea typeface="Montserrat"/>
                        <a:cs typeface="Montserrat"/>
                        <a:sym typeface="Montserrat"/>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s" sz="1400" u="none" cap="none" strike="noStrike">
                          <a:latin typeface="Montserrat"/>
                          <a:ea typeface="Montserrat"/>
                          <a:cs typeface="Montserrat"/>
                          <a:sym typeface="Montserrat"/>
                        </a:rPr>
                        <a:t>q₂</a:t>
                      </a:r>
                      <a:endParaRPr sz="1400" u="none" cap="none" strike="noStrike">
                        <a:latin typeface="Montserrat"/>
                        <a:ea typeface="Montserrat"/>
                        <a:cs typeface="Montserrat"/>
                        <a:sym typeface="Montserrat"/>
                      </a:endParaRPr>
                    </a:p>
                  </a:txBody>
                  <a:tcPr marT="91425" marB="91425" marR="91425" marL="91425"/>
                </a:tc>
              </a:tr>
              <a:tr h="177800">
                <a:tc>
                  <a:txBody>
                    <a:bodyPr/>
                    <a:lstStyle/>
                    <a:p>
                      <a:pPr indent="0" lvl="0" marL="0" marR="0" rtl="0" algn="ctr">
                        <a:lnSpc>
                          <a:spcPct val="100000"/>
                        </a:lnSpc>
                        <a:spcBef>
                          <a:spcPts val="0"/>
                        </a:spcBef>
                        <a:spcAft>
                          <a:spcPts val="0"/>
                        </a:spcAft>
                        <a:buClr>
                          <a:srgbClr val="000000"/>
                        </a:buClr>
                        <a:buSzPts val="1400"/>
                        <a:buFont typeface="Arial"/>
                        <a:buNone/>
                      </a:pPr>
                      <a:r>
                        <a:rPr lang="es" sz="1400" u="none" cap="none" strike="noStrike">
                          <a:latin typeface="Montserrat"/>
                          <a:ea typeface="Montserrat"/>
                          <a:cs typeface="Montserrat"/>
                          <a:sym typeface="Montserrat"/>
                        </a:rPr>
                        <a:t>q₂</a:t>
                      </a:r>
                      <a:endParaRPr sz="1400" u="none" cap="none" strike="noStrike">
                        <a:latin typeface="Montserrat"/>
                        <a:ea typeface="Montserrat"/>
                        <a:cs typeface="Montserrat"/>
                        <a:sym typeface="Montserrat"/>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s" sz="1400" u="none" cap="none" strike="noStrike">
                          <a:latin typeface="Montserrat"/>
                          <a:ea typeface="Montserrat"/>
                          <a:cs typeface="Montserrat"/>
                          <a:sym typeface="Montserrat"/>
                        </a:rPr>
                        <a:t>q₁</a:t>
                      </a:r>
                      <a:endParaRPr sz="1400" u="none" cap="none" strike="noStrike">
                        <a:latin typeface="Montserrat"/>
                        <a:ea typeface="Montserrat"/>
                        <a:cs typeface="Montserrat"/>
                        <a:sym typeface="Montserrat"/>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s" sz="1400" u="none" cap="none" strike="noStrike">
                          <a:latin typeface="Montserrat"/>
                          <a:ea typeface="Montserrat"/>
                          <a:cs typeface="Montserrat"/>
                          <a:sym typeface="Montserrat"/>
                        </a:rPr>
                        <a:t>q₀</a:t>
                      </a:r>
                      <a:endParaRPr sz="1400" u="none" cap="none" strike="noStrike">
                        <a:latin typeface="Montserrat"/>
                        <a:ea typeface="Montserrat"/>
                        <a:cs typeface="Montserrat"/>
                        <a:sym typeface="Montserrat"/>
                      </a:endParaRPr>
                    </a:p>
                  </a:txBody>
                  <a:tcPr marT="91425" marB="91425" marR="91425" marL="91425"/>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2"/>
          <p:cNvSpPr/>
          <p:nvPr/>
        </p:nvSpPr>
        <p:spPr>
          <a:xfrm>
            <a:off x="6270654" y="0"/>
            <a:ext cx="2873346" cy="85589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sp>
      <p:sp>
        <p:nvSpPr>
          <p:cNvPr id="203" name="Google Shape;203;p12"/>
          <p:cNvSpPr txBox="1"/>
          <p:nvPr/>
        </p:nvSpPr>
        <p:spPr>
          <a:xfrm>
            <a:off x="541598" y="544725"/>
            <a:ext cx="5038500" cy="3540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131416"/>
              </a:buClr>
              <a:buSzPts val="6098"/>
              <a:buFont typeface="Impact"/>
              <a:buNone/>
            </a:pPr>
            <a:r>
              <a:rPr b="0" i="0" lang="es" sz="2300" u="none" cap="none" strike="noStrike">
                <a:solidFill>
                  <a:srgbClr val="131416"/>
                </a:solidFill>
                <a:latin typeface="Impact"/>
                <a:ea typeface="Impact"/>
                <a:cs typeface="Impact"/>
                <a:sym typeface="Impact"/>
              </a:rPr>
              <a:t>APLICACIONES POR MEDIO DE EJEMPLOS</a:t>
            </a:r>
            <a:endParaRPr b="0" i="0" sz="2300" u="none" cap="none" strike="noStrike">
              <a:solidFill>
                <a:srgbClr val="000000"/>
              </a:solidFill>
              <a:latin typeface="Impact"/>
              <a:ea typeface="Impact"/>
              <a:cs typeface="Impact"/>
              <a:sym typeface="Impact"/>
            </a:endParaRPr>
          </a:p>
        </p:txBody>
      </p:sp>
      <p:pic>
        <p:nvPicPr>
          <p:cNvPr id="204" name="Google Shape;204;p12"/>
          <p:cNvPicPr preferRelativeResize="0"/>
          <p:nvPr/>
        </p:nvPicPr>
        <p:blipFill rotWithShape="1">
          <a:blip r:embed="rId4">
            <a:alphaModFix/>
          </a:blip>
          <a:srcRect b="0" l="0" r="0" t="0"/>
          <a:stretch/>
        </p:blipFill>
        <p:spPr>
          <a:xfrm>
            <a:off x="1704451" y="1021896"/>
            <a:ext cx="5735075" cy="35648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13"/>
          <p:cNvSpPr/>
          <p:nvPr/>
        </p:nvSpPr>
        <p:spPr>
          <a:xfrm>
            <a:off x="6270654" y="0"/>
            <a:ext cx="2873346" cy="85589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sp>
      <p:sp>
        <p:nvSpPr>
          <p:cNvPr id="210" name="Google Shape;210;p13"/>
          <p:cNvSpPr txBox="1"/>
          <p:nvPr/>
        </p:nvSpPr>
        <p:spPr>
          <a:xfrm>
            <a:off x="541598" y="544725"/>
            <a:ext cx="5038500" cy="3540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131416"/>
              </a:buClr>
              <a:buSzPts val="6098"/>
              <a:buFont typeface="Impact"/>
              <a:buNone/>
            </a:pPr>
            <a:r>
              <a:rPr b="0" i="0" lang="es" sz="2300" u="none" cap="none" strike="noStrike">
                <a:solidFill>
                  <a:srgbClr val="131416"/>
                </a:solidFill>
                <a:latin typeface="Impact"/>
                <a:ea typeface="Impact"/>
                <a:cs typeface="Impact"/>
                <a:sym typeface="Impact"/>
              </a:rPr>
              <a:t>APLICACIONES POR MEDIO DE EJEMPLOS</a:t>
            </a:r>
            <a:endParaRPr b="0" i="0" sz="2300" u="none" cap="none" strike="noStrike">
              <a:solidFill>
                <a:srgbClr val="000000"/>
              </a:solidFill>
              <a:latin typeface="Impact"/>
              <a:ea typeface="Impact"/>
              <a:cs typeface="Impact"/>
              <a:sym typeface="Impact"/>
            </a:endParaRPr>
          </a:p>
        </p:txBody>
      </p:sp>
      <p:pic>
        <p:nvPicPr>
          <p:cNvPr id="211" name="Google Shape;211;p13"/>
          <p:cNvPicPr preferRelativeResize="0"/>
          <p:nvPr/>
        </p:nvPicPr>
        <p:blipFill rotWithShape="1">
          <a:blip r:embed="rId4">
            <a:alphaModFix/>
          </a:blip>
          <a:srcRect b="0" l="0" r="0" t="0"/>
          <a:stretch/>
        </p:blipFill>
        <p:spPr>
          <a:xfrm>
            <a:off x="2032701" y="1181500"/>
            <a:ext cx="4237950" cy="31148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14"/>
          <p:cNvSpPr/>
          <p:nvPr/>
        </p:nvSpPr>
        <p:spPr>
          <a:xfrm>
            <a:off x="6270654" y="0"/>
            <a:ext cx="2873346" cy="85589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sp>
      <p:sp>
        <p:nvSpPr>
          <p:cNvPr id="217" name="Google Shape;217;p14"/>
          <p:cNvSpPr txBox="1"/>
          <p:nvPr/>
        </p:nvSpPr>
        <p:spPr>
          <a:xfrm>
            <a:off x="541598" y="544725"/>
            <a:ext cx="5038500" cy="3540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131416"/>
              </a:buClr>
              <a:buSzPts val="6098"/>
              <a:buFont typeface="Impact"/>
              <a:buNone/>
            </a:pPr>
            <a:r>
              <a:rPr b="0" i="0" lang="es" sz="2300" u="none" cap="none" strike="noStrike">
                <a:solidFill>
                  <a:srgbClr val="131416"/>
                </a:solidFill>
                <a:latin typeface="Impact"/>
                <a:ea typeface="Impact"/>
                <a:cs typeface="Impact"/>
                <a:sym typeface="Impact"/>
              </a:rPr>
              <a:t>APLICACIONES POR MEDIO DE EJEMPLOS</a:t>
            </a:r>
            <a:endParaRPr b="0" i="0" sz="2300" u="none" cap="none" strike="noStrike">
              <a:solidFill>
                <a:srgbClr val="000000"/>
              </a:solidFill>
              <a:latin typeface="Impact"/>
              <a:ea typeface="Impact"/>
              <a:cs typeface="Impact"/>
              <a:sym typeface="Impact"/>
            </a:endParaRPr>
          </a:p>
        </p:txBody>
      </p:sp>
      <p:pic>
        <p:nvPicPr>
          <p:cNvPr id="218" name="Google Shape;218;p14"/>
          <p:cNvPicPr preferRelativeResize="0"/>
          <p:nvPr/>
        </p:nvPicPr>
        <p:blipFill rotWithShape="1">
          <a:blip r:embed="rId4">
            <a:alphaModFix/>
          </a:blip>
          <a:srcRect b="0" l="0" r="0" t="0"/>
          <a:stretch/>
        </p:blipFill>
        <p:spPr>
          <a:xfrm>
            <a:off x="1611438" y="1229701"/>
            <a:ext cx="5921124" cy="3305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15"/>
          <p:cNvSpPr/>
          <p:nvPr/>
        </p:nvSpPr>
        <p:spPr>
          <a:xfrm>
            <a:off x="6270654" y="0"/>
            <a:ext cx="2873346" cy="85589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sp>
      <p:sp>
        <p:nvSpPr>
          <p:cNvPr id="224" name="Google Shape;224;p15"/>
          <p:cNvSpPr txBox="1"/>
          <p:nvPr/>
        </p:nvSpPr>
        <p:spPr>
          <a:xfrm>
            <a:off x="1148020" y="1237395"/>
            <a:ext cx="6995700" cy="723300"/>
          </a:xfrm>
          <a:prstGeom prst="rect">
            <a:avLst/>
          </a:prstGeom>
          <a:noFill/>
          <a:ln>
            <a:noFill/>
          </a:ln>
        </p:spPr>
        <p:txBody>
          <a:bodyPr anchorCtr="0" anchor="t" bIns="0" lIns="0" spcFirstLastPara="1" rIns="0" wrap="square" tIns="0">
            <a:spAutoFit/>
          </a:bodyPr>
          <a:lstStyle/>
          <a:p>
            <a:pPr indent="0" lvl="0" marL="0" marR="0" rtl="0" algn="ctr">
              <a:lnSpc>
                <a:spcPct val="112987"/>
              </a:lnSpc>
              <a:spcBef>
                <a:spcPts val="0"/>
              </a:spcBef>
              <a:spcAft>
                <a:spcPts val="0"/>
              </a:spcAft>
              <a:buClr>
                <a:srgbClr val="000000"/>
              </a:buClr>
              <a:buSzPts val="3000"/>
              <a:buFont typeface="Arial"/>
              <a:buNone/>
            </a:pPr>
            <a:r>
              <a:rPr b="0" i="0" lang="es" sz="4700" u="none" cap="none" strike="noStrike">
                <a:solidFill>
                  <a:srgbClr val="131416"/>
                </a:solidFill>
                <a:latin typeface="Impact"/>
                <a:ea typeface="Impact"/>
                <a:cs typeface="Impact"/>
                <a:sym typeface="Impact"/>
              </a:rPr>
              <a:t>EJEMPLO PRÁCTICO</a:t>
            </a:r>
            <a:endParaRPr b="0" i="0" sz="2400" u="none" cap="none" strike="noStrike">
              <a:solidFill>
                <a:srgbClr val="000000"/>
              </a:solidFill>
              <a:latin typeface="Impact"/>
              <a:ea typeface="Impact"/>
              <a:cs typeface="Impact"/>
              <a:sym typeface="Impact"/>
            </a:endParaRPr>
          </a:p>
        </p:txBody>
      </p:sp>
      <p:pic>
        <p:nvPicPr>
          <p:cNvPr id="225" name="Google Shape;225;p15"/>
          <p:cNvPicPr preferRelativeResize="0"/>
          <p:nvPr/>
        </p:nvPicPr>
        <p:blipFill rotWithShape="1">
          <a:blip r:embed="rId4">
            <a:alphaModFix/>
          </a:blip>
          <a:srcRect b="0" l="0" r="0" t="0"/>
          <a:stretch/>
        </p:blipFill>
        <p:spPr>
          <a:xfrm>
            <a:off x="3211829" y="2031298"/>
            <a:ext cx="2720349" cy="18135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16"/>
          <p:cNvSpPr/>
          <p:nvPr/>
        </p:nvSpPr>
        <p:spPr>
          <a:xfrm>
            <a:off x="6270654" y="0"/>
            <a:ext cx="2873346" cy="85589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sp>
      <p:sp>
        <p:nvSpPr>
          <p:cNvPr id="231" name="Google Shape;231;p16"/>
          <p:cNvSpPr txBox="1"/>
          <p:nvPr/>
        </p:nvSpPr>
        <p:spPr>
          <a:xfrm>
            <a:off x="2921600" y="1218100"/>
            <a:ext cx="3864000" cy="538800"/>
          </a:xfrm>
          <a:prstGeom prst="rect">
            <a:avLst/>
          </a:prstGeom>
          <a:noFill/>
          <a:ln>
            <a:noFill/>
          </a:ln>
        </p:spPr>
        <p:txBody>
          <a:bodyPr anchorCtr="0" anchor="t" bIns="91425" lIns="91425" spcFirstLastPara="1" rIns="91425" wrap="square" tIns="91425">
            <a:spAutoFit/>
          </a:bodyPr>
          <a:lstStyle/>
          <a:p>
            <a:pPr indent="0" lvl="0" marL="0" marR="0" rtl="0" algn="ctr">
              <a:lnSpc>
                <a:spcPct val="113000"/>
              </a:lnSpc>
              <a:spcBef>
                <a:spcPts val="0"/>
              </a:spcBef>
              <a:spcAft>
                <a:spcPts val="0"/>
              </a:spcAft>
              <a:buClr>
                <a:srgbClr val="000000"/>
              </a:buClr>
              <a:buSzPts val="2300"/>
              <a:buFont typeface="Arial"/>
              <a:buNone/>
            </a:pPr>
            <a:r>
              <a:rPr b="1" i="0" lang="es" sz="2300" u="none" cap="none" strike="noStrike">
                <a:solidFill>
                  <a:srgbClr val="131416"/>
                </a:solidFill>
                <a:latin typeface="Montserrat"/>
                <a:ea typeface="Montserrat"/>
                <a:cs typeface="Montserrat"/>
                <a:sym typeface="Montserrat"/>
              </a:rPr>
              <a:t>Curiosidad</a:t>
            </a:r>
            <a:endParaRPr b="1" i="0" sz="2300" u="none" cap="none" strike="noStrike">
              <a:solidFill>
                <a:srgbClr val="000000"/>
              </a:solidFill>
              <a:latin typeface="Montserrat"/>
              <a:ea typeface="Montserrat"/>
              <a:cs typeface="Montserrat"/>
              <a:sym typeface="Montserrat"/>
            </a:endParaRPr>
          </a:p>
        </p:txBody>
      </p:sp>
      <p:sp>
        <p:nvSpPr>
          <p:cNvPr id="232" name="Google Shape;232;p16"/>
          <p:cNvSpPr txBox="1"/>
          <p:nvPr/>
        </p:nvSpPr>
        <p:spPr>
          <a:xfrm>
            <a:off x="739050" y="1868025"/>
            <a:ext cx="7665900" cy="377100"/>
          </a:xfrm>
          <a:prstGeom prst="rect">
            <a:avLst/>
          </a:prstGeom>
          <a:noFill/>
          <a:ln>
            <a:noFill/>
          </a:ln>
        </p:spPr>
        <p:txBody>
          <a:bodyPr anchorCtr="0" anchor="t" bIns="91425" lIns="91425" spcFirstLastPara="1" rIns="91425" wrap="square" tIns="91425">
            <a:spAutoFit/>
          </a:bodyPr>
          <a:lstStyle/>
          <a:p>
            <a:pPr indent="457200" lvl="0" marL="0" marR="0" rtl="0" algn="ctr">
              <a:lnSpc>
                <a:spcPct val="100000"/>
              </a:lnSpc>
              <a:spcBef>
                <a:spcPts val="0"/>
              </a:spcBef>
              <a:spcAft>
                <a:spcPts val="0"/>
              </a:spcAft>
              <a:buClr>
                <a:srgbClr val="000000"/>
              </a:buClr>
              <a:buSzPts val="1250"/>
              <a:buFont typeface="Arial"/>
              <a:buNone/>
            </a:pPr>
            <a:r>
              <a:rPr b="0" i="0" lang="es" sz="1250" u="none" cap="none" strike="noStrike">
                <a:solidFill>
                  <a:schemeClr val="dk1"/>
                </a:solidFill>
                <a:highlight>
                  <a:schemeClr val="lt1"/>
                </a:highlight>
                <a:latin typeface="Montserrat"/>
                <a:ea typeface="Montserrat"/>
                <a:cs typeface="Montserrat"/>
                <a:sym typeface="Montserrat"/>
              </a:rPr>
              <a:t>Se estimula al presentarse contenidos nuevos que despiertan interés por aprender</a:t>
            </a:r>
            <a:endParaRPr b="0" i="0" sz="1300" u="none" cap="none" strike="noStrike">
              <a:solidFill>
                <a:schemeClr val="dk1"/>
              </a:solidFill>
              <a:highlight>
                <a:schemeClr val="lt1"/>
              </a:highlight>
              <a:latin typeface="Montserrat"/>
              <a:ea typeface="Montserrat"/>
              <a:cs typeface="Montserrat"/>
              <a:sym typeface="Montserrat"/>
            </a:endParaRPr>
          </a:p>
        </p:txBody>
      </p:sp>
      <p:pic>
        <p:nvPicPr>
          <p:cNvPr id="233" name="Google Shape;233;p16"/>
          <p:cNvPicPr preferRelativeResize="0"/>
          <p:nvPr/>
        </p:nvPicPr>
        <p:blipFill rotWithShape="1">
          <a:blip r:embed="rId4">
            <a:alphaModFix/>
          </a:blip>
          <a:srcRect b="0" l="0" r="0" t="0"/>
          <a:stretch/>
        </p:blipFill>
        <p:spPr>
          <a:xfrm>
            <a:off x="4182974" y="2571750"/>
            <a:ext cx="1341275" cy="15192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17"/>
          <p:cNvSpPr txBox="1"/>
          <p:nvPr/>
        </p:nvSpPr>
        <p:spPr>
          <a:xfrm>
            <a:off x="896770" y="2532360"/>
            <a:ext cx="7350600" cy="627900"/>
          </a:xfrm>
          <a:prstGeom prst="rect">
            <a:avLst/>
          </a:prstGeom>
          <a:noFill/>
          <a:ln>
            <a:noFill/>
          </a:ln>
        </p:spPr>
        <p:txBody>
          <a:bodyPr anchorCtr="0" anchor="t" bIns="0" lIns="0" spcFirstLastPara="1" rIns="0" wrap="square" tIns="0">
            <a:spAutoFit/>
          </a:bodyPr>
          <a:lstStyle/>
          <a:p>
            <a:pPr indent="-184150" lvl="1" marL="368300" marR="0" rtl="0" algn="just">
              <a:lnSpc>
                <a:spcPct val="140011"/>
              </a:lnSpc>
              <a:spcBef>
                <a:spcPts val="0"/>
              </a:spcBef>
              <a:spcAft>
                <a:spcPts val="0"/>
              </a:spcAft>
              <a:buClr>
                <a:srgbClr val="152540"/>
              </a:buClr>
              <a:buSzPts val="1700"/>
              <a:buFont typeface="Montserrat Medium"/>
              <a:buChar char="•"/>
            </a:pPr>
            <a:r>
              <a:rPr b="0" i="0" lang="es" sz="1700" u="none" cap="none" strike="noStrike">
                <a:solidFill>
                  <a:srgbClr val="152540"/>
                </a:solidFill>
                <a:latin typeface="Montserrat Medium"/>
                <a:ea typeface="Montserrat Medium"/>
                <a:cs typeface="Montserrat Medium"/>
                <a:sym typeface="Montserrat Medium"/>
              </a:rPr>
              <a:t>https://cs.famaf.unc.edu.ar/~hoffmann/md19/09.html</a:t>
            </a:r>
            <a:endParaRPr b="0" i="0" sz="700" u="none" cap="none" strike="noStrike">
              <a:solidFill>
                <a:srgbClr val="000000"/>
              </a:solidFill>
              <a:latin typeface="Montserrat Medium"/>
              <a:ea typeface="Montserrat Medium"/>
              <a:cs typeface="Montserrat Medium"/>
              <a:sym typeface="Montserrat Medium"/>
            </a:endParaRPr>
          </a:p>
          <a:p>
            <a:pPr indent="-184150" lvl="1" marL="368300" marR="0" rtl="0" algn="just">
              <a:lnSpc>
                <a:spcPct val="140011"/>
              </a:lnSpc>
              <a:spcBef>
                <a:spcPts val="0"/>
              </a:spcBef>
              <a:spcAft>
                <a:spcPts val="0"/>
              </a:spcAft>
              <a:buClr>
                <a:srgbClr val="152540"/>
              </a:buClr>
              <a:buSzPts val="1700"/>
              <a:buFont typeface="Montserrat Medium"/>
              <a:buChar char="•"/>
            </a:pPr>
            <a:r>
              <a:rPr b="0" i="0" lang="es" sz="1700" u="none" cap="none" strike="noStrike">
                <a:solidFill>
                  <a:srgbClr val="152540"/>
                </a:solidFill>
                <a:latin typeface="Montserrat Medium"/>
                <a:ea typeface="Montserrat Medium"/>
                <a:cs typeface="Montserrat Medium"/>
                <a:sym typeface="Montserrat Medium"/>
              </a:rPr>
              <a:t>https://swaminathanj.github.io/fsm/dfa.html</a:t>
            </a:r>
            <a:endParaRPr b="0" i="0" sz="700" u="none" cap="none" strike="noStrike">
              <a:solidFill>
                <a:srgbClr val="000000"/>
              </a:solidFill>
              <a:latin typeface="Montserrat Medium"/>
              <a:ea typeface="Montserrat Medium"/>
              <a:cs typeface="Montserrat Medium"/>
              <a:sym typeface="Montserrat Medium"/>
            </a:endParaRPr>
          </a:p>
        </p:txBody>
      </p:sp>
      <p:sp>
        <p:nvSpPr>
          <p:cNvPr id="239" name="Google Shape;239;p17"/>
          <p:cNvSpPr txBox="1"/>
          <p:nvPr/>
        </p:nvSpPr>
        <p:spPr>
          <a:xfrm>
            <a:off x="1196096" y="1799946"/>
            <a:ext cx="6751800" cy="53880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3500"/>
              <a:buFont typeface="Arial"/>
              <a:buNone/>
            </a:pPr>
            <a:r>
              <a:rPr b="1" i="0" lang="es" sz="3500" u="none" cap="none" strike="noStrike">
                <a:solidFill>
                  <a:srgbClr val="131416"/>
                </a:solidFill>
                <a:latin typeface="Montserrat"/>
                <a:ea typeface="Montserrat"/>
                <a:cs typeface="Montserrat"/>
                <a:sym typeface="Montserrat"/>
              </a:rPr>
              <a:t>REFERENCIAS </a:t>
            </a:r>
            <a:endParaRPr b="1" i="0" sz="700" u="none" cap="none" strike="noStrike">
              <a:solidFill>
                <a:srgbClr val="000000"/>
              </a:solidFill>
              <a:latin typeface="Montserrat"/>
              <a:ea typeface="Montserrat"/>
              <a:cs typeface="Montserrat"/>
              <a:sym typeface="Montserrat"/>
            </a:endParaRPr>
          </a:p>
        </p:txBody>
      </p:sp>
      <p:sp>
        <p:nvSpPr>
          <p:cNvPr id="240" name="Google Shape;240;p17"/>
          <p:cNvSpPr/>
          <p:nvPr/>
        </p:nvSpPr>
        <p:spPr>
          <a:xfrm>
            <a:off x="6270654" y="0"/>
            <a:ext cx="2873346" cy="85589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sp>
      <p:pic>
        <p:nvPicPr>
          <p:cNvPr id="241" name="Google Shape;241;p17"/>
          <p:cNvPicPr preferRelativeResize="0"/>
          <p:nvPr/>
        </p:nvPicPr>
        <p:blipFill rotWithShape="1">
          <a:blip r:embed="rId4">
            <a:alphaModFix/>
          </a:blip>
          <a:srcRect b="0" l="0" r="0" t="0"/>
          <a:stretch/>
        </p:blipFill>
        <p:spPr>
          <a:xfrm>
            <a:off x="6529150" y="3912675"/>
            <a:ext cx="2614851" cy="123082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18"/>
          <p:cNvSpPr txBox="1"/>
          <p:nvPr/>
        </p:nvSpPr>
        <p:spPr>
          <a:xfrm>
            <a:off x="1464825" y="1885488"/>
            <a:ext cx="6214500" cy="942000"/>
          </a:xfrm>
          <a:prstGeom prst="rect">
            <a:avLst/>
          </a:prstGeom>
          <a:noFill/>
          <a:ln>
            <a:noFill/>
          </a:ln>
        </p:spPr>
        <p:txBody>
          <a:bodyPr anchorCtr="0" anchor="t" bIns="0" lIns="0" spcFirstLastPara="1" rIns="0" wrap="square" tIns="0">
            <a:spAutoFit/>
          </a:bodyPr>
          <a:lstStyle/>
          <a:p>
            <a:pPr indent="0" lvl="0" marL="0" marR="0" rtl="0" algn="just">
              <a:lnSpc>
                <a:spcPct val="104000"/>
              </a:lnSpc>
              <a:spcBef>
                <a:spcPts val="0"/>
              </a:spcBef>
              <a:spcAft>
                <a:spcPts val="0"/>
              </a:spcAft>
              <a:buClr>
                <a:srgbClr val="000000"/>
              </a:buClr>
              <a:buSzPts val="3000"/>
              <a:buFont typeface="Arial"/>
              <a:buNone/>
            </a:pPr>
            <a:r>
              <a:rPr b="1" i="0" lang="es" sz="3000" u="none" cap="none" strike="noStrike">
                <a:solidFill>
                  <a:srgbClr val="131416"/>
                </a:solidFill>
                <a:latin typeface="Montserrat"/>
                <a:ea typeface="Montserrat"/>
                <a:cs typeface="Montserrat"/>
                <a:sym typeface="Montserrat"/>
              </a:rPr>
              <a:t>¡GRACIAS POR SU ATENCIÓN!</a:t>
            </a:r>
            <a:endParaRPr b="1" i="0" sz="700" u="none" cap="none" strike="noStrike">
              <a:solidFill>
                <a:srgbClr val="000000"/>
              </a:solidFill>
              <a:latin typeface="Montserrat"/>
              <a:ea typeface="Montserrat"/>
              <a:cs typeface="Montserrat"/>
              <a:sym typeface="Montserrat"/>
            </a:endParaRPr>
          </a:p>
          <a:p>
            <a:pPr indent="0" lvl="0" marL="0" marR="0" rtl="0" algn="just">
              <a:lnSpc>
                <a:spcPct val="104000"/>
              </a:lnSpc>
              <a:spcBef>
                <a:spcPts val="0"/>
              </a:spcBef>
              <a:spcAft>
                <a:spcPts val="0"/>
              </a:spcAft>
              <a:buClr>
                <a:srgbClr val="000000"/>
              </a:buClr>
              <a:buSzPts val="3000"/>
              <a:buFont typeface="Arial"/>
              <a:buNone/>
            </a:pPr>
            <a:r>
              <a:t/>
            </a:r>
            <a:endParaRPr b="1" i="0" sz="3000" u="none" cap="none" strike="noStrike">
              <a:solidFill>
                <a:srgbClr val="131416"/>
              </a:solidFill>
              <a:latin typeface="Montserrat"/>
              <a:ea typeface="Montserrat"/>
              <a:cs typeface="Montserrat"/>
              <a:sym typeface="Montserrat"/>
            </a:endParaRPr>
          </a:p>
        </p:txBody>
      </p:sp>
      <p:sp>
        <p:nvSpPr>
          <p:cNvPr id="247" name="Google Shape;247;p18"/>
          <p:cNvSpPr txBox="1"/>
          <p:nvPr/>
        </p:nvSpPr>
        <p:spPr>
          <a:xfrm>
            <a:off x="2753107" y="2379377"/>
            <a:ext cx="3352500" cy="384900"/>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000000"/>
              </a:buClr>
              <a:buSzPts val="2500"/>
              <a:buFont typeface="Arial"/>
              <a:buNone/>
            </a:pPr>
            <a:r>
              <a:rPr b="1" i="0" lang="es" sz="2500" u="none" cap="none" strike="noStrike">
                <a:solidFill>
                  <a:srgbClr val="131416"/>
                </a:solidFill>
                <a:latin typeface="Montserrat"/>
                <a:ea typeface="Montserrat"/>
                <a:cs typeface="Montserrat"/>
                <a:sym typeface="Montserrat"/>
              </a:rPr>
              <a:t>DUDAS</a:t>
            </a:r>
            <a:endParaRPr b="1" i="0" sz="700" u="none" cap="none" strike="noStrike">
              <a:solidFill>
                <a:srgbClr val="000000"/>
              </a:solidFill>
              <a:latin typeface="Montserrat"/>
              <a:ea typeface="Montserrat"/>
              <a:cs typeface="Montserrat"/>
              <a:sym typeface="Montserrat"/>
            </a:endParaRPr>
          </a:p>
        </p:txBody>
      </p:sp>
      <p:sp>
        <p:nvSpPr>
          <p:cNvPr id="248" name="Google Shape;248;p18"/>
          <p:cNvSpPr/>
          <p:nvPr/>
        </p:nvSpPr>
        <p:spPr>
          <a:xfrm>
            <a:off x="7765363" y="0"/>
            <a:ext cx="1378634" cy="1885485"/>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3">
              <a:alphaModFix/>
            </a:blip>
            <a:stretch>
              <a:fillRect b="0" l="0" r="0" t="0"/>
            </a:stretch>
          </a:blipFill>
          <a:ln>
            <a:noFill/>
          </a:ln>
        </p:spPr>
      </p:sp>
      <p:sp>
        <p:nvSpPr>
          <p:cNvPr id="249" name="Google Shape;249;p18"/>
          <p:cNvSpPr txBox="1"/>
          <p:nvPr/>
        </p:nvSpPr>
        <p:spPr>
          <a:xfrm>
            <a:off x="1205549" y="3949868"/>
            <a:ext cx="6732900" cy="381600"/>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000000"/>
              </a:buClr>
              <a:buSzPts val="1000"/>
              <a:buFont typeface="Arial"/>
              <a:buNone/>
            </a:pPr>
            <a:r>
              <a:rPr b="1" i="0" lang="es" sz="1000" u="none" cap="none" strike="noStrike">
                <a:solidFill>
                  <a:srgbClr val="131416"/>
                </a:solidFill>
                <a:latin typeface="Montserrat"/>
                <a:ea typeface="Montserrat"/>
                <a:cs typeface="Montserrat"/>
                <a:sym typeface="Montserrat"/>
              </a:rPr>
              <a:t>RECUERDA QUE TENEMOS NUESTRO FORO SEMANAL DONDE PUEDES CONSULTAR CUALQUIER DUDA QUE TE SURJA EN LA SEMANA</a:t>
            </a:r>
            <a:endParaRPr b="1" i="0" sz="700" u="none" cap="none" strike="noStrike">
              <a:solidFill>
                <a:srgbClr val="000000"/>
              </a:solidFill>
              <a:latin typeface="Montserrat"/>
              <a:ea typeface="Montserrat"/>
              <a:cs typeface="Montserrat"/>
              <a:sym typeface="Montserrat"/>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