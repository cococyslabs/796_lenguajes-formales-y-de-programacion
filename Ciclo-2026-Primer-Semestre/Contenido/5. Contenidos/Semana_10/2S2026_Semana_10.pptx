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  <p:embeddedFont>
      <p:font typeface="Pacifico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ikb3n1yojGIt3SQ9S67N8647c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2C5012-FC4F-4B95-A459-4FE0621566A1}">
  <a:tblStyle styleId="{D12C5012-FC4F-4B95-A459-4FE0621566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Pacifico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tomassetti-me.translate.goog/parsing-in-javascript/?_x_tr_sl=en&amp;_x_tr_tl=es&amp;_x_tr_hl=es&amp;_x_tr_pto=tc" TargetMode="External"/><Relationship Id="rId4" Type="http://schemas.openxmlformats.org/officeDocument/2006/relationships/hyperlink" Target="https://nearley-js-org.translate.goog/docs/grammar?_x_tr_sl=en&amp;_x_tr_tl=es&amp;_x_tr_hl=es&amp;_x_tr_pto=tc%5C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376425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{D12C5012-FC4F-4B95-A459-4FE0621566A1}</a:tableStyleId>
              </a:tblPr>
              <a:tblGrid>
                <a:gridCol w="2161575"/>
                <a:gridCol w="309295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xxxxx x xx xx xx xxx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/>
                        <a:t>09</a:t>
                      </a:r>
                      <a:r>
                        <a:rPr b="1" lang="es" sz="1400" u="none" cap="none" strike="noStrike"/>
                        <a:t>:</a:t>
                      </a:r>
                      <a:r>
                        <a:rPr b="1" lang="es"/>
                        <a:t>00</a:t>
                      </a:r>
                      <a:r>
                        <a:rPr b="1" lang="es" sz="1400" u="none" cap="none" strike="noStrike"/>
                        <a:t> - </a:t>
                      </a:r>
                      <a:r>
                        <a:rPr b="1" lang="es"/>
                        <a:t>10</a:t>
                      </a:r>
                      <a:r>
                        <a:rPr b="1" lang="es" sz="1400" u="none" cap="none" strike="noStrike"/>
                        <a:t>:</a:t>
                      </a:r>
                      <a:r>
                        <a:rPr b="1" lang="es"/>
                        <a:t>40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1176000" y="2384388"/>
            <a:ext cx="679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Lenguajes Formales y De Programación xx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329125" y="2856525"/>
            <a:ext cx="44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 xxxx xxx xxx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2"/>
          <p:cNvSpPr txBox="1"/>
          <p:nvPr/>
        </p:nvSpPr>
        <p:spPr>
          <a:xfrm>
            <a:off x="873350" y="3661263"/>
            <a:ext cx="753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4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b="0"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972600" y="2032213"/>
            <a:ext cx="719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s" sz="46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Análisis Sintáctico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3738800" y="4022913"/>
            <a:ext cx="4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Ingeniería de Ciencias Y Sistemas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049700" y="4244163"/>
            <a:ext cx="235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122350" y="4465413"/>
            <a:ext cx="428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532102" y="2237105"/>
            <a:ext cx="376946" cy="436464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3"/>
          <p:cNvSpPr/>
          <p:nvPr/>
        </p:nvSpPr>
        <p:spPr>
          <a:xfrm>
            <a:off x="305427" y="3253103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4" name="Google Shape;74;p3"/>
          <p:cNvGrpSpPr/>
          <p:nvPr/>
        </p:nvGrpSpPr>
        <p:grpSpPr>
          <a:xfrm>
            <a:off x="913044" y="2066205"/>
            <a:ext cx="2057663" cy="778267"/>
            <a:chOff x="0" y="-76200"/>
            <a:chExt cx="1083836" cy="409938"/>
          </a:xfrm>
        </p:grpSpPr>
        <p:sp>
          <p:nvSpPr>
            <p:cNvPr id="75" name="Google Shape;75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6" name="Google Shape;76;p3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RECORDATORIOS</a:t>
              </a:r>
              <a:endParaRPr b="0" i="0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7" name="Google Shape;77;p3"/>
          <p:cNvSpPr txBox="1"/>
          <p:nvPr/>
        </p:nvSpPr>
        <p:spPr>
          <a:xfrm>
            <a:off x="682375" y="3227600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Función del Analizador Sintáctico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05424" y="640244"/>
            <a:ext cx="3855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s" sz="75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7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160727" y="2237099"/>
            <a:ext cx="376946" cy="436464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3"/>
          <p:cNvSpPr txBox="1"/>
          <p:nvPr/>
        </p:nvSpPr>
        <p:spPr>
          <a:xfrm>
            <a:off x="3067275" y="2323181"/>
            <a:ext cx="104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FORO xx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3"/>
          <p:cNvSpPr/>
          <p:nvPr/>
        </p:nvSpPr>
        <p:spPr>
          <a:xfrm>
            <a:off x="305427" y="3771853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3"/>
          <p:cNvSpPr txBox="1"/>
          <p:nvPr/>
        </p:nvSpPr>
        <p:spPr>
          <a:xfrm>
            <a:off x="682375" y="3778575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Lenguajes Libres de Contexto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05427" y="4290603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3"/>
          <p:cNvSpPr txBox="1"/>
          <p:nvPr/>
        </p:nvSpPr>
        <p:spPr>
          <a:xfrm>
            <a:off x="682375" y="4297325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Árboles de Derivación y Ambigüedad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/>
        </p:nvSpPr>
        <p:spPr>
          <a:xfrm>
            <a:off x="1074220" y="1960170"/>
            <a:ext cx="69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Dudas clase anterior ?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2" name="Google Shape;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0013" y="3409513"/>
            <a:ext cx="1733987" cy="17339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4"/>
          <p:cNvGrpSpPr/>
          <p:nvPr/>
        </p:nvGrpSpPr>
        <p:grpSpPr>
          <a:xfrm>
            <a:off x="1006558" y="2405323"/>
            <a:ext cx="6884151" cy="778005"/>
            <a:chOff x="-1336127" y="-38032"/>
            <a:chExt cx="3626100" cy="409800"/>
          </a:xfrm>
        </p:grpSpPr>
        <p:sp>
          <p:nvSpPr>
            <p:cNvPr id="94" name="Google Shape;94;p4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4"/>
            <p:cNvSpPr txBox="1"/>
            <p:nvPr/>
          </p:nvSpPr>
          <p:spPr>
            <a:xfrm>
              <a:off x="-1336127" y="-38032"/>
              <a:ext cx="36261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Tema visto: </a:t>
              </a:r>
              <a:r>
                <a:rPr b="0" i="0" lang="es" sz="2200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Introducción a la conversión de AFN a AFD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555675" y="1683775"/>
            <a:ext cx="81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24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COMPETENCIA QUE DESARROLLAREMOS</a:t>
            </a:r>
            <a:endParaRPr b="1" i="0" sz="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555675" y="2237925"/>
            <a:ext cx="81153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9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El estudiante genera gramáticas libres de</a:t>
            </a:r>
            <a:endParaRPr b="0" i="0" sz="19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9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contexto mediante el análisis sintáctico para</a:t>
            </a:r>
            <a:endParaRPr b="0" i="0" sz="19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19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reconocer lenguajes formales.</a:t>
            </a:r>
            <a:endParaRPr b="0" i="0" sz="19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6082" y="4160100"/>
            <a:ext cx="2097917" cy="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6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Que es el analizador Sintáctico ?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550725" y="1251126"/>
            <a:ext cx="8324100" cy="2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analizador sintáctico (también conocido como parser) es una parte fundamental del compilador o intérprete que se encarga de verificar la estructura gramatical del código fuente.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 función principal es comprobar que la secuencia de tokens generada por el analizador léxico cumpla con las reglas gramaticales del lenguaje.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 sobre una gramática libre de contexto (GLC).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 los tokens en una estructura jerárquica que representa la sintaxis del programa.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Detecta errores de estructura, como paréntesis desbalanceados, operadores mal colocados o instrucciones incompletas.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500" y="3461149"/>
            <a:ext cx="1333000" cy="14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7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Funciones de un Analizador Sintáctico: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50725" y="1251126"/>
            <a:ext cx="83241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analizador sintáctico cumple varias funciones esenciales dentro del proceso de compilación: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Comprobación sintáctica: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Verifica que la secuencia de tokens siga las reglas de la gramática definida para el lenguaje.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del árbol de derivación: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 una representación jerárquica que muestra cómo se derivan las expresiones del programa según la gramática.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Detección y recuperación de errores: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el código no cumple con las reglas sintácticas, el analizador reporta errores y, en algunos casos, intenta continuar el análisis.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Interfaz con el analizador semántico:</a:t>
            </a:r>
            <a:b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Entrega una estructura organizada (por ejemplo, un árbol de sintaxis) para las etapas posteriores del compilador, como la verificación de tipos o la generación de código intermedio.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8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Lenguajes Libres de Contexto (GLC)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550725" y="1251126"/>
            <a:ext cx="8324100" cy="2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lenguaje libre de contexto (GLC) es aquel que puede describirse mediante una gramática libre de contexto, donde cada regla de producción tiene la forma: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Estos lenguajes son los más adecuados para definir la </a:t>
            </a: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sintaxis de los lenguajes de programación</a:t>
            </a: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analizadores sintácticos (como los LL, LR, SLR o LALR) se basan en estas gramáticas.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Ejemplo: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2125" y="1623050"/>
            <a:ext cx="2873350" cy="116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0075" y="3556352"/>
            <a:ext cx="3057426" cy="13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2144325" y="3908950"/>
            <a:ext cx="188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: expression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: Term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 : Factor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/>
        </p:nvSpPr>
        <p:spPr>
          <a:xfrm>
            <a:off x="687449" y="327175"/>
            <a:ext cx="52044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Gramática Tipo 2 en Lenguajes de Programación</a:t>
            </a:r>
            <a:endParaRPr b="0" i="0" sz="3000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87450" y="1387600"/>
            <a:ext cx="80628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Consideremos una gramática Tipo 2 que define un subconjunto simple de un lenguaje de programación: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87444" y="1654479"/>
            <a:ext cx="6130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S→if (E) S ∣ while (E) S ∣ begin S end ∣ statement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87444" y="1921358"/>
            <a:ext cx="6130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E→expresion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7445" y="2296881"/>
            <a:ext cx="75783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gramática representa estructuras básicas de control de flujo, como condicionales y bucles. Permite construir estructuras jerárquicas como: if (x &gt; 0) { statement; } else { statement; }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87445" y="2988872"/>
            <a:ext cx="7578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 ejemplo muestra cómo las gramáticas libres de contexto describen bloques sintácticos en lenguajes de programación, siendo fundamentales para el diseño de analizadores sintácticos.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87444" y="3539834"/>
            <a:ext cx="6130200" cy="1135800"/>
          </a:xfrm>
          <a:prstGeom prst="roundRect">
            <a:avLst>
              <a:gd fmla="val 1343" name="adj"/>
            </a:avLst>
          </a:prstGeom>
          <a:noFill/>
          <a:ln cap="flat" cmpd="sng" w="9525">
            <a:solidFill>
              <a:srgbClr val="FFFFFF">
                <a:alpha val="2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91254" y="3543644"/>
            <a:ext cx="6122400" cy="2820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792993" y="3608414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Símbolo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856114" y="3608414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Significado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91254" y="3825703"/>
            <a:ext cx="6122400" cy="282000"/>
          </a:xfrm>
          <a:prstGeom prst="rect">
            <a:avLst/>
          </a:prstGeom>
          <a:solidFill>
            <a:srgbClr val="000000">
              <a:alpha val="3137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92993" y="3890473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856114" y="3890473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Sentencia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91254" y="4107762"/>
            <a:ext cx="6122400" cy="2820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792993" y="4172532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856114" y="4172532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Expresión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91254" y="4389821"/>
            <a:ext cx="6122400" cy="282000"/>
          </a:xfrm>
          <a:prstGeom prst="rect">
            <a:avLst/>
          </a:prstGeom>
          <a:solidFill>
            <a:srgbClr val="000000">
              <a:alpha val="3137"/>
            </a:srgbClr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92993" y="4454591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if, while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856114" y="4454591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Palabras clave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/>
        </p:nvSpPr>
        <p:spPr>
          <a:xfrm>
            <a:off x="687450" y="462500"/>
            <a:ext cx="53400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21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Prácticas de Gramáticas Tipo 2 en Compiladores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87450" y="1418900"/>
            <a:ext cx="80151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la construcción de compiladores, el análisis sintáctico es un componente crucial que se basa en la gramática del lenguaje a compilar. Los compiladores de lenguajes como C o Java utilizan gramáticas libres de contexto para analizar el código fuente y verificar su conformidad con las reglas sintácticas del lenguaje.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687453" y="2180512"/>
            <a:ext cx="80151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 proceso es fundamental para la correcta interpretación y compilación del código, asegurando que las estructuras del lenguaje se utilicen de manera adecuada.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865026" y="3028681"/>
            <a:ext cx="294000" cy="11400"/>
          </a:xfrm>
          <a:prstGeom prst="roundRect">
            <a:avLst>
              <a:gd fmla="val 11024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60073" y="2977127"/>
            <a:ext cx="438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243978" y="2929458"/>
            <a:ext cx="17817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Léxico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243954" y="3218566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Tokenización del código fuente.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865026" y="3576368"/>
            <a:ext cx="294000" cy="11400"/>
          </a:xfrm>
          <a:prstGeom prst="roundRect">
            <a:avLst>
              <a:gd fmla="val 11024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48703" y="3524814"/>
            <a:ext cx="666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243978" y="3477119"/>
            <a:ext cx="20205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Sintáctico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243954" y="3791398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del árbol de análisis sintáctico.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65026" y="4124056"/>
            <a:ext cx="294000" cy="11400"/>
          </a:xfrm>
          <a:prstGeom prst="roundRect">
            <a:avLst>
              <a:gd fmla="val 11024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48583" y="4072502"/>
            <a:ext cx="669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43979" y="4024836"/>
            <a:ext cx="2370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Semántico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243954" y="4338446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Verificación de tipos y semántica.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65026" y="4671744"/>
            <a:ext cx="294000" cy="11400"/>
          </a:xfrm>
          <a:prstGeom prst="roundRect">
            <a:avLst>
              <a:gd fmla="val 11024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43047" y="4620190"/>
            <a:ext cx="777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243978" y="4572494"/>
            <a:ext cx="2275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Generación de Código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243954" y="4872891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b="0" i="0" lang="e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Producción del código objeto.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2900" y="2929438"/>
            <a:ext cx="3682627" cy="16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/>
        </p:nvSpPr>
        <p:spPr>
          <a:xfrm>
            <a:off x="567125" y="421625"/>
            <a:ext cx="52293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Gramáticas Tipo 2 en la Práctica: Expresiones Matemáticas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67125" y="1311900"/>
            <a:ext cx="8445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ejemplo clásico del uso de gramáticas libres de contexto es la descripción de expresiones matemáticas. Consideremos la siguiente gramática: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567131" y="1570852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→ E+T ∣ E−T ∣ 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67131" y="1765878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→ T∗F ∣ T/F ∣ F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67131" y="1950571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 → (E) ∣ id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67125" y="2135275"/>
            <a:ext cx="8310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gramática puede analizar expresiones como a+b∗c, determinando correctamente que la multiplicación debe realizarse antes que la suma. Esta capacidad es esencial en los lenguajes de programación para la evaluación correcta de expresiones matemáticas.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67125" y="4537425"/>
            <a:ext cx="2155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Montserrat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Árbol de Expresión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67125" y="4764249"/>
            <a:ext cx="3477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Representación jerárquica de una expresión matemática.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153141" y="4629222"/>
            <a:ext cx="17451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Montserrat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Precedencia de Operadores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04726" y="4833525"/>
            <a:ext cx="34092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Ilustración de la prioridad de operaciones matemáticas.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129" y="2567947"/>
            <a:ext cx="2792674" cy="189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625" y="2644112"/>
            <a:ext cx="3909375" cy="18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/>
        </p:nvSpPr>
        <p:spPr>
          <a:xfrm>
            <a:off x="512300" y="501000"/>
            <a:ext cx="655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21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Características de los Lenguajes Libres de Contexto</a:t>
            </a:r>
            <a:endParaRPr b="1" i="0" sz="3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12295" y="1053201"/>
            <a:ext cx="4835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lenguajes libres de contexto poseen características únicas que los distinguen de otros tipos de lenguajes formales. Entre estas se encuentran: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97782" y="2326277"/>
            <a:ext cx="516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33640" y="1936056"/>
            <a:ext cx="33789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Producciones Unidas a Símbolos No Terminales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820250" y="2374775"/>
            <a:ext cx="4593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reglas de producción sólo pueden tener un símbolo no terminal en el lado izquierdo, lo que les otorga independencia del contexto.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84387" y="3032734"/>
            <a:ext cx="783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33640" y="3029717"/>
            <a:ext cx="24534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Árboles de Derivación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33650" y="3188700"/>
            <a:ext cx="50583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cadenas de un LFC se pueden representar mediante árboles de derivación, cruciales en el análisis sintáctico de compiladores.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84268" y="3739191"/>
            <a:ext cx="786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833650" y="3739198"/>
            <a:ext cx="23133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Potencia de Expresividad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33644" y="3941100"/>
            <a:ext cx="4357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LFC son más expresivos que los lenguajes regulares, pudiendo describir estructuras más complejas que los autómatas finitos.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398" y="1190325"/>
            <a:ext cx="2657725" cy="28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3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Árboles de Derivación y Ambigüedad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550725" y="1142476"/>
            <a:ext cx="83241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árbol de derivación (o árbol sintáctico) muestra cómo se deriva una cadena a partir del símbolo inicial de la gramática aplicando las reglas de producción.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hojas del árbol representan símbolos terminales (tokens).</a:t>
            </a:r>
            <a:b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nodos internos son símbolos no terminales.</a:t>
            </a:r>
            <a:b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raíz es el símbolo inicial de la gramática.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900" y="2995374"/>
            <a:ext cx="6872101" cy="14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4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Ambigüedad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550725" y="1142476"/>
            <a:ext cx="83241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Una gramática ambigua es aquella para la cual una misma cadena puede tener más de un árbol de derivación distinto.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Esto causa confusión sobre el orden de evaluación y puede producir errores en el análisis sintáctico.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Ejemplo de ambigüedad: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651" y="2521050"/>
            <a:ext cx="7372248" cy="14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5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Forma Correcta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175" y="1114600"/>
            <a:ext cx="1651593" cy="15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/>
        </p:nvSpPr>
        <p:spPr>
          <a:xfrm>
            <a:off x="3419375" y="1937000"/>
            <a:ext cx="500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tiene mayor precedencia que </a:t>
            </a:r>
            <a:r>
              <a:rPr b="0" i="0" lang="es" sz="1100" u="none" cap="none" strike="noStrike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(multiplicación antes que suma).</a:t>
            </a:r>
            <a:b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0" i="0" lang="e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representa los elementos básicos (identificadores o valores).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2525" y="2778625"/>
            <a:ext cx="2053175" cy="20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5"/>
          <p:cNvSpPr txBox="1"/>
          <p:nvPr/>
        </p:nvSpPr>
        <p:spPr>
          <a:xfrm>
            <a:off x="5889650" y="3747000"/>
            <a:ext cx="122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+ (b * c)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6"/>
          <p:cNvSpPr txBox="1"/>
          <p:nvPr/>
        </p:nvSpPr>
        <p:spPr>
          <a:xfrm>
            <a:off x="1155245" y="1522445"/>
            <a:ext cx="6995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47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2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LA MAGIA DE LEER. PROYECTO INNOVADOR DE AULA | Piragua – Fuego y agua" id="244" name="Google Shape;2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700" y="3513775"/>
            <a:ext cx="1269425" cy="11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2929" y="2610848"/>
            <a:ext cx="2720349" cy="1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7"/>
          <p:cNvSpPr txBox="1"/>
          <p:nvPr/>
        </p:nvSpPr>
        <p:spPr>
          <a:xfrm>
            <a:off x="2202288" y="1392163"/>
            <a:ext cx="446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2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PERSEVERANCIA</a:t>
            </a:r>
            <a:endParaRPr b="1" i="0" sz="2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739050" y="1903475"/>
            <a:ext cx="7665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s" sz="155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Aborda problemas complejos como los autómatas de pila sin rendirse.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3" name="Google Shape;2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9275" y="2467250"/>
            <a:ext cx="3485426" cy="20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/>
        </p:nvSpPr>
        <p:spPr>
          <a:xfrm>
            <a:off x="896775" y="2316288"/>
            <a:ext cx="7921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100" lvl="1" marL="36830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400"/>
              <a:buFont typeface="Montserrat Medium"/>
              <a:buChar char="•"/>
            </a:pPr>
            <a:r>
              <a:rPr b="0" i="0" lang="es" sz="1400" u="sng" cap="none" strike="noStrike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https://tomassetti-me.translate.goog/parsing-in-javascript/?_x_tr_sl=en&amp;_x_tr_tl=es&amp;_x_tr_hl=es&amp;_x_tr_pto=tc</a:t>
            </a:r>
            <a:endParaRPr b="0" i="0" sz="1400" u="none" cap="none" strike="noStrike">
              <a:solidFill>
                <a:srgbClr val="15254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5100" lvl="1" marL="36830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400"/>
              <a:buFont typeface="Montserrat Medium"/>
              <a:buChar char="•"/>
            </a:pPr>
            <a:r>
              <a:rPr b="0" i="0" lang="es" sz="1400" u="sng" cap="none" strike="noStrike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https://nearley-js-org.translate.goog/docs/grammar?_x_tr_sl=en&amp;_x_tr_tl=es&amp;_x_tr_hl=es&amp;_x_tr_pto=tc\</a:t>
            </a:r>
            <a:endParaRPr b="0" i="0" sz="1400" u="none" cap="none" strike="noStrike">
              <a:solidFill>
                <a:srgbClr val="15254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1196171" y="1495696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REFERENCIAS 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150" y="3912675"/>
            <a:ext cx="2614851" cy="123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/>
        </p:nvSpPr>
        <p:spPr>
          <a:xfrm>
            <a:off x="1464825" y="1885488"/>
            <a:ext cx="62145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 ATENCIÓN!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2753107" y="2379377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7765363" y="0"/>
            <a:ext cx="1378634" cy="1885485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9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