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9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20"/>
      <p:bold r:id="rId21"/>
      <p:italic r:id="rId22"/>
      <p:boldItalic r:id="rId23"/>
    </p:embeddedFont>
    <p:embeddedFont>
      <p:font typeface="Impact" panose="020B0806030902050204" pitchFamily="34" charset="0"/>
      <p:regular r:id="rId24"/>
    </p:embeddedFont>
    <p:embeddedFont>
      <p:font typeface="Lobster" panose="020B0604020202020204" charset="0"/>
      <p:regular r:id="rId25"/>
    </p:embeddedFont>
    <p:embeddedFont>
      <p:font typeface="Montserrat" panose="020B0604020202020204" charset="0"/>
      <p:regular r:id="rId26"/>
      <p:bold r:id="rId27"/>
      <p:italic r:id="rId28"/>
      <p:boldItalic r:id="rId29"/>
    </p:embeddedFont>
    <p:embeddedFont>
      <p:font typeface="Montserrat Medium" panose="020B0604020202020204" charset="0"/>
      <p:regular r:id="rId30"/>
      <p:bold r:id="rId31"/>
      <p:italic r:id="rId32"/>
      <p:boldItalic r:id="rId33"/>
    </p:embeddedFont>
    <p:embeddedFont>
      <p:font typeface="Pacifico" panose="020B0604020202020204" charset="0"/>
      <p:regular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78E0754-4BC7-46A5-88BC-6FA6D8B0726F}">
  <a:tblStyle styleId="{778E0754-4BC7-46A5-88BC-6FA6D8B0726F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2" d="100"/>
          <a:sy n="142" d="100"/>
        </p:scale>
        <p:origin x="714" y="1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21" Type="http://schemas.openxmlformats.org/officeDocument/2006/relationships/font" Target="fonts/font2.fntdata"/><Relationship Id="rId34" Type="http://schemas.openxmlformats.org/officeDocument/2006/relationships/font" Target="fonts/font1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font" Target="fonts/font14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font" Target="fonts/font13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658278286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" name="Google Shape;63;g3658278286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658278286b_0_1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1" name="Google Shape;71;g3658278286b_0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658278286b_0_1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g3658278286b_0_1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658278286b_0_4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g3658278286b_0_4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658278286b_0_2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6" name="Google Shape;116;g3658278286b_0_2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658278286b_0_4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4" name="Google Shape;124;g3658278286b_0_4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658278286b_0_5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2" name="Google Shape;132;g3658278286b_0_5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658278286b_0_5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1" name="Google Shape;141;g3658278286b_0_5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658278286b_0_5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0" name="Google Shape;150;g3658278286b_0_5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658278286b_0_6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9" name="Google Shape;159;g3658278286b_0_6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658278286b_0_6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8" name="Google Shape;168;g3658278286b_0_6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658278286b_0_6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7" name="Google Shape;177;g3658278286b_0_6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658278286b_0_6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6" name="Google Shape;186;g3658278286b_0_6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658278286b_0_5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95" name="Google Shape;195;g3658278286b_0_5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658278286b_0_8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03" name="Google Shape;203;g3658278286b_0_8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658278286b_0_7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12" name="Google Shape;212;g3658278286b_0_7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658278286b_0_6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0" name="Google Shape;220;g3658278286b_0_6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 spd="med">
    <p:fade thruBlk="1"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2.pn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3.png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4"/>
          <p:cNvPicPr preferRelativeResize="0"/>
          <p:nvPr/>
        </p:nvPicPr>
        <p:blipFill rotWithShape="1">
          <a:blip r:embed="rId3">
            <a:alphaModFix amt="62000"/>
          </a:blip>
          <a:srcRect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6" name="Google Shape;66;p14"/>
          <p:cNvGraphicFramePr/>
          <p:nvPr>
            <p:extLst>
              <p:ext uri="{D42A27DB-BD31-4B8C-83A1-F6EECF244321}">
                <p14:modId xmlns:p14="http://schemas.microsoft.com/office/powerpoint/2010/main" val="3839842169"/>
              </p:ext>
            </p:extLst>
          </p:nvPr>
        </p:nvGraphicFramePr>
        <p:xfrm>
          <a:off x="3764250" y="970025"/>
          <a:ext cx="5254525" cy="792420"/>
        </p:xfrm>
        <a:graphic>
          <a:graphicData uri="http://schemas.openxmlformats.org/drawingml/2006/table">
            <a:tbl>
              <a:tblPr>
                <a:noFill/>
                <a:tableStyleId>{778E0754-4BC7-46A5-88BC-6FA6D8B0726F}</a:tableStyleId>
              </a:tblPr>
              <a:tblGrid>
                <a:gridCol w="2161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9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2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b="1" u="none" strike="noStrike" cap="none">
                          <a:solidFill>
                            <a:schemeClr val="dk1"/>
                          </a:solidFill>
                        </a:rPr>
                        <a:t>Día, Fecha:</a:t>
                      </a:r>
                      <a:endParaRPr sz="140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b="1" dirty="0"/>
                        <a:t>Martes XX de </a:t>
                      </a:r>
                      <a:r>
                        <a:rPr lang="es-GT" sz="1400" b="1" dirty="0"/>
                        <a:t>XXXX </a:t>
                      </a:r>
                      <a:r>
                        <a:rPr lang="es" sz="1400" b="1" dirty="0"/>
                        <a:t>de 202</a:t>
                      </a:r>
                      <a:r>
                        <a:rPr lang="es" b="1" dirty="0"/>
                        <a:t>6</a:t>
                      </a:r>
                      <a:endParaRPr sz="1400" b="1" u="none" strike="noStrike" cap="none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3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b="1" u="none" strike="noStrike" cap="none">
                          <a:solidFill>
                            <a:schemeClr val="dk1"/>
                          </a:solidFill>
                        </a:rPr>
                        <a:t>Hora de inicio:</a:t>
                      </a:r>
                      <a:endParaRPr sz="140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b="1" dirty="0"/>
                        <a:t>09</a:t>
                      </a:r>
                      <a:r>
                        <a:rPr lang="es" sz="1400" b="1" dirty="0"/>
                        <a:t>:</a:t>
                      </a:r>
                      <a:r>
                        <a:rPr lang="es" b="1" dirty="0"/>
                        <a:t>0</a:t>
                      </a:r>
                      <a:r>
                        <a:rPr lang="es" sz="1400" b="1" dirty="0"/>
                        <a:t>0 - 10:</a:t>
                      </a:r>
                      <a:r>
                        <a:rPr lang="es" b="1" dirty="0"/>
                        <a:t>4</a:t>
                      </a:r>
                      <a:r>
                        <a:rPr lang="es" sz="1400" b="1" dirty="0"/>
                        <a:t>0</a:t>
                      </a:r>
                      <a:endParaRPr sz="1400" b="1" u="none" strike="noStrike" cap="none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7" name="Google Shape;67;p14"/>
          <p:cNvSpPr txBox="1"/>
          <p:nvPr/>
        </p:nvSpPr>
        <p:spPr>
          <a:xfrm>
            <a:off x="1176000" y="2408988"/>
            <a:ext cx="67920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s" sz="2500" b="1" dirty="0"/>
              <a:t>Lenguajes Formales y De Programación</a:t>
            </a:r>
            <a:r>
              <a:rPr lang="es" sz="2500" b="1" i="0" u="none" strike="noStrike" cap="none" dirty="0">
                <a:solidFill>
                  <a:srgbClr val="000000"/>
                </a:solidFill>
              </a:rPr>
              <a:t> Xx</a:t>
            </a:r>
            <a:endParaRPr sz="2500" b="1" i="0" u="none" strike="noStrike" cap="none" dirty="0">
              <a:solidFill>
                <a:srgbClr val="000000"/>
              </a:solidFill>
            </a:endParaRPr>
          </a:p>
        </p:txBody>
      </p:sp>
      <p:sp>
        <p:nvSpPr>
          <p:cNvPr id="68" name="Google Shape;68;p14"/>
          <p:cNvSpPr txBox="1"/>
          <p:nvPr/>
        </p:nvSpPr>
        <p:spPr>
          <a:xfrm>
            <a:off x="2329050" y="2924125"/>
            <a:ext cx="44859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" sz="2000" b="1" dirty="0"/>
              <a:t>XXXX XXXX XXXX XXXX</a:t>
            </a:r>
            <a:endParaRPr sz="2000" b="1" i="0" u="none" strike="noStrike" cap="none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/>
          <p:nvPr/>
        </p:nvSpPr>
        <p:spPr>
          <a:xfrm>
            <a:off x="6270654" y="0"/>
            <a:ext cx="2873346" cy="855890"/>
          </a:xfrm>
          <a:custGeom>
            <a:avLst/>
            <a:gdLst/>
            <a:ahLst/>
            <a:cxnLst/>
            <a:rect l="l" t="t" r="r" b="b"/>
            <a:pathLst>
              <a:path w="5746691" h="1711780" extrusionOk="0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74" name="Google Shape;74;p15"/>
          <p:cNvSpPr txBox="1"/>
          <p:nvPr/>
        </p:nvSpPr>
        <p:spPr>
          <a:xfrm>
            <a:off x="873350" y="3661263"/>
            <a:ext cx="7533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s" sz="2400" b="1" i="0" u="none" strike="noStrike" cap="none">
                <a:solidFill>
                  <a:srgbClr val="131416"/>
                </a:solidFill>
                <a:latin typeface="Montserrat"/>
                <a:ea typeface="Montserrat"/>
                <a:cs typeface="Montserrat"/>
                <a:sym typeface="Montserrat"/>
              </a:rPr>
              <a:t>Lenguajes Formales y de Programación</a:t>
            </a:r>
            <a:endParaRPr sz="60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972600" y="2032213"/>
            <a:ext cx="71988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00"/>
              <a:buFont typeface="Arial"/>
              <a:buNone/>
            </a:pPr>
            <a:r>
              <a:rPr lang="es" sz="4600" b="1">
                <a:solidFill>
                  <a:srgbClr val="131416"/>
                </a:solidFill>
                <a:latin typeface="Montserrat"/>
                <a:ea typeface="Montserrat"/>
                <a:cs typeface="Montserrat"/>
                <a:sym typeface="Montserrat"/>
              </a:rPr>
              <a:t>Análisis Léxico</a:t>
            </a:r>
            <a:endParaRPr sz="70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6" name="Google Shape;76;p15"/>
          <p:cNvSpPr txBox="1"/>
          <p:nvPr/>
        </p:nvSpPr>
        <p:spPr>
          <a:xfrm>
            <a:off x="3738800" y="4022913"/>
            <a:ext cx="4668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200" b="1" i="0" u="none" strike="noStrike" cap="none">
                <a:solidFill>
                  <a:srgbClr val="131416"/>
                </a:solidFill>
                <a:latin typeface="Montserrat"/>
                <a:ea typeface="Montserrat"/>
                <a:cs typeface="Montserrat"/>
                <a:sym typeface="Montserrat"/>
              </a:rPr>
              <a:t>Escuela de Ingeniería de Ciencias Y Sistemas</a:t>
            </a:r>
            <a:endParaRPr sz="70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7" name="Google Shape;77;p15"/>
          <p:cNvSpPr txBox="1"/>
          <p:nvPr/>
        </p:nvSpPr>
        <p:spPr>
          <a:xfrm>
            <a:off x="6049700" y="4244163"/>
            <a:ext cx="2357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200" b="1" i="0" u="none" strike="noStrike" cap="none">
                <a:solidFill>
                  <a:srgbClr val="131416"/>
                </a:solidFill>
                <a:latin typeface="Montserrat"/>
                <a:ea typeface="Montserrat"/>
                <a:cs typeface="Montserrat"/>
                <a:sym typeface="Montserrat"/>
              </a:rPr>
              <a:t>Facultad de Ingeniería</a:t>
            </a:r>
            <a:endParaRPr sz="70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" name="Google Shape;78;p15"/>
          <p:cNvSpPr txBox="1"/>
          <p:nvPr/>
        </p:nvSpPr>
        <p:spPr>
          <a:xfrm>
            <a:off x="4122350" y="4465413"/>
            <a:ext cx="4284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200" b="1" i="0" u="none" strike="noStrike" cap="none">
                <a:solidFill>
                  <a:srgbClr val="131416"/>
                </a:solidFill>
                <a:latin typeface="Montserrat"/>
                <a:ea typeface="Montserrat"/>
                <a:cs typeface="Montserrat"/>
                <a:sym typeface="Montserrat"/>
              </a:rPr>
              <a:t>Universidad de San Carlos de Guatemala</a:t>
            </a:r>
            <a:endParaRPr sz="70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6"/>
          <p:cNvGrpSpPr/>
          <p:nvPr/>
        </p:nvGrpSpPr>
        <p:grpSpPr>
          <a:xfrm>
            <a:off x="913044" y="2066205"/>
            <a:ext cx="2057663" cy="778267"/>
            <a:chOff x="0" y="-76200"/>
            <a:chExt cx="1083836" cy="409938"/>
          </a:xfrm>
        </p:grpSpPr>
        <p:sp>
          <p:nvSpPr>
            <p:cNvPr id="85" name="Google Shape;85;p16"/>
            <p:cNvSpPr/>
            <p:nvPr/>
          </p:nvSpPr>
          <p:spPr>
            <a:xfrm>
              <a:off x="0" y="0"/>
              <a:ext cx="1083836" cy="333738"/>
            </a:xfrm>
            <a:custGeom>
              <a:avLst/>
              <a:gdLst/>
              <a:ahLst/>
              <a:cxnLst/>
              <a:rect l="l" t="t" r="r" b="b"/>
              <a:pathLst>
                <a:path w="1083836" h="333738" extrusionOk="0">
                  <a:moveTo>
                    <a:pt x="880636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880636" y="333738"/>
                  </a:lnTo>
                  <a:lnTo>
                    <a:pt x="1083836" y="166869"/>
                  </a:lnTo>
                  <a:lnTo>
                    <a:pt x="8806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86" name="Google Shape;86;p16"/>
            <p:cNvSpPr txBox="1"/>
            <p:nvPr/>
          </p:nvSpPr>
          <p:spPr>
            <a:xfrm>
              <a:off x="0" y="-76200"/>
              <a:ext cx="969600" cy="40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s" sz="1400" i="0" u="none" strike="noStrike" cap="none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RECORDATORIOS</a:t>
              </a:r>
              <a:endParaRPr sz="70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87" name="Google Shape;87;p16"/>
          <p:cNvSpPr/>
          <p:nvPr/>
        </p:nvSpPr>
        <p:spPr>
          <a:xfrm>
            <a:off x="532102" y="2237105"/>
            <a:ext cx="376946" cy="436464"/>
          </a:xfrm>
          <a:custGeom>
            <a:avLst/>
            <a:gdLst/>
            <a:ahLst/>
            <a:cxnLst/>
            <a:rect l="l" t="t" r="r" b="b"/>
            <a:pathLst>
              <a:path w="753892" h="872928" extrusionOk="0">
                <a:moveTo>
                  <a:pt x="0" y="0"/>
                </a:moveTo>
                <a:lnTo>
                  <a:pt x="753892" y="0"/>
                </a:lnTo>
                <a:lnTo>
                  <a:pt x="753892" y="872927"/>
                </a:lnTo>
                <a:lnTo>
                  <a:pt x="0" y="8729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88" name="Google Shape;88;p16"/>
          <p:cNvGrpSpPr/>
          <p:nvPr/>
        </p:nvGrpSpPr>
        <p:grpSpPr>
          <a:xfrm>
            <a:off x="5919652" y="2323179"/>
            <a:ext cx="2676912" cy="850600"/>
            <a:chOff x="0" y="-114300"/>
            <a:chExt cx="1410014" cy="448038"/>
          </a:xfrm>
        </p:grpSpPr>
        <p:sp>
          <p:nvSpPr>
            <p:cNvPr id="89" name="Google Shape;89;p16"/>
            <p:cNvSpPr/>
            <p:nvPr/>
          </p:nvSpPr>
          <p:spPr>
            <a:xfrm>
              <a:off x="0" y="0"/>
              <a:ext cx="1410014" cy="333738"/>
            </a:xfrm>
            <a:custGeom>
              <a:avLst/>
              <a:gdLst/>
              <a:ahLst/>
              <a:cxnLst/>
              <a:rect l="l" t="t" r="r" b="b"/>
              <a:pathLst>
                <a:path w="1410014" h="333738" extrusionOk="0">
                  <a:moveTo>
                    <a:pt x="1206814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1206814" y="333738"/>
                  </a:lnTo>
                  <a:lnTo>
                    <a:pt x="1410014" y="166869"/>
                  </a:lnTo>
                  <a:lnTo>
                    <a:pt x="12068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90" name="Google Shape;90;p16"/>
            <p:cNvSpPr txBox="1"/>
            <p:nvPr/>
          </p:nvSpPr>
          <p:spPr>
            <a:xfrm>
              <a:off x="59628" y="-114300"/>
              <a:ext cx="1295700" cy="44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801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lang="es" sz="2200" i="0" u="none" strike="noStrike" cap="none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Link del Video</a:t>
              </a:r>
              <a:endParaRPr sz="70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91" name="Google Shape;91;p16"/>
          <p:cNvSpPr/>
          <p:nvPr/>
        </p:nvSpPr>
        <p:spPr>
          <a:xfrm>
            <a:off x="305427" y="3253103"/>
            <a:ext cx="226679" cy="275047"/>
          </a:xfrm>
          <a:custGeom>
            <a:avLst/>
            <a:gdLst/>
            <a:ahLst/>
            <a:cxnLst/>
            <a:rect l="l" t="t" r="r" b="b"/>
            <a:pathLst>
              <a:path w="453358" h="550094" extrusionOk="0">
                <a:moveTo>
                  <a:pt x="0" y="0"/>
                </a:moveTo>
                <a:lnTo>
                  <a:pt x="453358" y="0"/>
                </a:lnTo>
                <a:lnTo>
                  <a:pt x="453358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92" name="Google Shape;92;p16"/>
          <p:cNvSpPr txBox="1"/>
          <p:nvPr/>
        </p:nvSpPr>
        <p:spPr>
          <a:xfrm>
            <a:off x="682375" y="3227600"/>
            <a:ext cx="48990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s" sz="1700">
                <a:solidFill>
                  <a:srgbClr val="152540"/>
                </a:solidFill>
                <a:latin typeface="Montserrat"/>
                <a:ea typeface="Montserrat"/>
                <a:cs typeface="Montserrat"/>
                <a:sym typeface="Montserrat"/>
              </a:rPr>
              <a:t>Conversión AFN A AFD Metodo del Arbol</a:t>
            </a:r>
            <a:endParaRPr sz="70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3" name="Google Shape;93;p16"/>
          <p:cNvSpPr txBox="1"/>
          <p:nvPr/>
        </p:nvSpPr>
        <p:spPr>
          <a:xfrm>
            <a:off x="305424" y="640244"/>
            <a:ext cx="3855300" cy="11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0"/>
              <a:buFont typeface="Arial"/>
              <a:buNone/>
            </a:pPr>
            <a:r>
              <a:rPr lang="es" sz="7500" b="0" i="0" u="none" strike="noStrike" cap="none">
                <a:solidFill>
                  <a:srgbClr val="131416"/>
                </a:solidFill>
                <a:latin typeface="Pacifico"/>
                <a:ea typeface="Pacifico"/>
                <a:cs typeface="Pacifico"/>
                <a:sym typeface="Pacifico"/>
              </a:rPr>
              <a:t>Agenda</a:t>
            </a:r>
            <a:endParaRPr sz="700" b="0" i="0" u="none" strike="noStrike" cap="none">
              <a:solidFill>
                <a:srgbClr val="000000"/>
              </a:solidFill>
              <a:latin typeface="Pacifico"/>
              <a:ea typeface="Pacifico"/>
              <a:cs typeface="Pacifico"/>
              <a:sym typeface="Pacifico"/>
            </a:endParaRPr>
          </a:p>
        </p:txBody>
      </p:sp>
      <p:sp>
        <p:nvSpPr>
          <p:cNvPr id="94" name="Google Shape;94;p16"/>
          <p:cNvSpPr txBox="1"/>
          <p:nvPr/>
        </p:nvSpPr>
        <p:spPr>
          <a:xfrm>
            <a:off x="5027845" y="1100602"/>
            <a:ext cx="4208400" cy="11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0"/>
              <a:buFont typeface="Arial"/>
              <a:buNone/>
            </a:pPr>
            <a:r>
              <a:rPr lang="es" sz="7500" b="0" i="0" u="none" strike="noStrike" cap="none">
                <a:solidFill>
                  <a:srgbClr val="131416"/>
                </a:solidFill>
                <a:latin typeface="Lobster"/>
                <a:ea typeface="Lobster"/>
                <a:cs typeface="Lobster"/>
                <a:sym typeface="Lobster"/>
              </a:rPr>
              <a:t>Recursos</a:t>
            </a:r>
            <a:endParaRPr sz="700" b="0" i="0" u="none" strike="noStrike" cap="none">
              <a:solidFill>
                <a:srgbClr val="000000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pic>
        <p:nvPicPr>
          <p:cNvPr id="95" name="Google Shape;95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23175" y="2884313"/>
            <a:ext cx="554100" cy="5541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6"/>
          <p:cNvSpPr/>
          <p:nvPr/>
        </p:nvSpPr>
        <p:spPr>
          <a:xfrm>
            <a:off x="4059802" y="2237099"/>
            <a:ext cx="376946" cy="436464"/>
          </a:xfrm>
          <a:custGeom>
            <a:avLst/>
            <a:gdLst/>
            <a:ahLst/>
            <a:cxnLst/>
            <a:rect l="l" t="t" r="r" b="b"/>
            <a:pathLst>
              <a:path w="753892" h="872928" extrusionOk="0">
                <a:moveTo>
                  <a:pt x="0" y="0"/>
                </a:moveTo>
                <a:lnTo>
                  <a:pt x="753892" y="0"/>
                </a:lnTo>
                <a:lnTo>
                  <a:pt x="753892" y="872927"/>
                </a:lnTo>
                <a:lnTo>
                  <a:pt x="0" y="8729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97" name="Google Shape;97;p16"/>
          <p:cNvSpPr txBox="1"/>
          <p:nvPr/>
        </p:nvSpPr>
        <p:spPr>
          <a:xfrm>
            <a:off x="3067275" y="2323181"/>
            <a:ext cx="1043400" cy="366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s" sz="1700" b="1" dirty="0">
                <a:solidFill>
                  <a:srgbClr val="152540"/>
                </a:solidFill>
                <a:latin typeface="Montserrat"/>
                <a:ea typeface="Montserrat"/>
                <a:cs typeface="Montserrat"/>
                <a:sym typeface="Montserrat"/>
              </a:rPr>
              <a:t>FORO </a:t>
            </a:r>
            <a:r>
              <a:rPr lang="es-GT" sz="1700" b="1" dirty="0">
                <a:solidFill>
                  <a:srgbClr val="152540"/>
                </a:solidFill>
                <a:latin typeface="Montserrat"/>
                <a:ea typeface="Montserrat"/>
                <a:cs typeface="Montserrat"/>
                <a:sym typeface="Montserrat"/>
              </a:rPr>
              <a:t>X</a:t>
            </a:r>
            <a:endParaRPr sz="700" b="1" i="0" u="none" strike="noStrike" cap="none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8" name="Google Shape;98;p16"/>
          <p:cNvSpPr/>
          <p:nvPr/>
        </p:nvSpPr>
        <p:spPr>
          <a:xfrm>
            <a:off x="6270654" y="0"/>
            <a:ext cx="2873346" cy="855890"/>
          </a:xfrm>
          <a:custGeom>
            <a:avLst/>
            <a:gdLst/>
            <a:ahLst/>
            <a:cxnLst/>
            <a:rect l="l" t="t" r="r" b="b"/>
            <a:pathLst>
              <a:path w="5746691" h="1711780" extrusionOk="0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99" name="Google Shape;99;p16"/>
          <p:cNvSpPr txBox="1"/>
          <p:nvPr/>
        </p:nvSpPr>
        <p:spPr>
          <a:xfrm>
            <a:off x="6077275" y="2961050"/>
            <a:ext cx="25530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latin typeface="Montserrat"/>
                <a:ea typeface="Montserrat"/>
                <a:cs typeface="Montserrat"/>
                <a:sym typeface="Montserrat"/>
              </a:rPr>
              <a:t>https://www.youtube.com/watch?v=aU8T03MBXuA&amp;t=1062s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0" name="Google Shape;100;p16"/>
          <p:cNvSpPr/>
          <p:nvPr/>
        </p:nvSpPr>
        <p:spPr>
          <a:xfrm>
            <a:off x="305427" y="3771853"/>
            <a:ext cx="226679" cy="275047"/>
          </a:xfrm>
          <a:custGeom>
            <a:avLst/>
            <a:gdLst/>
            <a:ahLst/>
            <a:cxnLst/>
            <a:rect l="l" t="t" r="r" b="b"/>
            <a:pathLst>
              <a:path w="453358" h="550094" extrusionOk="0">
                <a:moveTo>
                  <a:pt x="0" y="0"/>
                </a:moveTo>
                <a:lnTo>
                  <a:pt x="453358" y="0"/>
                </a:lnTo>
                <a:lnTo>
                  <a:pt x="453358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01" name="Google Shape;101;p16"/>
          <p:cNvSpPr txBox="1"/>
          <p:nvPr/>
        </p:nvSpPr>
        <p:spPr>
          <a:xfrm>
            <a:off x="682375" y="3778575"/>
            <a:ext cx="48990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s" sz="1700">
                <a:solidFill>
                  <a:srgbClr val="152540"/>
                </a:solidFill>
                <a:latin typeface="Montserrat"/>
                <a:ea typeface="Montserrat"/>
                <a:cs typeface="Montserrat"/>
                <a:sym typeface="Montserrat"/>
              </a:rPr>
              <a:t>Conversión AFN A AFD Anulables</a:t>
            </a:r>
            <a:endParaRPr sz="70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2" name="Google Shape;102;p16"/>
          <p:cNvSpPr/>
          <p:nvPr/>
        </p:nvSpPr>
        <p:spPr>
          <a:xfrm>
            <a:off x="305427" y="4290603"/>
            <a:ext cx="226679" cy="275047"/>
          </a:xfrm>
          <a:custGeom>
            <a:avLst/>
            <a:gdLst/>
            <a:ahLst/>
            <a:cxnLst/>
            <a:rect l="l" t="t" r="r" b="b"/>
            <a:pathLst>
              <a:path w="453358" h="550094" extrusionOk="0">
                <a:moveTo>
                  <a:pt x="0" y="0"/>
                </a:moveTo>
                <a:lnTo>
                  <a:pt x="453358" y="0"/>
                </a:lnTo>
                <a:lnTo>
                  <a:pt x="453358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03" name="Google Shape;103;p16"/>
          <p:cNvSpPr txBox="1"/>
          <p:nvPr/>
        </p:nvSpPr>
        <p:spPr>
          <a:xfrm>
            <a:off x="682375" y="4297325"/>
            <a:ext cx="4899000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s" sz="1700">
                <a:solidFill>
                  <a:srgbClr val="152540"/>
                </a:solidFill>
                <a:latin typeface="Montserrat"/>
                <a:ea typeface="Montserrat"/>
                <a:cs typeface="Montserrat"/>
                <a:sym typeface="Montserrat"/>
              </a:rPr>
              <a:t>Conversión AFN A AFD Cálculos de First, Last y Next</a:t>
            </a:r>
            <a:endParaRPr sz="70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7"/>
          <p:cNvSpPr txBox="1"/>
          <p:nvPr/>
        </p:nvSpPr>
        <p:spPr>
          <a:xfrm>
            <a:off x="1074220" y="1960170"/>
            <a:ext cx="6995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s" sz="3000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 Dudas clase anterior ?</a:t>
            </a:r>
            <a:endParaRPr sz="700" b="0" i="0" u="none" strike="noStrike" cap="non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09" name="Google Shape;109;p17"/>
          <p:cNvSpPr/>
          <p:nvPr/>
        </p:nvSpPr>
        <p:spPr>
          <a:xfrm>
            <a:off x="6270654" y="0"/>
            <a:ext cx="2873346" cy="855890"/>
          </a:xfrm>
          <a:custGeom>
            <a:avLst/>
            <a:gdLst/>
            <a:ahLst/>
            <a:cxnLst/>
            <a:rect l="l" t="t" r="r" b="b"/>
            <a:pathLst>
              <a:path w="5746691" h="1711780" extrusionOk="0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pic>
        <p:nvPicPr>
          <p:cNvPr id="110" name="Google Shape;110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10013" y="3409513"/>
            <a:ext cx="1733987" cy="173398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1" name="Google Shape;111;p17"/>
          <p:cNvGrpSpPr/>
          <p:nvPr/>
        </p:nvGrpSpPr>
        <p:grpSpPr>
          <a:xfrm>
            <a:off x="1006558" y="2405323"/>
            <a:ext cx="6884151" cy="778005"/>
            <a:chOff x="-1336127" y="-38032"/>
            <a:chExt cx="3626100" cy="409800"/>
          </a:xfrm>
        </p:grpSpPr>
        <p:sp>
          <p:nvSpPr>
            <p:cNvPr id="112" name="Google Shape;112;p17"/>
            <p:cNvSpPr/>
            <p:nvPr/>
          </p:nvSpPr>
          <p:spPr>
            <a:xfrm>
              <a:off x="0" y="0"/>
              <a:ext cx="1083836" cy="333738"/>
            </a:xfrm>
            <a:custGeom>
              <a:avLst/>
              <a:gdLst/>
              <a:ahLst/>
              <a:cxnLst/>
              <a:rect l="l" t="t" r="r" b="b"/>
              <a:pathLst>
                <a:path w="1083836" h="333738" extrusionOk="0">
                  <a:moveTo>
                    <a:pt x="880636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880636" y="333738"/>
                  </a:lnTo>
                  <a:lnTo>
                    <a:pt x="1083836" y="166869"/>
                  </a:lnTo>
                  <a:lnTo>
                    <a:pt x="8806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13" name="Google Shape;113;p17"/>
            <p:cNvSpPr txBox="1"/>
            <p:nvPr/>
          </p:nvSpPr>
          <p:spPr>
            <a:xfrm>
              <a:off x="-1336127" y="-38032"/>
              <a:ext cx="3626100" cy="40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s" sz="1600">
                  <a:latin typeface="Montserrat"/>
                  <a:ea typeface="Montserrat"/>
                  <a:cs typeface="Montserrat"/>
                  <a:sym typeface="Montserrat"/>
                </a:rPr>
                <a:t>Tema visto: </a:t>
              </a:r>
              <a:r>
                <a:rPr lang="es" sz="1700" b="1">
                  <a:solidFill>
                    <a:srgbClr val="15254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Autómatas Finitos</a:t>
              </a:r>
              <a:endParaRPr sz="1000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8"/>
          <p:cNvSpPr txBox="1"/>
          <p:nvPr/>
        </p:nvSpPr>
        <p:spPr>
          <a:xfrm>
            <a:off x="514350" y="944850"/>
            <a:ext cx="8198100" cy="98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s" sz="3000" b="1" i="0" strike="noStrike" cap="none">
                <a:solidFill>
                  <a:srgbClr val="131416"/>
                </a:solidFill>
                <a:latin typeface="Montserrat"/>
                <a:ea typeface="Montserrat"/>
                <a:cs typeface="Montserrat"/>
                <a:sym typeface="Montserrat"/>
              </a:rPr>
              <a:t>COMPETENCIA QUE DESARROLLAREMOS</a:t>
            </a:r>
            <a:endParaRPr sz="700" b="1" i="0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9" name="Google Shape;119;p18"/>
          <p:cNvSpPr txBox="1"/>
          <p:nvPr/>
        </p:nvSpPr>
        <p:spPr>
          <a:xfrm>
            <a:off x="555675" y="2237925"/>
            <a:ext cx="8115300" cy="11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s" sz="1900">
                <a:solidFill>
                  <a:srgbClr val="131416"/>
                </a:solidFill>
                <a:latin typeface="Montserrat"/>
                <a:ea typeface="Montserrat"/>
                <a:cs typeface="Montserrat"/>
                <a:sym typeface="Montserrat"/>
              </a:rPr>
              <a:t>Construir analizadores léxicos utilizando conocimientos de AFD, POO, recursividad y programación imperativa para definir cada estado del AFD</a:t>
            </a:r>
            <a:endParaRPr sz="10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0" name="Google Shape;120;p18"/>
          <p:cNvSpPr/>
          <p:nvPr/>
        </p:nvSpPr>
        <p:spPr>
          <a:xfrm>
            <a:off x="6270654" y="0"/>
            <a:ext cx="2873346" cy="855890"/>
          </a:xfrm>
          <a:custGeom>
            <a:avLst/>
            <a:gdLst/>
            <a:ahLst/>
            <a:cxnLst/>
            <a:rect l="l" t="t" r="r" b="b"/>
            <a:pathLst>
              <a:path w="5746691" h="1711780" extrusionOk="0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pic>
        <p:nvPicPr>
          <p:cNvPr id="121" name="Google Shape;121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46082" y="4160100"/>
            <a:ext cx="2097917" cy="98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9"/>
          <p:cNvSpPr/>
          <p:nvPr/>
        </p:nvSpPr>
        <p:spPr>
          <a:xfrm>
            <a:off x="6270654" y="0"/>
            <a:ext cx="2873346" cy="855890"/>
          </a:xfrm>
          <a:custGeom>
            <a:avLst/>
            <a:gdLst/>
            <a:ahLst/>
            <a:cxnLst/>
            <a:rect l="l" t="t" r="r" b="b"/>
            <a:pathLst>
              <a:path w="5746691" h="1711780" extrusionOk="0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27" name="Google Shape;127;p19"/>
          <p:cNvSpPr txBox="1"/>
          <p:nvPr/>
        </p:nvSpPr>
        <p:spPr>
          <a:xfrm>
            <a:off x="1148020" y="1237395"/>
            <a:ext cx="6995700" cy="7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s" sz="4700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DUDAS PROYECTO 1 ?</a:t>
            </a:r>
            <a:endParaRPr sz="2400" b="0" i="0" u="none" strike="noStrike" cap="non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128" name="Google Shape;128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05051" y="2021574"/>
            <a:ext cx="2481650" cy="248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0"/>
          <p:cNvSpPr/>
          <p:nvPr/>
        </p:nvSpPr>
        <p:spPr>
          <a:xfrm>
            <a:off x="6270654" y="0"/>
            <a:ext cx="2873346" cy="855890"/>
          </a:xfrm>
          <a:custGeom>
            <a:avLst/>
            <a:gdLst/>
            <a:ahLst/>
            <a:cxnLst/>
            <a:rect l="l" t="t" r="r" b="b"/>
            <a:pathLst>
              <a:path w="5746691" h="1711780" extrusionOk="0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35" name="Google Shape;135;p20"/>
          <p:cNvSpPr txBox="1"/>
          <p:nvPr/>
        </p:nvSpPr>
        <p:spPr>
          <a:xfrm>
            <a:off x="550725" y="626975"/>
            <a:ext cx="5502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Introducción a la conversión de AFN a AFD</a:t>
            </a:r>
            <a:endParaRPr sz="2400" b="0" i="0" u="none" strike="noStrike" cap="non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36" name="Google Shape;136;p20"/>
          <p:cNvSpPr txBox="1"/>
          <p:nvPr/>
        </p:nvSpPr>
        <p:spPr>
          <a:xfrm>
            <a:off x="550725" y="1251126"/>
            <a:ext cx="8324100" cy="350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</a:pPr>
            <a:r>
              <a:rPr lang="es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Un AFN (Autómata Finito No Determinista) puede tener múltiples transiciones para un mismo símbolo o incluso transiciones vacías (ε).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</a:pPr>
            <a:r>
              <a:rPr lang="es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Un AFD (Autómata Finito Determinista), en cambio, solo permite una transición por símbolo desde cada estado.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</a:pPr>
            <a:r>
              <a:rPr lang="es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La conversión de un AFN a un AFD permite simplificar el análisis léxico y facilitar la implementación de analizadores sintácticos.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12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 b="1">
                <a:solidFill>
                  <a:srgbClr val="131416"/>
                </a:solidFill>
                <a:latin typeface="Montserrat"/>
                <a:ea typeface="Montserrat"/>
                <a:cs typeface="Montserrat"/>
                <a:sym typeface="Montserrat"/>
              </a:rPr>
              <a:t>Método del Árbol (Representación Posicional</a:t>
            </a:r>
            <a:endParaRPr sz="12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endParaRPr sz="1200">
              <a:solidFill>
                <a:srgbClr val="131416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</a:pPr>
            <a:r>
              <a:rPr lang="es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 utiliza en el contexto de expresiones regulares convertidas a árboles sintácticos binarios.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</a:pPr>
            <a:r>
              <a:rPr lang="es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Cada hoja del árbol representa un símbolo de la expresión regular con una posición única.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342900" lvl="0" indent="-190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</a:pPr>
            <a:r>
              <a:rPr lang="es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 etiquetan nodos internos con operaciones como concatenación, unión (|), y cerradura (*).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342900" lvl="0" indent="-190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</a:pPr>
            <a:r>
              <a:rPr lang="es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 cada nodo se le calculan tres conjuntos: nullable, firstpos, y lastpos.</a:t>
            </a:r>
            <a:endParaRPr sz="1200">
              <a:solidFill>
                <a:schemeClr val="dk1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7" name="Google Shape;137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69050" y="4400825"/>
            <a:ext cx="831450" cy="597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1"/>
          <p:cNvSpPr/>
          <p:nvPr/>
        </p:nvSpPr>
        <p:spPr>
          <a:xfrm>
            <a:off x="6270654" y="0"/>
            <a:ext cx="2873346" cy="855890"/>
          </a:xfrm>
          <a:custGeom>
            <a:avLst/>
            <a:gdLst/>
            <a:ahLst/>
            <a:cxnLst/>
            <a:rect l="l" t="t" r="r" b="b"/>
            <a:pathLst>
              <a:path w="5746691" h="1711780" extrusionOk="0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44" name="Google Shape;144;p21"/>
          <p:cNvSpPr txBox="1"/>
          <p:nvPr/>
        </p:nvSpPr>
        <p:spPr>
          <a:xfrm>
            <a:off x="550725" y="626975"/>
            <a:ext cx="5502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Introducción a la conversión de AFN a AFD</a:t>
            </a:r>
            <a:endParaRPr sz="2400" b="0" i="0" u="none" strike="noStrike" cap="non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45" name="Google Shape;145;p21"/>
          <p:cNvSpPr txBox="1"/>
          <p:nvPr/>
        </p:nvSpPr>
        <p:spPr>
          <a:xfrm>
            <a:off x="550725" y="1251126"/>
            <a:ext cx="8324100" cy="34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 b="1">
                <a:solidFill>
                  <a:srgbClr val="131416"/>
                </a:solidFill>
                <a:latin typeface="Montserrat"/>
                <a:ea typeface="Montserrat"/>
                <a:cs typeface="Montserrat"/>
                <a:sym typeface="Montserrat"/>
              </a:rPr>
              <a:t>Cálculo de Nullable</a:t>
            </a:r>
            <a:endParaRPr sz="1100" b="1">
              <a:solidFill>
                <a:srgbClr val="131416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131416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●"/>
            </a:pPr>
            <a:r>
              <a:rPr lang="es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Nullable(n) indica si el subárbol en el nodo n puede derivar la cadena vacía (ε).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●"/>
            </a:pPr>
            <a:r>
              <a:rPr lang="es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Reglas generales: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○"/>
            </a:pPr>
            <a:r>
              <a:rPr lang="es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nullable(n) = True si n = ε o n = A* (cerradura).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○"/>
            </a:pPr>
            <a:r>
              <a:rPr lang="es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En una concatenación (·), nullable(n) = nullable(n1) and nullable(n2).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○"/>
            </a:pPr>
            <a:r>
              <a:rPr lang="es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En una unión (|), nullable(n) = nullable(n1) or nullable(n2).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131416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 b="1">
                <a:solidFill>
                  <a:srgbClr val="131416"/>
                </a:solidFill>
                <a:latin typeface="Montserrat"/>
                <a:ea typeface="Montserrat"/>
                <a:cs typeface="Montserrat"/>
                <a:sym typeface="Montserrat"/>
              </a:rPr>
              <a:t>Cálculo de Firstpos y Lastpos</a:t>
            </a:r>
            <a:endParaRPr sz="1100" b="1">
              <a:solidFill>
                <a:srgbClr val="131416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131416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●"/>
            </a:pPr>
            <a:r>
              <a:rPr lang="es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Firstpos(n): conjunto de posiciones (hojas) que pueden ser las primeras en aparecer en una cadena derivada del nodo n.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342900" lvl="0" indent="-190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●"/>
            </a:pPr>
            <a:r>
              <a:rPr lang="es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Lastpos(n): conjunto de posiciones (hojas) que pueden ser las últimas en aparecer en una cadena derivada del nodo n.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342900" lvl="0" indent="-190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●"/>
            </a:pPr>
            <a:r>
              <a:rPr lang="es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Las reglas dependen del tipo de operación (·, |, *) y si los operandos son anulables.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46" name="Google Shape;146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34175" y="4495484"/>
            <a:ext cx="854325" cy="613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2"/>
          <p:cNvSpPr/>
          <p:nvPr/>
        </p:nvSpPr>
        <p:spPr>
          <a:xfrm>
            <a:off x="6270654" y="0"/>
            <a:ext cx="2873346" cy="855890"/>
          </a:xfrm>
          <a:custGeom>
            <a:avLst/>
            <a:gdLst/>
            <a:ahLst/>
            <a:cxnLst/>
            <a:rect l="l" t="t" r="r" b="b"/>
            <a:pathLst>
              <a:path w="5746691" h="1711780" extrusionOk="0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53" name="Google Shape;153;p22"/>
          <p:cNvSpPr txBox="1"/>
          <p:nvPr/>
        </p:nvSpPr>
        <p:spPr>
          <a:xfrm>
            <a:off x="550725" y="626975"/>
            <a:ext cx="5502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Introducción a la conversión de AFN a AFD</a:t>
            </a:r>
            <a:endParaRPr sz="2400" b="0" i="0" u="none" strike="noStrike" cap="non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54" name="Google Shape;154;p22"/>
          <p:cNvSpPr txBox="1"/>
          <p:nvPr/>
        </p:nvSpPr>
        <p:spPr>
          <a:xfrm>
            <a:off x="550725" y="1181913"/>
            <a:ext cx="8324100" cy="306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 b="1">
                <a:solidFill>
                  <a:srgbClr val="131416"/>
                </a:solidFill>
                <a:latin typeface="Montserrat"/>
                <a:ea typeface="Montserrat"/>
                <a:cs typeface="Montserrat"/>
                <a:sym typeface="Montserrat"/>
              </a:rPr>
              <a:t>Cálculo de Nextpos</a:t>
            </a:r>
            <a:endParaRPr sz="1100" b="1">
              <a:solidFill>
                <a:srgbClr val="131416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131416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●"/>
            </a:pPr>
            <a:r>
              <a:rPr lang="es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Nextpos(p) se define para cada posición p en el árbol (es decir, cada hoja)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342900" lvl="0" indent="-19050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●"/>
            </a:pPr>
            <a:r>
              <a:rPr lang="es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Si hay una concatenación A·B y una posición p ∈ lastpos(A), entonces nextpos(p) ⊇ firstpos(B)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●"/>
            </a:pPr>
            <a:r>
              <a:rPr lang="es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En una cerradura A*, si p ∈ lastpos(A), entonces nextpos(p) ⊇ firstpos(A)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342900" lvl="0" indent="-19050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Construcción del AFD desde los conjuntos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b="1">
              <a:solidFill>
                <a:srgbClr val="131416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●"/>
            </a:pPr>
            <a:r>
              <a:rPr lang="es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Cada estado del AFD corresponde a un conjunto de posiciones (inicialmente firstpos de la raíz).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342900" lvl="0" indent="-19050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●"/>
            </a:pPr>
            <a:r>
              <a:rPr lang="es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 recorren los estados del AFD construyendo transiciones según el conjunto nextpos.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342900" lvl="0" indent="-19050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●"/>
            </a:pPr>
            <a:r>
              <a:rPr lang="es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Si dos posiciones comparten el mismo símbolo, se agrupan las nextpos en un nuevo estado.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342900" lvl="0" indent="-19050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●"/>
            </a:pPr>
            <a:r>
              <a:rPr lang="es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El estado que contiene la posición del símbolo '#' (fin de cadena) se considera estado de aceptación.</a:t>
            </a:r>
            <a:endParaRPr sz="1100" b="1">
              <a:solidFill>
                <a:srgbClr val="13141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55" name="Google Shape;155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34175" y="4495484"/>
            <a:ext cx="854325" cy="613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3"/>
          <p:cNvSpPr/>
          <p:nvPr/>
        </p:nvSpPr>
        <p:spPr>
          <a:xfrm>
            <a:off x="6270654" y="0"/>
            <a:ext cx="2873346" cy="855890"/>
          </a:xfrm>
          <a:custGeom>
            <a:avLst/>
            <a:gdLst/>
            <a:ahLst/>
            <a:cxnLst/>
            <a:rect l="l" t="t" r="r" b="b"/>
            <a:pathLst>
              <a:path w="5746691" h="1711780" extrusionOk="0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62" name="Google Shape;162;p23"/>
          <p:cNvSpPr txBox="1"/>
          <p:nvPr/>
        </p:nvSpPr>
        <p:spPr>
          <a:xfrm>
            <a:off x="550725" y="626975"/>
            <a:ext cx="55029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just" rtl="0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6098"/>
              <a:buFont typeface="Impact"/>
              <a:buNone/>
            </a:pPr>
            <a:r>
              <a:rPr lang="es" sz="1500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APLICACIONES POR MEDIO DE EJEMPLOS</a:t>
            </a:r>
            <a:endParaRPr sz="1500" b="0" i="0" u="none" strike="noStrike" cap="non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163" name="Google Shape;163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34175" y="4495484"/>
            <a:ext cx="854325" cy="61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2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245975" y="1057150"/>
            <a:ext cx="6066900" cy="362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4"/>
          <p:cNvSpPr/>
          <p:nvPr/>
        </p:nvSpPr>
        <p:spPr>
          <a:xfrm>
            <a:off x="6270654" y="0"/>
            <a:ext cx="2873346" cy="855890"/>
          </a:xfrm>
          <a:custGeom>
            <a:avLst/>
            <a:gdLst/>
            <a:ahLst/>
            <a:cxnLst/>
            <a:rect l="l" t="t" r="r" b="b"/>
            <a:pathLst>
              <a:path w="5746691" h="1711780" extrusionOk="0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71" name="Google Shape;171;p24"/>
          <p:cNvSpPr txBox="1"/>
          <p:nvPr/>
        </p:nvSpPr>
        <p:spPr>
          <a:xfrm>
            <a:off x="550725" y="626975"/>
            <a:ext cx="55029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just" rtl="0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APLICACIONES POR MEDIO DE EJEMPLOS</a:t>
            </a:r>
            <a:endParaRPr sz="1500" b="0" i="0" u="none" strike="noStrike" cap="non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172" name="Google Shape;172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34175" y="4495484"/>
            <a:ext cx="854325" cy="61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189313" y="1124924"/>
            <a:ext cx="4765375" cy="355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5"/>
          <p:cNvSpPr/>
          <p:nvPr/>
        </p:nvSpPr>
        <p:spPr>
          <a:xfrm>
            <a:off x="6270654" y="0"/>
            <a:ext cx="2873346" cy="855890"/>
          </a:xfrm>
          <a:custGeom>
            <a:avLst/>
            <a:gdLst/>
            <a:ahLst/>
            <a:cxnLst/>
            <a:rect l="l" t="t" r="r" b="b"/>
            <a:pathLst>
              <a:path w="5746691" h="1711780" extrusionOk="0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80" name="Google Shape;180;p25"/>
          <p:cNvSpPr txBox="1"/>
          <p:nvPr/>
        </p:nvSpPr>
        <p:spPr>
          <a:xfrm>
            <a:off x="550725" y="626975"/>
            <a:ext cx="55029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just" rtl="0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APLICACIONES POR MEDIO DE EJEMPLOS</a:t>
            </a:r>
            <a:endParaRPr sz="1500" b="0" i="0" u="none" strike="noStrike" cap="non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181" name="Google Shape;181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34175" y="4495484"/>
            <a:ext cx="854325" cy="61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42331" y="1095447"/>
            <a:ext cx="5382100" cy="356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6"/>
          <p:cNvSpPr/>
          <p:nvPr/>
        </p:nvSpPr>
        <p:spPr>
          <a:xfrm>
            <a:off x="6270654" y="0"/>
            <a:ext cx="2873346" cy="855890"/>
          </a:xfrm>
          <a:custGeom>
            <a:avLst/>
            <a:gdLst/>
            <a:ahLst/>
            <a:cxnLst/>
            <a:rect l="l" t="t" r="r" b="b"/>
            <a:pathLst>
              <a:path w="5746691" h="1711780" extrusionOk="0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89" name="Google Shape;189;p26"/>
          <p:cNvSpPr txBox="1"/>
          <p:nvPr/>
        </p:nvSpPr>
        <p:spPr>
          <a:xfrm>
            <a:off x="550725" y="626975"/>
            <a:ext cx="55029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just" rtl="0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APLICACIONES POR MEDIO DE EJEMPLOS</a:t>
            </a:r>
            <a:endParaRPr sz="1500" b="0" i="0" u="none" strike="noStrike" cap="non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190" name="Google Shape;190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34175" y="4495484"/>
            <a:ext cx="854325" cy="61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226338" y="1122975"/>
            <a:ext cx="6691325" cy="329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7"/>
          <p:cNvSpPr/>
          <p:nvPr/>
        </p:nvSpPr>
        <p:spPr>
          <a:xfrm>
            <a:off x="6270654" y="0"/>
            <a:ext cx="2873346" cy="855890"/>
          </a:xfrm>
          <a:custGeom>
            <a:avLst/>
            <a:gdLst/>
            <a:ahLst/>
            <a:cxnLst/>
            <a:rect l="l" t="t" r="r" b="b"/>
            <a:pathLst>
              <a:path w="5746691" h="1711780" extrusionOk="0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98" name="Google Shape;198;p27"/>
          <p:cNvSpPr txBox="1"/>
          <p:nvPr/>
        </p:nvSpPr>
        <p:spPr>
          <a:xfrm>
            <a:off x="1148020" y="1237395"/>
            <a:ext cx="6995700" cy="7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s" sz="4700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EJEMPLO PRÁCTICO</a:t>
            </a:r>
            <a:endParaRPr sz="2400" b="0" i="0" u="none" strike="noStrike" cap="non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199" name="Google Shape;199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11829" y="2031298"/>
            <a:ext cx="2720349" cy="1813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8"/>
          <p:cNvSpPr/>
          <p:nvPr/>
        </p:nvSpPr>
        <p:spPr>
          <a:xfrm>
            <a:off x="6270654" y="0"/>
            <a:ext cx="2873346" cy="855890"/>
          </a:xfrm>
          <a:custGeom>
            <a:avLst/>
            <a:gdLst/>
            <a:ahLst/>
            <a:cxnLst/>
            <a:rect l="l" t="t" r="r" b="b"/>
            <a:pathLst>
              <a:path w="5746691" h="1711780" extrusionOk="0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06" name="Google Shape;206;p28"/>
          <p:cNvSpPr txBox="1"/>
          <p:nvPr/>
        </p:nvSpPr>
        <p:spPr>
          <a:xfrm>
            <a:off x="2187788" y="1294400"/>
            <a:ext cx="4467600" cy="5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45720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050" b="1">
                <a:solidFill>
                  <a:schemeClr val="dk1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Compromiso</a:t>
            </a:r>
            <a:endParaRPr sz="3100"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7" name="Google Shape;207;p28"/>
          <p:cNvSpPr txBox="1"/>
          <p:nvPr/>
        </p:nvSpPr>
        <p:spPr>
          <a:xfrm>
            <a:off x="739050" y="1903475"/>
            <a:ext cx="76659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45720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50">
                <a:solidFill>
                  <a:schemeClr val="dk1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Se impulsa al conocer y aceptar activamente el programa del curso</a:t>
            </a:r>
            <a:endParaRPr sz="1300">
              <a:solidFill>
                <a:schemeClr val="dk1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08" name="Google Shape;208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49802" y="2421025"/>
            <a:ext cx="2044376" cy="2044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9"/>
          <p:cNvSpPr txBox="1"/>
          <p:nvPr/>
        </p:nvSpPr>
        <p:spPr>
          <a:xfrm>
            <a:off x="896770" y="2532360"/>
            <a:ext cx="7350600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68300" marR="0" lvl="1" indent="-184150" algn="just" rtl="0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152540"/>
              </a:buClr>
              <a:buSzPts val="1700"/>
              <a:buFont typeface="Montserrat Medium"/>
              <a:buChar char="•"/>
            </a:pPr>
            <a:r>
              <a:rPr lang="es" sz="1700">
                <a:solidFill>
                  <a:srgbClr val="15254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https://cs.famaf.unc.edu.ar/~hoffmann/md19/09.html</a:t>
            </a:r>
            <a:endParaRPr sz="700" i="0" u="none" strike="noStrike" cap="non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368300" marR="0" lvl="1" indent="-184150" algn="just" rtl="0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152540"/>
              </a:buClr>
              <a:buSzPts val="1700"/>
              <a:buFont typeface="Montserrat Medium"/>
              <a:buChar char="•"/>
            </a:pPr>
            <a:r>
              <a:rPr lang="es" sz="1700">
                <a:solidFill>
                  <a:srgbClr val="15254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https://swaminathanj.github.io/fsm/dfa.html</a:t>
            </a:r>
            <a:endParaRPr sz="700" i="0" u="none" strike="noStrike" cap="non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15" name="Google Shape;215;p29"/>
          <p:cNvSpPr txBox="1"/>
          <p:nvPr/>
        </p:nvSpPr>
        <p:spPr>
          <a:xfrm>
            <a:off x="1196096" y="1799946"/>
            <a:ext cx="67518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s" sz="3500" b="1" i="0" u="none" strike="noStrike" cap="none">
                <a:solidFill>
                  <a:srgbClr val="131416"/>
                </a:solidFill>
                <a:latin typeface="Montserrat"/>
                <a:ea typeface="Montserrat"/>
                <a:cs typeface="Montserrat"/>
                <a:sym typeface="Montserrat"/>
              </a:rPr>
              <a:t>REFERENCIAS </a:t>
            </a:r>
            <a:endParaRPr sz="700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6" name="Google Shape;216;p29"/>
          <p:cNvSpPr/>
          <p:nvPr/>
        </p:nvSpPr>
        <p:spPr>
          <a:xfrm>
            <a:off x="6270654" y="0"/>
            <a:ext cx="2873346" cy="855890"/>
          </a:xfrm>
          <a:custGeom>
            <a:avLst/>
            <a:gdLst/>
            <a:ahLst/>
            <a:cxnLst/>
            <a:rect l="l" t="t" r="r" b="b"/>
            <a:pathLst>
              <a:path w="5746691" h="1711780" extrusionOk="0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pic>
        <p:nvPicPr>
          <p:cNvPr id="217" name="Google Shape;217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29150" y="3912675"/>
            <a:ext cx="2614851" cy="1230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0"/>
          <p:cNvSpPr txBox="1"/>
          <p:nvPr/>
        </p:nvSpPr>
        <p:spPr>
          <a:xfrm>
            <a:off x="1464825" y="1885488"/>
            <a:ext cx="6214500" cy="94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s" sz="3000" b="1" i="0" u="none" strike="noStrike" cap="none">
                <a:solidFill>
                  <a:srgbClr val="131416"/>
                </a:solidFill>
                <a:latin typeface="Montserrat"/>
                <a:ea typeface="Montserrat"/>
                <a:cs typeface="Montserrat"/>
                <a:sym typeface="Montserrat"/>
              </a:rPr>
              <a:t>¡GRACIAS POR SU</a:t>
            </a:r>
            <a:r>
              <a:rPr lang="es" sz="3000" b="1">
                <a:solidFill>
                  <a:srgbClr val="131416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" sz="3000" b="1" i="0" u="none" strike="noStrike" cap="none">
                <a:solidFill>
                  <a:srgbClr val="131416"/>
                </a:solidFill>
                <a:latin typeface="Montserrat"/>
                <a:ea typeface="Montserrat"/>
                <a:cs typeface="Montserrat"/>
                <a:sym typeface="Montserrat"/>
              </a:rPr>
              <a:t>ATENCIÓN!</a:t>
            </a:r>
            <a:endParaRPr sz="700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endParaRPr sz="3000" b="1" i="0" u="none" strike="noStrike" cap="none">
              <a:solidFill>
                <a:srgbClr val="13141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3" name="Google Shape;223;p30"/>
          <p:cNvSpPr txBox="1"/>
          <p:nvPr/>
        </p:nvSpPr>
        <p:spPr>
          <a:xfrm>
            <a:off x="2753107" y="2379377"/>
            <a:ext cx="33525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s" sz="2500" b="1" i="0" u="none" strike="noStrike" cap="none">
                <a:solidFill>
                  <a:srgbClr val="131416"/>
                </a:solidFill>
                <a:latin typeface="Montserrat"/>
                <a:ea typeface="Montserrat"/>
                <a:cs typeface="Montserrat"/>
                <a:sym typeface="Montserrat"/>
              </a:rPr>
              <a:t>DUDAS</a:t>
            </a:r>
            <a:endParaRPr sz="700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4" name="Google Shape;224;p30"/>
          <p:cNvSpPr/>
          <p:nvPr/>
        </p:nvSpPr>
        <p:spPr>
          <a:xfrm>
            <a:off x="7765363" y="0"/>
            <a:ext cx="1378634" cy="1885485"/>
          </a:xfrm>
          <a:custGeom>
            <a:avLst/>
            <a:gdLst/>
            <a:ahLst/>
            <a:cxnLst/>
            <a:rect l="l" t="t" r="r" b="b"/>
            <a:pathLst>
              <a:path w="2757268" h="3770970" extrusionOk="0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25" name="Google Shape;225;p30"/>
          <p:cNvSpPr txBox="1"/>
          <p:nvPr/>
        </p:nvSpPr>
        <p:spPr>
          <a:xfrm>
            <a:off x="1205549" y="3949868"/>
            <a:ext cx="6732900" cy="3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" sz="1000" b="1" i="0" u="none" strike="noStrike" cap="none">
                <a:solidFill>
                  <a:srgbClr val="131416"/>
                </a:solidFill>
                <a:latin typeface="Montserrat"/>
                <a:ea typeface="Montserrat"/>
                <a:cs typeface="Montserrat"/>
                <a:sym typeface="Montserrat"/>
              </a:rPr>
              <a:t>RECUERDA QUE TENEMOS NUESTRO FORO SEMANAL DONDE PUEDES CONSULTAR CUALQUIER DUDA QUE TE SURJA EN LA SEMANA</a:t>
            </a:r>
            <a:endParaRPr sz="700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674</Words>
  <Application>Microsoft Office PowerPoint</Application>
  <PresentationFormat>On-screen Show (16:9)</PresentationFormat>
  <Paragraphs>88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Montserrat</vt:lpstr>
      <vt:lpstr>Impact</vt:lpstr>
      <vt:lpstr>Lobster</vt:lpstr>
      <vt:lpstr>Arial</vt:lpstr>
      <vt:lpstr>Montserrat Medium</vt:lpstr>
      <vt:lpstr>Calibri</vt:lpstr>
      <vt:lpstr>Pacifico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Kev M</cp:lastModifiedBy>
  <cp:revision>5</cp:revision>
  <dcterms:modified xsi:type="dcterms:W3CDTF">2026-05-08T17:03:42Z</dcterms:modified>
</cp:coreProperties>
</file>