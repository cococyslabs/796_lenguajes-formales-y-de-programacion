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Impact" panose="020B0806030902050204" pitchFamily="34" charset="0"/>
      <p:regular r:id="rId26"/>
    </p:embeddedFont>
    <p:embeddedFont>
      <p:font typeface="Montserrat" panose="020B0604020202020204" charset="0"/>
      <p:regular r:id="rId27"/>
      <p:bold r:id="rId28"/>
      <p:italic r:id="rId29"/>
      <p:boldItalic r:id="rId30"/>
    </p:embeddedFont>
    <p:embeddedFont>
      <p:font typeface="Montserrat Medium" panose="020B0604020202020204" charset="0"/>
      <p:regular r:id="rId31"/>
      <p:bold r:id="rId32"/>
      <p:italic r:id="rId33"/>
      <p:boldItalic r:id="rId34"/>
    </p:embeddedFont>
    <p:embeddedFont>
      <p:font typeface="Pacifico" panose="020B060402020202020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F13AA4-78CF-4B56-8CF5-2006037D8054}">
  <a:tblStyle styleId="{EFF13AA4-78CF-4B56-8CF5-2006037D805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8d38532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68d38532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8d38532d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" name="Google Shape;60;g368d38532d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8d38532d6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g368d38532d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8d38532d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g368d38532d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8d38532d6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368d38532d6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8d38532d6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g368d38532d6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8d38532d6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68d38532d6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8d38532d6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368d38532d6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b4cce136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d3b4cce13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b4cce136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d3b4cce136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3b4cce136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3d3b4cce136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3b4cce13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g3d3b4cce13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8d38532d6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g368d38532d6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8d38532d6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g368d38532d6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8d38532d6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68d38532d6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8d38532d6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368d38532d6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8d38532d6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368d38532d6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8d38532d6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g368d38532d6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8d38532d6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g368d38532d6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omassetti-me.translate.goog/parsing-in-javascript/?_x_tr_sl=en&amp;_x_tr_tl=es&amp;_x_tr_hl=es&amp;_x_tr_pto=tc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hyperlink" Target="https://nearley-js-org.translate.goog/docs/grammar?_x_tr_sl=en&amp;_x_tr_tl=es&amp;_x_tr_hl=es&amp;_x_tr_pto=tc%5C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3164270479"/>
              </p:ext>
            </p:extLst>
          </p:nvPr>
        </p:nvGraphicFramePr>
        <p:xfrm>
          <a:off x="3764250" y="970025"/>
          <a:ext cx="5254525" cy="792420"/>
        </p:xfrm>
        <a:graphic>
          <a:graphicData uri="http://schemas.openxmlformats.org/drawingml/2006/table">
            <a:tbl>
              <a:tblPr>
                <a:noFill/>
                <a:tableStyleId>{EFF13AA4-78CF-4B56-8CF5-2006037D8054}</a:tableStyleId>
              </a:tblPr>
              <a:tblGrid>
                <a:gridCol w="216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b="1" dirty="0"/>
                        <a:t>Martes XX de XXXX de 2026</a:t>
                      </a:r>
                      <a:endParaRPr sz="1400" b="1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b="1" dirty="0"/>
                        <a:t>09</a:t>
                      </a:r>
                      <a:r>
                        <a:rPr lang="es" sz="1400" b="1" dirty="0"/>
                        <a:t>:</a:t>
                      </a:r>
                      <a:r>
                        <a:rPr lang="es" b="1" dirty="0"/>
                        <a:t>00</a:t>
                      </a:r>
                      <a:r>
                        <a:rPr lang="es" sz="1400" b="1" dirty="0"/>
                        <a:t> - </a:t>
                      </a:r>
                      <a:r>
                        <a:rPr lang="es" b="1" dirty="0"/>
                        <a:t>10</a:t>
                      </a:r>
                      <a:r>
                        <a:rPr lang="es" sz="1400" b="1" dirty="0"/>
                        <a:t>:</a:t>
                      </a:r>
                      <a:r>
                        <a:rPr lang="es" b="1" dirty="0"/>
                        <a:t>40</a:t>
                      </a:r>
                      <a:endParaRPr sz="1400" b="1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176000" y="2384388"/>
            <a:ext cx="67920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dirty="0"/>
              <a:t>Lenguajes Formales y De Programación</a:t>
            </a:r>
            <a:r>
              <a:rPr lang="es" sz="2500" b="1" i="0" u="none" strike="noStrike" cap="none" dirty="0">
                <a:solidFill>
                  <a:srgbClr val="000000"/>
                </a:solidFill>
              </a:rPr>
              <a:t> Xx</a:t>
            </a:r>
            <a:r>
              <a:rPr lang="es" sz="2500" b="1" dirty="0"/>
              <a:t>	</a:t>
            </a:r>
            <a:endParaRPr sz="25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621500" y="2889025"/>
            <a:ext cx="448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000000"/>
                </a:solidFill>
              </a:rPr>
              <a:t>XXXX XXXX XXXX XXXX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3" name="Google Shape;63;p14"/>
          <p:cNvSpPr txBox="1"/>
          <p:nvPr/>
        </p:nvSpPr>
        <p:spPr>
          <a:xfrm>
            <a:off x="873350" y="3547236"/>
            <a:ext cx="75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400" b="1" i="0" u="none" strike="noStrike" cap="none" dirty="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sz="60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972600" y="2032213"/>
            <a:ext cx="7198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" sz="46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Análisis Sintáctico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738800" y="4022913"/>
            <a:ext cx="466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Ingeniería de Ciencias Y Sistemas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049700" y="4244163"/>
            <a:ext cx="235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122350" y="4465413"/>
            <a:ext cx="4284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32102" y="2237105"/>
            <a:ext cx="376946" cy="436464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" name="Google Shape;74;p15"/>
          <p:cNvSpPr/>
          <p:nvPr/>
        </p:nvSpPr>
        <p:spPr>
          <a:xfrm>
            <a:off x="305424" y="3075408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75" name="Google Shape;75;p15"/>
          <p:cNvGrpSpPr/>
          <p:nvPr/>
        </p:nvGrpSpPr>
        <p:grpSpPr>
          <a:xfrm>
            <a:off x="913044" y="2066205"/>
            <a:ext cx="2057663" cy="778267"/>
            <a:chOff x="0" y="-76200"/>
            <a:chExt cx="1083836" cy="409938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7" name="Google Shape;77;p15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i="0" u="none" strike="noStrike" cap="none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RECORDATORIOS</a:t>
              </a:r>
              <a:endParaRPr sz="70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682374" y="3037488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dirty="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Función del Analizador Sintáctico</a:t>
            </a:r>
            <a:endParaRPr sz="70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05424" y="640244"/>
            <a:ext cx="3855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s" sz="75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7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087417" y="1946738"/>
            <a:ext cx="376946" cy="436464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1" name="Google Shape;81;p15"/>
          <p:cNvSpPr txBox="1"/>
          <p:nvPr/>
        </p:nvSpPr>
        <p:spPr>
          <a:xfrm>
            <a:off x="3044017" y="2118722"/>
            <a:ext cx="1043400" cy="36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b="1" dirty="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FORO </a:t>
            </a:r>
            <a:r>
              <a:rPr lang="es-GT" sz="1700" b="1" dirty="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sz="700" b="1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3" name="Google Shape;83;p15"/>
          <p:cNvSpPr/>
          <p:nvPr/>
        </p:nvSpPr>
        <p:spPr>
          <a:xfrm>
            <a:off x="305426" y="3502699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682374" y="3509421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Lenguajes Libres de Contexto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05426" y="4021449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5"/>
          <p:cNvSpPr txBox="1"/>
          <p:nvPr/>
        </p:nvSpPr>
        <p:spPr>
          <a:xfrm>
            <a:off x="682374" y="4028171"/>
            <a:ext cx="489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152540"/>
                </a:solidFill>
                <a:latin typeface="Montserrat"/>
                <a:ea typeface="Montserrat"/>
                <a:cs typeface="Montserrat"/>
                <a:sym typeface="Montserrat"/>
              </a:rPr>
              <a:t>Árboles de Derivación y Ambigüedad</a:t>
            </a:r>
            <a:endParaRPr sz="70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1074220" y="1960170"/>
            <a:ext cx="699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Dudas clase anterior ?</a:t>
            </a:r>
            <a:endParaRPr sz="7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0013" y="3409513"/>
            <a:ext cx="1733987" cy="173398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3543194" y="2477528"/>
            <a:ext cx="2057663" cy="633602"/>
          </a:xfrm>
          <a:custGeom>
            <a:avLst/>
            <a:gdLst/>
            <a:ahLst/>
            <a:cxnLst/>
            <a:rect l="l" t="t" r="r" b="b"/>
            <a:pathLst>
              <a:path w="1083836" h="333738" extrusionOk="0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555675" y="1683775"/>
            <a:ext cx="8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2400" b="1" i="0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COMPETENCIA QUE DESARROLLAREMOS</a:t>
            </a:r>
            <a:endParaRPr sz="100" b="1" i="0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55675" y="2237925"/>
            <a:ext cx="81153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El estudiante genera gramáticas libres de</a:t>
            </a:r>
            <a:endParaRPr sz="19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contexto mediante el análisis sintáctico para</a:t>
            </a:r>
            <a:endParaRPr sz="19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1900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reconocer lenguajes formales.</a:t>
            </a:r>
            <a:endParaRPr sz="1900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6082" y="4160100"/>
            <a:ext cx="2097917" cy="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18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Que es el analizador Sintáctico ?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550725" y="1251126"/>
            <a:ext cx="83241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analizador sintáctico (también conocido como parser) es una parte fundamental del compilador o intérprete que se encarga de verificar la estructura gramatical del código fuente.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 función principal es comprobar que la secuencia de tokens generada por el analizador léxico cumpla con las reglas gramaticales del lenguaje.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Trabaja sobre una gramática libre de contexto (GLC).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 los tokens en una estructura jerárquica que representa la sintaxis del programa.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Detecta errores de estructura, como paréntesis desbalanceados, operadores mal colocados o instrucciones incompletas.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500" y="3461149"/>
            <a:ext cx="1333000" cy="14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9" name="Google Shape;119;p19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Funciones de un Analizador Sintáctico: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550725" y="1251126"/>
            <a:ext cx="8324100" cy="3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 analizador sintáctico cumple varias funciones esenciales dentro del proceso de compilación: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Comprobación sintáctica: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Verifica que la secuencia de tokens siga las reglas de la gramática definida para el lenguaje.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del árbol de derivación: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 una representación jerárquica que muestra cómo se derivan las expresiones del programa según la gramática.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Detección y recuperación de errores: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 el código no cumple con las reglas sintácticas, el analizador reporta errores y, en algunos casos, intenta continuar el análisis.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Interfaz con el analizador semántico:</a:t>
            </a:r>
            <a:b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Entrega una estructura organizada (por ejemplo, un árbol de sintaxis) para las etapas posteriores del compilador, como la verificación de tipos o la generación de código intermedio.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20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Lenguajes Libres de Contexto (GLC)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550725" y="1251126"/>
            <a:ext cx="83241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lenguaje libre de contexto (GLC) es aquel que puede describirse mediante una gramática libre de contexto, donde cada regla de producción tiene la forma: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Estos lenguajes son los más adecuados para definir la </a:t>
            </a:r>
            <a:r>
              <a:rPr lang="e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sintaxis de los lenguajes de programación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analizadores sintácticos (como los LL, LR, SLR o LALR) se basan en estas gramáticas.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Ejemplo: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125" y="1623050"/>
            <a:ext cx="2873350" cy="116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0075" y="3556352"/>
            <a:ext cx="3057426" cy="13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2144325" y="3908950"/>
            <a:ext cx="188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E : expression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T : Term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Montserrat"/>
                <a:ea typeface="Montserrat"/>
                <a:cs typeface="Montserrat"/>
                <a:sym typeface="Montserrat"/>
              </a:rPr>
              <a:t>F : Factor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87449" y="327175"/>
            <a:ext cx="5204400" cy="9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Gramática Tipo 2 en Lenguajes de Programación</a:t>
            </a:r>
            <a:endParaRPr sz="3000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687450" y="1387600"/>
            <a:ext cx="8062800" cy="2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Consideremos una gramática Tipo 2 que define un subconjunto simple de un lenguaje de programación: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687444" y="1654479"/>
            <a:ext cx="6130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S→if (E) S ∣ while (E) S ∣ begin S end ∣ statement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87444" y="1921358"/>
            <a:ext cx="6130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E→expresion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687445" y="2296881"/>
            <a:ext cx="7578300" cy="2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gramática representa estructuras básicas de control de flujo, como condicionales y bucles. Permite construir estructuras jerárquicas como: if (x &gt; 0) { statement; } else { statement; }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687445" y="2988872"/>
            <a:ext cx="7578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 ejemplo muestra cómo las gramáticas libres de contexto describen bloques sintácticos en lenguajes de programación, siendo fundamentales para el diseño de analizadores sintácticos.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687444" y="3539834"/>
            <a:ext cx="6130200" cy="1135800"/>
          </a:xfrm>
          <a:prstGeom prst="roundRect">
            <a:avLst>
              <a:gd name="adj" fmla="val 1343"/>
            </a:avLst>
          </a:prstGeom>
          <a:noFill/>
          <a:ln w="9525" cap="flat" cmpd="sng">
            <a:solidFill>
              <a:srgbClr val="FFFFFF">
                <a:alpha val="2314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691254" y="3543644"/>
            <a:ext cx="6122400" cy="282000"/>
          </a:xfrm>
          <a:prstGeom prst="rect">
            <a:avLst/>
          </a:prstGeom>
          <a:solidFill>
            <a:srgbClr val="FFFFFF">
              <a:alpha val="3140"/>
            </a:srgbClr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792993" y="3608414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Símbolo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3856114" y="3608414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Significado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691254" y="3825703"/>
            <a:ext cx="6122400" cy="282000"/>
          </a:xfrm>
          <a:prstGeom prst="rect">
            <a:avLst/>
          </a:prstGeom>
          <a:solidFill>
            <a:srgbClr val="000000">
              <a:alpha val="3140"/>
            </a:srgbClr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92993" y="3890473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3856114" y="3890473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Sentencia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691254" y="4107762"/>
            <a:ext cx="6122400" cy="282000"/>
          </a:xfrm>
          <a:prstGeom prst="rect">
            <a:avLst/>
          </a:prstGeom>
          <a:solidFill>
            <a:srgbClr val="FFFFFF">
              <a:alpha val="3140"/>
            </a:srgbClr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792993" y="4172532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856114" y="4172532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Expresión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691254" y="4389821"/>
            <a:ext cx="6122400" cy="282000"/>
          </a:xfrm>
          <a:prstGeom prst="rect">
            <a:avLst/>
          </a:prstGeom>
          <a:solidFill>
            <a:srgbClr val="000000">
              <a:alpha val="3140"/>
            </a:srgbClr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792993" y="4454591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if, while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3856114" y="4454591"/>
            <a:ext cx="285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Palabras clave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/>
        </p:nvSpPr>
        <p:spPr>
          <a:xfrm>
            <a:off x="687450" y="462500"/>
            <a:ext cx="53400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21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Prácticas de Gramáticas Tipo 2 en Compiladores</a:t>
            </a:r>
            <a:endParaRPr sz="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687450" y="1418900"/>
            <a:ext cx="8015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la construcción de compiladores, el análisis sintáctico es un componente crucial que se basa en la gramática del lenguaje a compilar. Los compiladores de lenguajes como C o Java utilizan gramáticas libres de contexto para analizar el código fuente y verificar su conformidad con las reglas sintácticas del lenguaje.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87453" y="2180512"/>
            <a:ext cx="8015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 proceso es fundamental para la correcta interpretación y compilación del código, asegurando que las estructuras del lenguaje se utilicen de manera adecuada.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865026" y="3028681"/>
            <a:ext cx="294000" cy="11400"/>
          </a:xfrm>
          <a:prstGeom prst="roundRect">
            <a:avLst>
              <a:gd name="adj" fmla="val 110247"/>
            </a:avLst>
          </a:prstGeom>
          <a:solidFill>
            <a:srgbClr val="494A4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760073" y="2977127"/>
            <a:ext cx="438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1243978" y="2929458"/>
            <a:ext cx="17817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Léxico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1243954" y="3218566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Tokenización del código fuente.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865026" y="3576368"/>
            <a:ext cx="294000" cy="11400"/>
          </a:xfrm>
          <a:prstGeom prst="roundRect">
            <a:avLst>
              <a:gd name="adj" fmla="val 110247"/>
            </a:avLst>
          </a:prstGeom>
          <a:solidFill>
            <a:srgbClr val="494A4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748703" y="3524814"/>
            <a:ext cx="666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1243978" y="3477119"/>
            <a:ext cx="20205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Sintáctico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1243954" y="3791398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del árbol de análisis sintáctico.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865026" y="4124056"/>
            <a:ext cx="294000" cy="11400"/>
          </a:xfrm>
          <a:prstGeom prst="roundRect">
            <a:avLst>
              <a:gd name="adj" fmla="val 110247"/>
            </a:avLst>
          </a:prstGeom>
          <a:solidFill>
            <a:srgbClr val="494A4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748583" y="4072502"/>
            <a:ext cx="669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1243979" y="4024836"/>
            <a:ext cx="23709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Análisis Semántico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1243954" y="4338446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Verificación de tipos y semántica.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65026" y="4671744"/>
            <a:ext cx="294000" cy="11400"/>
          </a:xfrm>
          <a:prstGeom prst="roundRect">
            <a:avLst>
              <a:gd name="adj" fmla="val 110247"/>
            </a:avLst>
          </a:prstGeom>
          <a:solidFill>
            <a:srgbClr val="494A4B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743047" y="4620190"/>
            <a:ext cx="77700" cy="1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1243978" y="4572494"/>
            <a:ext cx="22752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ontserrat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Generación de Código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243954" y="4872891"/>
            <a:ext cx="3396000" cy="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Arial"/>
              <a:buNone/>
            </a:pPr>
            <a:r>
              <a:rPr lang="es" sz="1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Producción del código objeto.</a:t>
            </a:r>
            <a:endParaRPr sz="10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2900" y="2929438"/>
            <a:ext cx="3682627" cy="16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567125" y="421625"/>
            <a:ext cx="5229300" cy="8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22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Gramáticas Tipo 2 en la Práctica: Expresiones Matemáticas</a:t>
            </a:r>
            <a:endParaRPr sz="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567125" y="1311900"/>
            <a:ext cx="84459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ejemplo clásico del uso de gramáticas libres de contexto es la descripción de expresiones matemáticas. Consideremos la siguiente gramática: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567131" y="1570852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→ E+T ∣ E−T ∣ T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567131" y="1765878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 → T∗F ∣ T/F ∣ F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567131" y="1950571"/>
            <a:ext cx="6130200" cy="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 → (E) ∣ id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567125" y="2135275"/>
            <a:ext cx="8310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gramática puede analizar expresiones como a+b∗c, determinando correctamente que la multiplicación debe realizarse antes que la suma. Esta capacidad es esencial en los lenguajes de programación para la evaluación correcta de expresiones matemáticas.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567125" y="4537425"/>
            <a:ext cx="21558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Montserrat"/>
              <a:buNone/>
            </a:pPr>
            <a:r>
              <a:rPr lang="es" sz="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Árbol de Expresión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567125" y="4764249"/>
            <a:ext cx="34776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Representación jerárquica de una expresión matemática.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6153141" y="4629222"/>
            <a:ext cx="17451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700"/>
              <a:buFont typeface="Montserrat"/>
              <a:buNone/>
            </a:pPr>
            <a:r>
              <a:rPr lang="es" sz="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Precedencia de Operadores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404726" y="4833525"/>
            <a:ext cx="3409200" cy="1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166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600"/>
              <a:buFont typeface="Arial"/>
              <a:buNone/>
            </a:pPr>
            <a:r>
              <a:rPr lang="es" sz="9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Ilustración de la prioridad de operaciones matemáticas.</a:t>
            </a:r>
            <a:endParaRPr sz="9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129" y="2567947"/>
            <a:ext cx="2792674" cy="189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1625" y="2644112"/>
            <a:ext cx="3909375" cy="18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/>
        </p:nvSpPr>
        <p:spPr>
          <a:xfrm>
            <a:off x="512300" y="501000"/>
            <a:ext cx="655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2100" b="1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Características de los Lenguajes Libres de Contexto</a:t>
            </a:r>
            <a:endParaRPr sz="300" b="1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512295" y="1053201"/>
            <a:ext cx="48351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lenguajes libres de contexto poseen características únicas que los distinguen de otros tipos de lenguajes formales. Entre estas se encuentran:</a:t>
            </a:r>
            <a:endParaRPr sz="12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97782" y="2326277"/>
            <a:ext cx="516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833640" y="1936056"/>
            <a:ext cx="33789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Producciones Unidas a Símbolos No Terminales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820250" y="2374775"/>
            <a:ext cx="45939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reglas de producción sólo pueden tener un símbolo no terminal en el lado izquierdo, lo que les otorga independencia del contexto.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584387" y="3032734"/>
            <a:ext cx="783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833640" y="3029717"/>
            <a:ext cx="24534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Árboles de Derivación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833650" y="3188700"/>
            <a:ext cx="50583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cadenas de un LFC se pueden representar mediante árboles de derivación, cruciales en el análisis sintáctico de compiladores.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584268" y="3739191"/>
            <a:ext cx="786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833650" y="3739198"/>
            <a:ext cx="23133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00"/>
              <a:buFont typeface="Montserrat"/>
              <a:buNone/>
            </a:pPr>
            <a:r>
              <a:rPr lang="es" sz="11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Potencia de Expresividad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833644" y="3941100"/>
            <a:ext cx="43572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Arial"/>
              <a:buNone/>
            </a:pPr>
            <a:r>
              <a:rPr lang="es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LFC son más expresivos que los lenguajes regulares, pudiendo describir estructuras más complejas que los autómatas finitos.</a:t>
            </a:r>
            <a:endParaRPr sz="110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2398" y="1190325"/>
            <a:ext cx="2657725" cy="283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3" name="Google Shape;223;p25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Árboles de Derivación y Ambigüedad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50725" y="1142476"/>
            <a:ext cx="83241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árbol de derivación (o árbol sintáctico) muestra cómo se deriva una cadena a partir del símbolo inicial de la gramática aplicando las reglas de producción.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Las hojas del árbol representan símbolos terminales (tokens).</a:t>
            </a:r>
            <a:b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 nodos internos son símbolos no terminales.</a:t>
            </a:r>
            <a:b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 raíz es el símbolo inicial de la gramática.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5" name="Google Shape;22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900" y="2995374"/>
            <a:ext cx="6872101" cy="14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1" name="Google Shape;231;p26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Ambigüedad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50725" y="1142476"/>
            <a:ext cx="83241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Una gramática ambigua es aquella para la cual una misma cadena puede tener más de un árbol de derivación distinto.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Esto causa confusión sobre el orden de evaluación y puede producir errores en el análisis sintáctico.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Ejemplo de ambigüedad: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6651" y="2521050"/>
            <a:ext cx="7372248" cy="14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27"/>
          <p:cNvSpPr txBox="1"/>
          <p:nvPr/>
        </p:nvSpPr>
        <p:spPr>
          <a:xfrm>
            <a:off x="550725" y="626975"/>
            <a:ext cx="550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Forma Correcta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5175" y="1114600"/>
            <a:ext cx="1651593" cy="15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 txBox="1"/>
          <p:nvPr/>
        </p:nvSpPr>
        <p:spPr>
          <a:xfrm>
            <a:off x="3419375" y="1937000"/>
            <a:ext cx="5007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tiene mayor precedencia que </a:t>
            </a:r>
            <a:r>
              <a:rPr lang="es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(multiplicación antes que suma).</a:t>
            </a:r>
            <a:b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representa los elementos básicos (identificadores o valores).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2" name="Google Shape;24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2525" y="2778625"/>
            <a:ext cx="2053175" cy="20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7"/>
          <p:cNvSpPr txBox="1"/>
          <p:nvPr/>
        </p:nvSpPr>
        <p:spPr>
          <a:xfrm>
            <a:off x="5889650" y="3747000"/>
            <a:ext cx="122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Montserrat"/>
                <a:ea typeface="Montserrat"/>
                <a:cs typeface="Montserrat"/>
                <a:sym typeface="Montserrat"/>
              </a:rPr>
              <a:t>a + (b * c)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9" name="Google Shape;249;p28"/>
          <p:cNvSpPr txBox="1"/>
          <p:nvPr/>
        </p:nvSpPr>
        <p:spPr>
          <a:xfrm>
            <a:off x="1155245" y="1522445"/>
            <a:ext cx="6995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47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2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50" name="Google Shape;250;p28" descr="LA MAGIA DE LEER. PROYECTO INNOVADOR DE AULA | Piragua – Fuego y agu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700" y="3513775"/>
            <a:ext cx="1269425" cy="11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2929" y="2610848"/>
            <a:ext cx="2720349" cy="18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7" name="Google Shape;257;p29"/>
          <p:cNvSpPr txBox="1"/>
          <p:nvPr/>
        </p:nvSpPr>
        <p:spPr>
          <a:xfrm>
            <a:off x="2202288" y="1392163"/>
            <a:ext cx="4467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30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PERSEVERANCIA</a:t>
            </a:r>
            <a:endParaRPr sz="2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739050" y="1903475"/>
            <a:ext cx="76659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Aborda problemas complejos como los autómatas de pila sin rendirse.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9" name="Google Shape;2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9275" y="2467250"/>
            <a:ext cx="3485426" cy="20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/>
          <p:nvPr/>
        </p:nvSpPr>
        <p:spPr>
          <a:xfrm>
            <a:off x="896775" y="2316288"/>
            <a:ext cx="79215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8300" marR="0" lvl="1" indent="-16510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400"/>
              <a:buFont typeface="Montserrat Medium"/>
              <a:buChar char="•"/>
            </a:pPr>
            <a:r>
              <a:rPr lang="es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https://tomassetti-me.translate.goog/parsing-in-javascript/?_x_tr_sl=en&amp;_x_tr_tl=es&amp;_x_tr_hl=es&amp;_x_tr_pto=tc</a:t>
            </a:r>
            <a:endParaRPr>
              <a:solidFill>
                <a:srgbClr val="15254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368300" marR="0" lvl="1" indent="-16510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1400"/>
              <a:buFont typeface="Montserrat Medium"/>
              <a:buChar char="•"/>
            </a:pPr>
            <a:r>
              <a:rPr lang="es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https://nearley-js-org.translate.goog/docs/grammar?_x_tr_sl=en&amp;_x_tr_tl=es&amp;_x_tr_hl=es&amp;_x_tr_pto=tc\</a:t>
            </a:r>
            <a:endParaRPr>
              <a:solidFill>
                <a:srgbClr val="15254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just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1196171" y="1495696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REFERENCIAS 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67" name="Google Shape;26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9150" y="3912675"/>
            <a:ext cx="2614851" cy="123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/>
        </p:nvSpPr>
        <p:spPr>
          <a:xfrm>
            <a:off x="1464825" y="1885488"/>
            <a:ext cx="62145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</a:t>
            </a:r>
            <a:r>
              <a:rPr lang="es" sz="30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3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ATENCIÓN!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2753107" y="2379377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7765363" y="0"/>
            <a:ext cx="1378634" cy="1885485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5" name="Google Shape;275;p31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1" i="0" u="none" strike="noStrike" cap="non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sz="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1152</Words>
  <Application>Microsoft Office PowerPoint</Application>
  <PresentationFormat>On-screen Show (16:9)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Impact</vt:lpstr>
      <vt:lpstr>Arial</vt:lpstr>
      <vt:lpstr>Calibri</vt:lpstr>
      <vt:lpstr>Montserrat Medium</vt:lpstr>
      <vt:lpstr>Montserrat</vt:lpstr>
      <vt:lpstr>Pacifico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Kev M</cp:lastModifiedBy>
  <cp:revision>4</cp:revision>
  <dcterms:modified xsi:type="dcterms:W3CDTF">2026-05-08T17:06:14Z</dcterms:modified>
</cp:coreProperties>
</file>