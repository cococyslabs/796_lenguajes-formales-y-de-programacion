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embeddedFontLst>
    <p:embeddedFont>
      <p:font typeface="Inter SemiBold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Outfit"/>
      <p:regular r:id="rId40"/>
      <p:bold r:id="rId41"/>
    </p:embeddedFont>
    <p:embeddedFont>
      <p:font typeface="Pacifico"/>
      <p:regular r:id="rId42"/>
    </p:embeddedFont>
    <p:embeddedFont>
      <p:font typeface="Outfit SemiBold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gabkkU9O/Y+82BAqnOS6ZPpEtV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7DDEDA-8692-47F3-82B3-064D9B910D59}">
  <a:tblStyle styleId="{9A7DDEDA-8692-47F3-82B3-064D9B910D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4856A77-007F-4721-9B33-177BD9D7B90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utfit-regular.fntdata"/><Relationship Id="rId20" Type="http://schemas.openxmlformats.org/officeDocument/2006/relationships/slide" Target="slides/slide14.xml"/><Relationship Id="rId42" Type="http://schemas.openxmlformats.org/officeDocument/2006/relationships/font" Target="fonts/Pacifico-regular.fntdata"/><Relationship Id="rId41" Type="http://schemas.openxmlformats.org/officeDocument/2006/relationships/font" Target="fonts/Outfit-bold.fntdata"/><Relationship Id="rId22" Type="http://schemas.openxmlformats.org/officeDocument/2006/relationships/slide" Target="slides/slide16.xml"/><Relationship Id="rId44" Type="http://schemas.openxmlformats.org/officeDocument/2006/relationships/font" Target="fonts/OutfitSemiBold-bold.fntdata"/><Relationship Id="rId21" Type="http://schemas.openxmlformats.org/officeDocument/2006/relationships/slide" Target="slides/slide15.xml"/><Relationship Id="rId43" Type="http://schemas.openxmlformats.org/officeDocument/2006/relationships/font" Target="fonts/OutfitSemiBold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SemiBold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Italic.fntdata"/><Relationship Id="rId30" Type="http://schemas.openxmlformats.org/officeDocument/2006/relationships/font" Target="fonts/InterSemiBold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9.xml"/><Relationship Id="rId37" Type="http://schemas.openxmlformats.org/officeDocument/2006/relationships/font" Target="fonts/Inter-bold.fntdata"/><Relationship Id="rId14" Type="http://schemas.openxmlformats.org/officeDocument/2006/relationships/slide" Target="slides/slide8.xml"/><Relationship Id="rId36" Type="http://schemas.openxmlformats.org/officeDocument/2006/relationships/font" Target="fonts/Inter-regular.fntdata"/><Relationship Id="rId17" Type="http://schemas.openxmlformats.org/officeDocument/2006/relationships/slide" Target="slides/slide11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3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" name="Google Shape;83;p34"/>
          <p:cNvGraphicFramePr/>
          <p:nvPr/>
        </p:nvGraphicFramePr>
        <p:xfrm>
          <a:off x="10656401" y="1940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{9A7DDEDA-8692-47F3-82B3-064D9B910D59}</a:tableStyleId>
              </a:tblPr>
              <a:tblGrid>
                <a:gridCol w="3036400"/>
                <a:gridCol w="4344750"/>
              </a:tblGrid>
              <a:tr h="8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Fecha: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XXXXXXXXXX</a:t>
                      </a:r>
                      <a:endParaRPr/>
                    </a:p>
                  </a:txBody>
                  <a:tcPr marT="182850" marB="182850" marR="182850" marL="182850"/>
                </a:tc>
              </a:tr>
              <a:tr h="12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09:00 - 10:40</a:t>
                      </a:r>
                      <a:endParaRPr b="1" sz="29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84" name="Google Shape;84;p34"/>
          <p:cNvSpPr txBox="1"/>
          <p:nvPr/>
        </p:nvSpPr>
        <p:spPr>
          <a:xfrm>
            <a:off x="2064774" y="4766996"/>
            <a:ext cx="14910600" cy="19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 </a:t>
            </a:r>
            <a:r>
              <a:rPr b="1" lang="en-US" sz="5001">
                <a:latin typeface="Montserrat"/>
                <a:ea typeface="Montserrat"/>
                <a:cs typeface="Montserrat"/>
                <a:sym typeface="Montserrat"/>
              </a:rPr>
              <a:t>XXXXXXXXXXXXXXXXX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2"/>
          <p:cNvGrpSpPr/>
          <p:nvPr/>
        </p:nvGrpSpPr>
        <p:grpSpPr>
          <a:xfrm>
            <a:off x="1866989" y="3342832"/>
            <a:ext cx="4115190" cy="1556484"/>
            <a:chOff x="0" y="-76200"/>
            <a:chExt cx="1083836" cy="409938"/>
          </a:xfrm>
        </p:grpSpPr>
        <p:sp>
          <p:nvSpPr>
            <p:cNvPr id="90" name="Google Shape;90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651754" y="3758584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11739805" y="3232617"/>
            <a:ext cx="5353646" cy="1267162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11739805" y="5032666"/>
            <a:ext cx="5353646" cy="1267162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51754" y="503266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51754" y="571661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51754" y="640006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51754" y="708350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51754" y="776695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405646" y="4981657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Intérprete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405646" y="5665609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Compilador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405646" y="6349899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Estructura de un Compilador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405646" y="7034189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Jerarquía de Chomsky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405646" y="7718480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Clasificación de Gramáticas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405645" y="8402771"/>
            <a:ext cx="8390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Ejemplo </a:t>
            </a: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Practico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75342" y="849329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405645" y="9086723"/>
            <a:ext cx="8390471" cy="739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4"/>
              <a:buFont typeface="Arial"/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Corto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75342" y="924600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1028700" y="1009650"/>
            <a:ext cx="16230600" cy="180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 QUE DESARROLLAREMOS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028700" y="3330575"/>
            <a:ext cx="16230600" cy="352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estudiante aplica el análisis léxico mediante el uso de expresiones regulares para solucionar problemas que requieran el reconocimiento de lenguajes.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538" y="2443163"/>
            <a:ext cx="7986713" cy="697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51" y="2443163"/>
            <a:ext cx="7986713" cy="69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5"/>
          <p:cNvSpPr txBox="1"/>
          <p:nvPr/>
        </p:nvSpPr>
        <p:spPr>
          <a:xfrm>
            <a:off x="570596" y="871537"/>
            <a:ext cx="17372171" cy="103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COMPILADOR VS INTÉRPRETE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5"/>
          <p:cNvSpPr txBox="1"/>
          <p:nvPr/>
        </p:nvSpPr>
        <p:spPr>
          <a:xfrm>
            <a:off x="2085976" y="3057202"/>
            <a:ext cx="6495812" cy="657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75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Compilador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5"/>
          <p:cNvSpPr/>
          <p:nvPr/>
        </p:nvSpPr>
        <p:spPr>
          <a:xfrm>
            <a:off x="1457326" y="4000500"/>
            <a:ext cx="6815138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5"/>
          <p:cNvSpPr txBox="1"/>
          <p:nvPr/>
        </p:nvSpPr>
        <p:spPr>
          <a:xfrm>
            <a:off x="10844213" y="3057202"/>
            <a:ext cx="6285785" cy="657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75" u="none" cap="none" strike="noStrike">
                <a:solidFill>
                  <a:srgbClr val="FB923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Intérprete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5"/>
          <p:cNvSpPr/>
          <p:nvPr/>
        </p:nvSpPr>
        <p:spPr>
          <a:xfrm>
            <a:off x="10015538" y="4000500"/>
            <a:ext cx="6815138" cy="28575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7" name="Google Shape;12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7326" y="3100388"/>
            <a:ext cx="414338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5"/>
          <p:cNvSpPr txBox="1"/>
          <p:nvPr/>
        </p:nvSpPr>
        <p:spPr>
          <a:xfrm>
            <a:off x="1957388" y="4457701"/>
            <a:ext cx="6315075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 compila una vez, se ejecuta </a:t>
            </a:r>
            <a:r>
              <a:rPr b="0" i="1" lang="en-US" sz="2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2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veces.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5"/>
          <p:cNvSpPr txBox="1"/>
          <p:nvPr/>
        </p:nvSpPr>
        <p:spPr>
          <a:xfrm>
            <a:off x="1957388" y="5843588"/>
            <a:ext cx="6315075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proceso de compilación tiene una visión global de todo el programa, por lo cual la gestión de errores es más eficiente.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5"/>
          <p:cNvSpPr txBox="1"/>
          <p:nvPr/>
        </p:nvSpPr>
        <p:spPr>
          <a:xfrm>
            <a:off x="1957388" y="8258176"/>
            <a:ext cx="6315075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ejecución es más rápida.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1" name="Google Shape;13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5538" y="3100388"/>
            <a:ext cx="614363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5"/>
          <p:cNvSpPr txBox="1"/>
          <p:nvPr/>
        </p:nvSpPr>
        <p:spPr>
          <a:xfrm>
            <a:off x="10515600" y="4457701"/>
            <a:ext cx="6315075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 traduce cada vez que se ejecuta.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5"/>
          <p:cNvSpPr txBox="1"/>
          <p:nvPr/>
        </p:nvSpPr>
        <p:spPr>
          <a:xfrm>
            <a:off x="10515600" y="5329238"/>
            <a:ext cx="6315075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Permite interaccionar más con el código en tiempo de ejecución.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5"/>
          <p:cNvSpPr txBox="1"/>
          <p:nvPr/>
        </p:nvSpPr>
        <p:spPr>
          <a:xfrm>
            <a:off x="10515600" y="6715125"/>
            <a:ext cx="6315075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Necesita menos memoria.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5"/>
          <p:cNvSpPr txBox="1"/>
          <p:nvPr/>
        </p:nvSpPr>
        <p:spPr>
          <a:xfrm>
            <a:off x="1457326" y="4386263"/>
            <a:ext cx="328613" cy="103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5"/>
          <p:cNvSpPr txBox="1"/>
          <p:nvPr/>
        </p:nvSpPr>
        <p:spPr>
          <a:xfrm>
            <a:off x="1457326" y="5772150"/>
            <a:ext cx="328613" cy="103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5"/>
          <p:cNvSpPr txBox="1"/>
          <p:nvPr/>
        </p:nvSpPr>
        <p:spPr>
          <a:xfrm>
            <a:off x="1457326" y="8186738"/>
            <a:ext cx="328613" cy="103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5"/>
          <p:cNvSpPr txBox="1"/>
          <p:nvPr/>
        </p:nvSpPr>
        <p:spPr>
          <a:xfrm>
            <a:off x="10015538" y="4386263"/>
            <a:ext cx="328613" cy="103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5"/>
          <p:cNvSpPr txBox="1"/>
          <p:nvPr/>
        </p:nvSpPr>
        <p:spPr>
          <a:xfrm>
            <a:off x="10015538" y="5257800"/>
            <a:ext cx="328613" cy="103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5"/>
          <p:cNvSpPr txBox="1"/>
          <p:nvPr/>
        </p:nvSpPr>
        <p:spPr>
          <a:xfrm>
            <a:off x="10015538" y="6643688"/>
            <a:ext cx="328613" cy="103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9926" y="3768774"/>
            <a:ext cx="5299323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6"/>
          <p:cNvSpPr txBox="1"/>
          <p:nvPr/>
        </p:nvSpPr>
        <p:spPr>
          <a:xfrm>
            <a:off x="1428750" y="1143000"/>
            <a:ext cx="6030900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COMPILADOR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6"/>
          <p:cNvSpPr/>
          <p:nvPr/>
        </p:nvSpPr>
        <p:spPr>
          <a:xfrm>
            <a:off x="1428750" y="2328863"/>
            <a:ext cx="5743575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6"/>
          <p:cNvSpPr txBox="1"/>
          <p:nvPr/>
        </p:nvSpPr>
        <p:spPr>
          <a:xfrm>
            <a:off x="2214563" y="3386138"/>
            <a:ext cx="8488113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compilador</a:t>
            </a:r>
            <a:r>
              <a:rPr b="0" i="0" lang="en-US" sz="3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el traductor más extendido.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6"/>
          <p:cNvSpPr txBox="1"/>
          <p:nvPr/>
        </p:nvSpPr>
        <p:spPr>
          <a:xfrm>
            <a:off x="2214563" y="5309145"/>
            <a:ext cx="8488113" cy="1551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Realiza un análisis y genera un programa ejecutable.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6"/>
          <p:cNvSpPr txBox="1"/>
          <p:nvPr/>
        </p:nvSpPr>
        <p:spPr>
          <a:xfrm>
            <a:off x="2214563" y="7232153"/>
            <a:ext cx="8488113" cy="1551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programa ejecutable, una vez creado, no necesita el compilador para funcionar.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2" name="Google Shape;15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88551" y="3768775"/>
            <a:ext cx="4441850" cy="5000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5"/>
          <p:cNvGrpSpPr/>
          <p:nvPr/>
        </p:nvGrpSpPr>
        <p:grpSpPr>
          <a:xfrm>
            <a:off x="2689825" y="5592964"/>
            <a:ext cx="1638210" cy="617869"/>
            <a:chOff x="0" y="-19050"/>
            <a:chExt cx="1370946" cy="517067"/>
          </a:xfrm>
        </p:grpSpPr>
        <p:sp>
          <p:nvSpPr>
            <p:cNvPr id="158" name="Google Shape;158;p5"/>
            <p:cNvSpPr/>
            <p:nvPr/>
          </p:nvSpPr>
          <p:spPr>
            <a:xfrm>
              <a:off x="0" y="0"/>
              <a:ext cx="1370946" cy="498017"/>
            </a:xfrm>
            <a:custGeom>
              <a:rect b="b" l="l" r="r" t="t"/>
              <a:pathLst>
                <a:path extrusionOk="0" h="498017" w="1370946">
                  <a:moveTo>
                    <a:pt x="1167746" y="0"/>
                  </a:moveTo>
                  <a:lnTo>
                    <a:pt x="0" y="0"/>
                  </a:lnTo>
                  <a:lnTo>
                    <a:pt x="0" y="498017"/>
                  </a:lnTo>
                  <a:lnTo>
                    <a:pt x="1167746" y="498017"/>
                  </a:lnTo>
                  <a:lnTo>
                    <a:pt x="1370946" y="249008"/>
                  </a:lnTo>
                  <a:lnTo>
                    <a:pt x="1167746" y="0"/>
                  </a:lnTo>
                  <a:close/>
                </a:path>
              </a:pathLst>
            </a:custGeom>
            <a:solidFill>
              <a:srgbClr val="CED5E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0" y="-19050"/>
              <a:ext cx="1256646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4183520" y="5592964"/>
            <a:ext cx="1722280" cy="617869"/>
            <a:chOff x="0" y="-19050"/>
            <a:chExt cx="1441300" cy="517067"/>
          </a:xfrm>
        </p:grpSpPr>
        <p:sp>
          <p:nvSpPr>
            <p:cNvPr id="161" name="Google Shape;161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9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5"/>
          <p:cNvGrpSpPr/>
          <p:nvPr/>
        </p:nvGrpSpPr>
        <p:grpSpPr>
          <a:xfrm>
            <a:off x="5761285" y="5592964"/>
            <a:ext cx="1722280" cy="617869"/>
            <a:chOff x="0" y="-19050"/>
            <a:chExt cx="1441300" cy="517067"/>
          </a:xfrm>
        </p:grpSpPr>
        <p:sp>
          <p:nvSpPr>
            <p:cNvPr id="164" name="Google Shape;164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E2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7339050" y="5592964"/>
            <a:ext cx="1722280" cy="617869"/>
            <a:chOff x="0" y="-19050"/>
            <a:chExt cx="1441300" cy="517067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E4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5"/>
          <p:cNvGrpSpPr/>
          <p:nvPr/>
        </p:nvGrpSpPr>
        <p:grpSpPr>
          <a:xfrm>
            <a:off x="8916815" y="5592964"/>
            <a:ext cx="1722280" cy="617869"/>
            <a:chOff x="0" y="-19050"/>
            <a:chExt cx="1441300" cy="517067"/>
          </a:xfrm>
        </p:grpSpPr>
        <p:sp>
          <p:nvSpPr>
            <p:cNvPr id="170" name="Google Shape;170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2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5"/>
          <p:cNvGrpSpPr/>
          <p:nvPr/>
        </p:nvGrpSpPr>
        <p:grpSpPr>
          <a:xfrm>
            <a:off x="10494580" y="5592964"/>
            <a:ext cx="1722280" cy="617869"/>
            <a:chOff x="0" y="-19050"/>
            <a:chExt cx="1441300" cy="517067"/>
          </a:xfrm>
        </p:grpSpPr>
        <p:sp>
          <p:nvSpPr>
            <p:cNvPr id="173" name="Google Shape;173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0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5"/>
          <p:cNvGrpSpPr/>
          <p:nvPr/>
        </p:nvGrpSpPr>
        <p:grpSpPr>
          <a:xfrm>
            <a:off x="12072345" y="5592964"/>
            <a:ext cx="1722280" cy="617869"/>
            <a:chOff x="0" y="-19050"/>
            <a:chExt cx="1441300" cy="517067"/>
          </a:xfrm>
        </p:grpSpPr>
        <p:sp>
          <p:nvSpPr>
            <p:cNvPr id="176" name="Google Shape;176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67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5"/>
          <p:cNvGrpSpPr/>
          <p:nvPr/>
        </p:nvGrpSpPr>
        <p:grpSpPr>
          <a:xfrm>
            <a:off x="13650110" y="5592964"/>
            <a:ext cx="1722280" cy="617869"/>
            <a:chOff x="0" y="-19050"/>
            <a:chExt cx="1441300" cy="517067"/>
          </a:xfrm>
        </p:grpSpPr>
        <p:sp>
          <p:nvSpPr>
            <p:cNvPr id="179" name="Google Shape;179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EC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99"/>
                <a:buFont typeface="Arial"/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1" name="Google Shape;181;p5"/>
          <p:cNvCxnSpPr/>
          <p:nvPr/>
        </p:nvCxnSpPr>
        <p:spPr>
          <a:xfrm rot="10800000">
            <a:off x="3537027" y="4288966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818DAB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82" name="Google Shape;182;p5"/>
          <p:cNvSpPr txBox="1"/>
          <p:nvPr/>
        </p:nvSpPr>
        <p:spPr>
          <a:xfrm>
            <a:off x="2282209" y="3574965"/>
            <a:ext cx="2509636" cy="294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1"/>
              <a:buFont typeface="Arial"/>
              <a:buNone/>
            </a:pPr>
            <a:r>
              <a:rPr b="1" i="0" lang="en-US" sz="1911" u="none" cap="none" strike="noStrike">
                <a:solidFill>
                  <a:srgbClr val="818DAB"/>
                </a:solidFill>
                <a:latin typeface="Arial"/>
                <a:ea typeface="Arial"/>
                <a:cs typeface="Arial"/>
                <a:sym typeface="Arial"/>
              </a:rPr>
              <a:t>Análisis Léxico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5"/>
          <p:cNvCxnSpPr/>
          <p:nvPr/>
        </p:nvCxnSpPr>
        <p:spPr>
          <a:xfrm rot="10800000">
            <a:off x="6667621" y="4288966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00C2CB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84" name="Google Shape;184;p5"/>
          <p:cNvSpPr txBox="1"/>
          <p:nvPr/>
        </p:nvSpPr>
        <p:spPr>
          <a:xfrm>
            <a:off x="5412803" y="3562554"/>
            <a:ext cx="2509636" cy="294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1"/>
              <a:buFont typeface="Arial"/>
              <a:buNone/>
            </a:pPr>
            <a:r>
              <a:rPr b="1" i="0" lang="en-US" sz="1911" u="none" cap="none" strike="noStrike">
                <a:solidFill>
                  <a:srgbClr val="03949B"/>
                </a:solidFill>
                <a:latin typeface="Arial"/>
                <a:ea typeface="Arial"/>
                <a:cs typeface="Arial"/>
                <a:sym typeface="Arial"/>
              </a:rPr>
              <a:t>Análisis Semántico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5"/>
          <p:cNvCxnSpPr/>
          <p:nvPr/>
        </p:nvCxnSpPr>
        <p:spPr>
          <a:xfrm>
            <a:off x="14514551" y="6484804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E87B85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86" name="Google Shape;186;p5"/>
          <p:cNvSpPr txBox="1"/>
          <p:nvPr/>
        </p:nvSpPr>
        <p:spPr>
          <a:xfrm>
            <a:off x="13073565" y="7811274"/>
            <a:ext cx="2875371" cy="294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1"/>
              <a:buFont typeface="Arial"/>
              <a:buNone/>
            </a:pPr>
            <a:r>
              <a:rPr b="1" i="0" lang="en-US" sz="1911" u="none" cap="none" strike="noStrike">
                <a:solidFill>
                  <a:srgbClr val="DB5763"/>
                </a:solidFill>
                <a:latin typeface="Arial"/>
                <a:ea typeface="Arial"/>
                <a:cs typeface="Arial"/>
                <a:sym typeface="Arial"/>
              </a:rPr>
              <a:t>Código Objeto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5"/>
          <p:cNvCxnSpPr/>
          <p:nvPr/>
        </p:nvCxnSpPr>
        <p:spPr>
          <a:xfrm>
            <a:off x="11346195" y="6484804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E1B900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88" name="Google Shape;188;p5"/>
          <p:cNvSpPr txBox="1"/>
          <p:nvPr/>
        </p:nvSpPr>
        <p:spPr>
          <a:xfrm>
            <a:off x="10100902" y="7823249"/>
            <a:ext cx="2509636" cy="599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1"/>
              <a:buFont typeface="Arial"/>
              <a:buNone/>
            </a:pPr>
            <a:r>
              <a:rPr b="1" i="0" lang="en-US" sz="1911" u="none" cap="none" strike="noStrike">
                <a:solidFill>
                  <a:srgbClr val="A48701"/>
                </a:solidFill>
                <a:latin typeface="Arial"/>
                <a:ea typeface="Arial"/>
                <a:cs typeface="Arial"/>
                <a:sym typeface="Arial"/>
              </a:rPr>
              <a:t>Generación de Código Máquina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5"/>
          <p:cNvCxnSpPr/>
          <p:nvPr/>
        </p:nvCxnSpPr>
        <p:spPr>
          <a:xfrm>
            <a:off x="8177840" y="6484804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70B812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90" name="Google Shape;190;p5"/>
          <p:cNvSpPr txBox="1"/>
          <p:nvPr/>
        </p:nvSpPr>
        <p:spPr>
          <a:xfrm>
            <a:off x="6750373" y="7813537"/>
            <a:ext cx="2854933" cy="599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1"/>
              <a:buFont typeface="Arial"/>
              <a:buNone/>
            </a:pPr>
            <a:r>
              <a:rPr b="1" i="0" lang="en-US" sz="1911" u="none" cap="none" strike="noStrike">
                <a:solidFill>
                  <a:srgbClr val="5C9B0A"/>
                </a:solidFill>
                <a:latin typeface="Arial"/>
                <a:ea typeface="Arial"/>
                <a:cs typeface="Arial"/>
                <a:sym typeface="Arial"/>
              </a:rPr>
              <a:t>Generación de Código Intermedio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5"/>
          <p:cNvCxnSpPr/>
          <p:nvPr/>
        </p:nvCxnSpPr>
        <p:spPr>
          <a:xfrm>
            <a:off x="5009484" y="6484804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521DF1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92" name="Google Shape;192;p5"/>
          <p:cNvSpPr txBox="1"/>
          <p:nvPr/>
        </p:nvSpPr>
        <p:spPr>
          <a:xfrm>
            <a:off x="3754666" y="7820986"/>
            <a:ext cx="2509636" cy="294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1"/>
              <a:buFont typeface="Arial"/>
              <a:buNone/>
            </a:pPr>
            <a:r>
              <a:rPr b="1" i="0" lang="en-US" sz="1911" u="none" cap="none" strike="noStrike">
                <a:solidFill>
                  <a:srgbClr val="521DF1"/>
                </a:solidFill>
                <a:latin typeface="Arial"/>
                <a:ea typeface="Arial"/>
                <a:cs typeface="Arial"/>
                <a:sym typeface="Arial"/>
              </a:rPr>
              <a:t>Análisis Sintáctico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5"/>
          <p:cNvCxnSpPr/>
          <p:nvPr/>
        </p:nvCxnSpPr>
        <p:spPr>
          <a:xfrm rot="10800000">
            <a:off x="9798214" y="4288966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C4BD19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194" name="Google Shape;194;p5"/>
          <p:cNvCxnSpPr/>
          <p:nvPr/>
        </p:nvCxnSpPr>
        <p:spPr>
          <a:xfrm rot="10800000">
            <a:off x="12928808" y="4288966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F0702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95" name="Google Shape;195;p5"/>
          <p:cNvSpPr txBox="1"/>
          <p:nvPr/>
        </p:nvSpPr>
        <p:spPr>
          <a:xfrm>
            <a:off x="1382102" y="857919"/>
            <a:ext cx="15523796" cy="832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8"/>
              <a:buFont typeface="Arial"/>
              <a:buNone/>
            </a:pPr>
            <a:r>
              <a:rPr b="0" i="0" lang="en-US" sz="51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Fases del Compilador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11673990" y="3341653"/>
            <a:ext cx="2509636" cy="599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1"/>
              <a:buFont typeface="Arial"/>
              <a:buNone/>
            </a:pPr>
            <a:r>
              <a:rPr b="1" i="0" lang="en-US" sz="1911" u="none" cap="none" strike="noStrike">
                <a:solidFill>
                  <a:srgbClr val="D15414"/>
                </a:solidFill>
                <a:latin typeface="Arial"/>
                <a:ea typeface="Arial"/>
                <a:cs typeface="Arial"/>
                <a:sym typeface="Arial"/>
              </a:rPr>
              <a:t>Optimización de Código Máquina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8213195" y="3401911"/>
            <a:ext cx="3038105" cy="599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1"/>
              <a:buFont typeface="Arial"/>
              <a:buNone/>
            </a:pPr>
            <a:r>
              <a:rPr b="1" i="0" lang="en-US" sz="1911" u="none" cap="none" strike="noStrike">
                <a:solidFill>
                  <a:srgbClr val="948E0A"/>
                </a:solidFill>
                <a:latin typeface="Arial"/>
                <a:ea typeface="Arial"/>
                <a:cs typeface="Arial"/>
                <a:sym typeface="Arial"/>
              </a:rPr>
              <a:t>Optimización de Código Intermedio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/>
        </p:nvSpPr>
        <p:spPr>
          <a:xfrm>
            <a:off x="1904225" y="1577025"/>
            <a:ext cx="70686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FASES DEL COMPILADOR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1911427" y="5489979"/>
            <a:ext cx="7232573" cy="215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4"/>
              <a:buFont typeface="Arial"/>
              <a:buNone/>
            </a:pPr>
            <a:r>
              <a:rPr b="0" i="0" lang="en-US" sz="30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Examina el código fuente y lo divide en tokens reconocibles, como palabras clave, identificadores y literales.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1904222" y="4060068"/>
            <a:ext cx="723977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LÉXICO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0049125" y="593844"/>
            <a:ext cx="7633749" cy="9099312"/>
          </a:xfrm>
          <a:custGeom>
            <a:rect b="b" l="l" r="r" t="t"/>
            <a:pathLst>
              <a:path extrusionOk="0" h="9099312" w="7633749">
                <a:moveTo>
                  <a:pt x="0" y="0"/>
                </a:moveTo>
                <a:lnTo>
                  <a:pt x="7633749" y="0"/>
                </a:lnTo>
                <a:lnTo>
                  <a:pt x="7633749" y="9099312"/>
                </a:lnTo>
                <a:lnTo>
                  <a:pt x="0" y="9099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/>
          <p:nvPr/>
        </p:nvSpPr>
        <p:spPr>
          <a:xfrm>
            <a:off x="1904222" y="1577033"/>
            <a:ext cx="7239778" cy="164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FASES DEL COMPILADOR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911427" y="5480454"/>
            <a:ext cx="7232573" cy="1616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4"/>
              <a:buFont typeface="Arial"/>
              <a:buNone/>
            </a:pPr>
            <a:r>
              <a:rPr b="0" i="0" lang="en-US" sz="30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Verifica que la secuencia de tokens cumpla con las reglas gramaticales del lenguaje de programación.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1904222" y="4060068"/>
            <a:ext cx="723977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SINTÁCTICO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0049125" y="593844"/>
            <a:ext cx="7633749" cy="9099312"/>
          </a:xfrm>
          <a:custGeom>
            <a:rect b="b" l="l" r="r" t="t"/>
            <a:pathLst>
              <a:path extrusionOk="0" h="9099312" w="7633749">
                <a:moveTo>
                  <a:pt x="0" y="0"/>
                </a:moveTo>
                <a:lnTo>
                  <a:pt x="7633749" y="0"/>
                </a:lnTo>
                <a:lnTo>
                  <a:pt x="7633749" y="9099312"/>
                </a:lnTo>
                <a:lnTo>
                  <a:pt x="0" y="9099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 txBox="1"/>
          <p:nvPr/>
        </p:nvSpPr>
        <p:spPr>
          <a:xfrm>
            <a:off x="1911427" y="5489979"/>
            <a:ext cx="7232573" cy="215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4"/>
              <a:buFont typeface="Arial"/>
              <a:buNone/>
            </a:pPr>
            <a:r>
              <a:rPr b="0" i="0" lang="en-US" sz="30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Comprueba el significado del programa y garantiza que las instrucciones sean válidas y consistentes.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1904222" y="4060068"/>
            <a:ext cx="723977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SEMÁNTICO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0049125" y="593844"/>
            <a:ext cx="7633749" cy="9099312"/>
          </a:xfrm>
          <a:custGeom>
            <a:rect b="b" l="l" r="r" t="t"/>
            <a:pathLst>
              <a:path extrusionOk="0" h="9099312" w="7633749">
                <a:moveTo>
                  <a:pt x="0" y="0"/>
                </a:moveTo>
                <a:lnTo>
                  <a:pt x="7633749" y="0"/>
                </a:lnTo>
                <a:lnTo>
                  <a:pt x="7633749" y="9099312"/>
                </a:lnTo>
                <a:lnTo>
                  <a:pt x="0" y="9099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1904222" y="1577033"/>
            <a:ext cx="7239778" cy="164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FASES DEL COMPILADOR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9"/>
          <p:cNvGrpSpPr/>
          <p:nvPr/>
        </p:nvGrpSpPr>
        <p:grpSpPr>
          <a:xfrm>
            <a:off x="1541022" y="3666377"/>
            <a:ext cx="3475845" cy="1477123"/>
            <a:chOff x="0" y="-38100"/>
            <a:chExt cx="914818" cy="388768"/>
          </a:xfrm>
        </p:grpSpPr>
        <p:sp>
          <p:nvSpPr>
            <p:cNvPr id="227" name="Google Shape;227;p9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9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Reconocimiento de Tokens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5443973" y="3666377"/>
            <a:ext cx="3475845" cy="1477123"/>
            <a:chOff x="0" y="-38100"/>
            <a:chExt cx="914818" cy="388768"/>
          </a:xfrm>
        </p:grpSpPr>
        <p:sp>
          <p:nvSpPr>
            <p:cNvPr id="230" name="Google Shape;230;p9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9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Eliminación de Espacios en Blanco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9"/>
          <p:cNvGrpSpPr/>
          <p:nvPr/>
        </p:nvGrpSpPr>
        <p:grpSpPr>
          <a:xfrm>
            <a:off x="9314236" y="3666377"/>
            <a:ext cx="3475845" cy="1477123"/>
            <a:chOff x="0" y="-38100"/>
            <a:chExt cx="914818" cy="388768"/>
          </a:xfrm>
        </p:grpSpPr>
        <p:sp>
          <p:nvSpPr>
            <p:cNvPr id="233" name="Google Shape;233;p9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9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Manejo de Comentarios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13181346" y="3666377"/>
            <a:ext cx="3475845" cy="1477123"/>
            <a:chOff x="0" y="-38100"/>
            <a:chExt cx="914818" cy="388768"/>
          </a:xfrm>
        </p:grpSpPr>
        <p:sp>
          <p:nvSpPr>
            <p:cNvPr id="236" name="Google Shape;236;p9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9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Detección de Errores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2635924" y="2943848"/>
            <a:ext cx="1286042" cy="1105192"/>
            <a:chOff x="0" y="0"/>
            <a:chExt cx="812800" cy="698500"/>
          </a:xfrm>
        </p:grpSpPr>
        <p:sp>
          <p:nvSpPr>
            <p:cNvPr id="239" name="Google Shape;239;p9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9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10409138" y="2943848"/>
            <a:ext cx="1286042" cy="1105192"/>
            <a:chOff x="0" y="0"/>
            <a:chExt cx="812800" cy="698500"/>
          </a:xfrm>
        </p:grpSpPr>
        <p:sp>
          <p:nvSpPr>
            <p:cNvPr id="242" name="Google Shape;242;p9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9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9"/>
          <p:cNvGrpSpPr/>
          <p:nvPr/>
        </p:nvGrpSpPr>
        <p:grpSpPr>
          <a:xfrm>
            <a:off x="6538875" y="2943848"/>
            <a:ext cx="1286042" cy="1105192"/>
            <a:chOff x="0" y="0"/>
            <a:chExt cx="812800" cy="698500"/>
          </a:xfrm>
        </p:grpSpPr>
        <p:sp>
          <p:nvSpPr>
            <p:cNvPr id="245" name="Google Shape;245;p9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9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9"/>
          <p:cNvGrpSpPr/>
          <p:nvPr/>
        </p:nvGrpSpPr>
        <p:grpSpPr>
          <a:xfrm>
            <a:off x="14276248" y="2943848"/>
            <a:ext cx="1286042" cy="1105192"/>
            <a:chOff x="0" y="0"/>
            <a:chExt cx="812800" cy="698500"/>
          </a:xfrm>
        </p:grpSpPr>
        <p:sp>
          <p:nvSpPr>
            <p:cNvPr id="248" name="Google Shape;248;p9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9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9"/>
          <p:cNvGrpSpPr/>
          <p:nvPr/>
        </p:nvGrpSpPr>
        <p:grpSpPr>
          <a:xfrm>
            <a:off x="3278945" y="1471766"/>
            <a:ext cx="11634134" cy="1472082"/>
            <a:chOff x="15095" y="0"/>
            <a:chExt cx="15512178" cy="1962776"/>
          </a:xfrm>
        </p:grpSpPr>
        <p:cxnSp>
          <p:nvCxnSpPr>
            <p:cNvPr id="251" name="Google Shape;251;p9"/>
            <p:cNvCxnSpPr/>
            <p:nvPr/>
          </p:nvCxnSpPr>
          <p:spPr>
            <a:xfrm flipH="1" rot="10800000">
              <a:off x="19050" y="999105"/>
              <a:ext cx="5173" cy="96367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9"/>
            <p:cNvCxnSpPr/>
            <p:nvPr/>
          </p:nvCxnSpPr>
          <p:spPr>
            <a:xfrm flipH="1" rot="10800000">
              <a:off x="5222984" y="999105"/>
              <a:ext cx="5173" cy="96367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9"/>
            <p:cNvCxnSpPr/>
            <p:nvPr/>
          </p:nvCxnSpPr>
          <p:spPr>
            <a:xfrm rot="10800000">
              <a:off x="7826041" y="0"/>
              <a:ext cx="0" cy="998383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9"/>
            <p:cNvCxnSpPr/>
            <p:nvPr/>
          </p:nvCxnSpPr>
          <p:spPr>
            <a:xfrm>
              <a:off x="15095" y="998744"/>
              <a:ext cx="15501382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9"/>
            <p:cNvCxnSpPr/>
            <p:nvPr/>
          </p:nvCxnSpPr>
          <p:spPr>
            <a:xfrm rot="10800000">
              <a:off x="10372932" y="999105"/>
              <a:ext cx="3654" cy="96367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9"/>
            <p:cNvCxnSpPr/>
            <p:nvPr/>
          </p:nvCxnSpPr>
          <p:spPr>
            <a:xfrm rot="10800000">
              <a:off x="15516477" y="999105"/>
              <a:ext cx="10796" cy="96367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57" name="Google Shape;257;p9"/>
          <p:cNvGrpSpPr/>
          <p:nvPr/>
        </p:nvGrpSpPr>
        <p:grpSpPr>
          <a:xfrm>
            <a:off x="1530369" y="5195235"/>
            <a:ext cx="3474509" cy="4579625"/>
            <a:chOff x="0" y="-38100"/>
            <a:chExt cx="914818" cy="1205789"/>
          </a:xfrm>
        </p:grpSpPr>
        <p:sp>
          <p:nvSpPr>
            <p:cNvPr id="258" name="Google Shape;258;p9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El analizador léxico identifica y clasifica los elementos básicos del código fuente, como palabras clave, identificadores y operadores.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9"/>
          <p:cNvGrpSpPr/>
          <p:nvPr/>
        </p:nvGrpSpPr>
        <p:grpSpPr>
          <a:xfrm>
            <a:off x="5443973" y="5195235"/>
            <a:ext cx="3474509" cy="4579625"/>
            <a:chOff x="0" y="-38100"/>
            <a:chExt cx="914818" cy="1205789"/>
          </a:xfrm>
        </p:grpSpPr>
        <p:sp>
          <p:nvSpPr>
            <p:cNvPr id="261" name="Google Shape;261;p9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Los espacios en blanco, como tabuladores y saltos de línea, se eliminan durante esta etapa.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9"/>
          <p:cNvGrpSpPr/>
          <p:nvPr/>
        </p:nvGrpSpPr>
        <p:grpSpPr>
          <a:xfrm>
            <a:off x="9356632" y="5195235"/>
            <a:ext cx="3474509" cy="4579625"/>
            <a:chOff x="0" y="-38100"/>
            <a:chExt cx="914818" cy="1205789"/>
          </a:xfrm>
        </p:grpSpPr>
        <p:sp>
          <p:nvSpPr>
            <p:cNvPr id="264" name="Google Shape;264;p9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9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Los comentarios del código fuente se ignoran y no se incluyen en el análisis posterior.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p9"/>
          <p:cNvGrpSpPr/>
          <p:nvPr/>
        </p:nvGrpSpPr>
        <p:grpSpPr>
          <a:xfrm>
            <a:off x="2563742" y="450023"/>
            <a:ext cx="13160517" cy="1278212"/>
            <a:chOff x="0" y="-85725"/>
            <a:chExt cx="3463756" cy="336416"/>
          </a:xfrm>
        </p:grpSpPr>
        <p:sp>
          <p:nvSpPr>
            <p:cNvPr id="267" name="Google Shape;267;p9"/>
            <p:cNvSpPr/>
            <p:nvPr/>
          </p:nvSpPr>
          <p:spPr>
            <a:xfrm>
              <a:off x="0" y="0"/>
              <a:ext cx="3463756" cy="250691"/>
            </a:xfrm>
            <a:custGeom>
              <a:rect b="b" l="l" r="r" t="t"/>
              <a:pathLst>
                <a:path extrusionOk="0" h="250691" w="3463756">
                  <a:moveTo>
                    <a:pt x="30002" y="0"/>
                  </a:moveTo>
                  <a:lnTo>
                    <a:pt x="3433754" y="0"/>
                  </a:lnTo>
                  <a:cubicBezTo>
                    <a:pt x="3441711" y="0"/>
                    <a:pt x="3449342" y="3161"/>
                    <a:pt x="3454969" y="8787"/>
                  </a:cubicBezTo>
                  <a:cubicBezTo>
                    <a:pt x="3460595" y="14414"/>
                    <a:pt x="3463756" y="22045"/>
                    <a:pt x="3463756" y="30002"/>
                  </a:cubicBezTo>
                  <a:lnTo>
                    <a:pt x="3463756" y="220690"/>
                  </a:lnTo>
                  <a:cubicBezTo>
                    <a:pt x="3463756" y="237259"/>
                    <a:pt x="3450324" y="250691"/>
                    <a:pt x="3433754" y="250691"/>
                  </a:cubicBezTo>
                  <a:lnTo>
                    <a:pt x="30002" y="250691"/>
                  </a:lnTo>
                  <a:cubicBezTo>
                    <a:pt x="22045" y="250691"/>
                    <a:pt x="14414" y="247530"/>
                    <a:pt x="8787" y="241904"/>
                  </a:cubicBezTo>
                  <a:cubicBezTo>
                    <a:pt x="3161" y="236278"/>
                    <a:pt x="0" y="228646"/>
                    <a:pt x="0" y="220690"/>
                  </a:cubicBezTo>
                  <a:lnTo>
                    <a:pt x="0" y="30002"/>
                  </a:lnTo>
                  <a:cubicBezTo>
                    <a:pt x="0" y="13432"/>
                    <a:pt x="13432" y="0"/>
                    <a:pt x="30002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"/>
            <p:cNvSpPr txBox="1"/>
            <p:nvPr/>
          </p:nvSpPr>
          <p:spPr>
            <a:xfrm>
              <a:off x="0" y="-85725"/>
              <a:ext cx="3463756" cy="3364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99"/>
                <a:buFont typeface="Arial"/>
                <a:buNone/>
              </a:pPr>
              <a:r>
                <a:rPr b="1" i="0" lang="en-US" sz="4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ANÁLISIS LÉXICO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9"/>
          <p:cNvGrpSpPr/>
          <p:nvPr/>
        </p:nvGrpSpPr>
        <p:grpSpPr>
          <a:xfrm>
            <a:off x="13181346" y="5195235"/>
            <a:ext cx="3474509" cy="4579625"/>
            <a:chOff x="0" y="-38100"/>
            <a:chExt cx="914818" cy="1205789"/>
          </a:xfrm>
        </p:grpSpPr>
        <p:sp>
          <p:nvSpPr>
            <p:cNvPr id="270" name="Google Shape;270;p9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9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Los caracteres que no pertenecen al lenguaje definido se excluyen del posterior análisis y se guardan para ser reportados.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10"/>
          <p:cNvGrpSpPr/>
          <p:nvPr/>
        </p:nvGrpSpPr>
        <p:grpSpPr>
          <a:xfrm>
            <a:off x="1541022" y="3666377"/>
            <a:ext cx="3475845" cy="1477123"/>
            <a:chOff x="0" y="-38100"/>
            <a:chExt cx="914818" cy="388768"/>
          </a:xfrm>
        </p:grpSpPr>
        <p:sp>
          <p:nvSpPr>
            <p:cNvPr id="277" name="Google Shape;277;p10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0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Árbol Sintáctico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10"/>
          <p:cNvGrpSpPr/>
          <p:nvPr/>
        </p:nvGrpSpPr>
        <p:grpSpPr>
          <a:xfrm>
            <a:off x="5443973" y="3666377"/>
            <a:ext cx="3475845" cy="1477123"/>
            <a:chOff x="0" y="-38100"/>
            <a:chExt cx="914818" cy="388768"/>
          </a:xfrm>
        </p:grpSpPr>
        <p:sp>
          <p:nvSpPr>
            <p:cNvPr id="280" name="Google Shape;280;p10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0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Eliminación de Ambigüedad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" name="Google Shape;282;p10"/>
          <p:cNvGrpSpPr/>
          <p:nvPr/>
        </p:nvGrpSpPr>
        <p:grpSpPr>
          <a:xfrm>
            <a:off x="9314236" y="3666377"/>
            <a:ext cx="3475845" cy="1477123"/>
            <a:chOff x="0" y="-38100"/>
            <a:chExt cx="914818" cy="388768"/>
          </a:xfrm>
        </p:grpSpPr>
        <p:sp>
          <p:nvSpPr>
            <p:cNvPr id="283" name="Google Shape;283;p10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0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Construcción de Tabla de Símbolos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10"/>
          <p:cNvGrpSpPr/>
          <p:nvPr/>
        </p:nvGrpSpPr>
        <p:grpSpPr>
          <a:xfrm>
            <a:off x="13181346" y="3666377"/>
            <a:ext cx="3475845" cy="1477123"/>
            <a:chOff x="0" y="-38100"/>
            <a:chExt cx="914818" cy="388768"/>
          </a:xfrm>
        </p:grpSpPr>
        <p:sp>
          <p:nvSpPr>
            <p:cNvPr id="286" name="Google Shape;286;p10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0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Detección de Errores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10"/>
          <p:cNvGrpSpPr/>
          <p:nvPr/>
        </p:nvGrpSpPr>
        <p:grpSpPr>
          <a:xfrm>
            <a:off x="2635924" y="2943848"/>
            <a:ext cx="1286042" cy="1105192"/>
            <a:chOff x="0" y="0"/>
            <a:chExt cx="812800" cy="698500"/>
          </a:xfrm>
        </p:grpSpPr>
        <p:sp>
          <p:nvSpPr>
            <p:cNvPr id="289" name="Google Shape;289;p10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0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10"/>
          <p:cNvGrpSpPr/>
          <p:nvPr/>
        </p:nvGrpSpPr>
        <p:grpSpPr>
          <a:xfrm>
            <a:off x="10409138" y="2943848"/>
            <a:ext cx="1286042" cy="1105192"/>
            <a:chOff x="0" y="0"/>
            <a:chExt cx="812800" cy="698500"/>
          </a:xfrm>
        </p:grpSpPr>
        <p:sp>
          <p:nvSpPr>
            <p:cNvPr id="292" name="Google Shape;292;p10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0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10"/>
          <p:cNvGrpSpPr/>
          <p:nvPr/>
        </p:nvGrpSpPr>
        <p:grpSpPr>
          <a:xfrm>
            <a:off x="6538875" y="2943848"/>
            <a:ext cx="1286042" cy="1105192"/>
            <a:chOff x="0" y="0"/>
            <a:chExt cx="812800" cy="698500"/>
          </a:xfrm>
        </p:grpSpPr>
        <p:sp>
          <p:nvSpPr>
            <p:cNvPr id="295" name="Google Shape;295;p10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0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10"/>
          <p:cNvGrpSpPr/>
          <p:nvPr/>
        </p:nvGrpSpPr>
        <p:grpSpPr>
          <a:xfrm>
            <a:off x="14276248" y="2943848"/>
            <a:ext cx="1286042" cy="1105192"/>
            <a:chOff x="0" y="0"/>
            <a:chExt cx="812800" cy="698500"/>
          </a:xfrm>
        </p:grpSpPr>
        <p:sp>
          <p:nvSpPr>
            <p:cNvPr id="298" name="Google Shape;298;p10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0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0" name="Google Shape;300;p10"/>
          <p:cNvCxnSpPr/>
          <p:nvPr/>
        </p:nvCxnSpPr>
        <p:spPr>
          <a:xfrm flipH="1" rot="10800000">
            <a:off x="3281911" y="2221094"/>
            <a:ext cx="3880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10"/>
          <p:cNvCxnSpPr/>
          <p:nvPr/>
        </p:nvCxnSpPr>
        <p:spPr>
          <a:xfrm flipH="1" rot="10800000">
            <a:off x="7184862" y="2221094"/>
            <a:ext cx="3880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0"/>
          <p:cNvCxnSpPr/>
          <p:nvPr/>
        </p:nvCxnSpPr>
        <p:spPr>
          <a:xfrm rot="10800000">
            <a:off x="9137154" y="1471766"/>
            <a:ext cx="0" cy="748787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0"/>
          <p:cNvCxnSpPr/>
          <p:nvPr/>
        </p:nvCxnSpPr>
        <p:spPr>
          <a:xfrm>
            <a:off x="3278945" y="2220823"/>
            <a:ext cx="11626036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0"/>
          <p:cNvCxnSpPr/>
          <p:nvPr/>
        </p:nvCxnSpPr>
        <p:spPr>
          <a:xfrm rot="10800000">
            <a:off x="11047323" y="2221094"/>
            <a:ext cx="2741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0"/>
          <p:cNvCxnSpPr/>
          <p:nvPr/>
        </p:nvCxnSpPr>
        <p:spPr>
          <a:xfrm rot="10800000">
            <a:off x="14904981" y="2221094"/>
            <a:ext cx="8097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6" name="Google Shape;306;p10"/>
          <p:cNvGrpSpPr/>
          <p:nvPr/>
        </p:nvGrpSpPr>
        <p:grpSpPr>
          <a:xfrm>
            <a:off x="1530369" y="5195235"/>
            <a:ext cx="3474509" cy="4579625"/>
            <a:chOff x="0" y="-38100"/>
            <a:chExt cx="914818" cy="1205789"/>
          </a:xfrm>
        </p:grpSpPr>
        <p:sp>
          <p:nvSpPr>
            <p:cNvPr id="307" name="Google Shape;307;p10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0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El analizador sintáctico construye un árbol que representa la estructura gramatical del código fuente.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9" name="Google Shape;309;p10"/>
          <p:cNvGrpSpPr/>
          <p:nvPr/>
        </p:nvGrpSpPr>
        <p:grpSpPr>
          <a:xfrm>
            <a:off x="5443973" y="5195235"/>
            <a:ext cx="3474509" cy="4579625"/>
            <a:chOff x="0" y="-38100"/>
            <a:chExt cx="914818" cy="1205789"/>
          </a:xfrm>
        </p:grpSpPr>
        <p:sp>
          <p:nvSpPr>
            <p:cNvPr id="310" name="Google Shape;310;p10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0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El análisis sintáctico debe resolver ambigüedades en la gramática.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10"/>
          <p:cNvGrpSpPr/>
          <p:nvPr/>
        </p:nvGrpSpPr>
        <p:grpSpPr>
          <a:xfrm>
            <a:off x="9356632" y="5195235"/>
            <a:ext cx="3474509" cy="4579625"/>
            <a:chOff x="0" y="-38100"/>
            <a:chExt cx="914818" cy="1205789"/>
          </a:xfrm>
        </p:grpSpPr>
        <p:sp>
          <p:nvSpPr>
            <p:cNvPr id="313" name="Google Shape;313;p10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0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La información de los identificadores se almacena en la tabla de símbolos para su uso posterior.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10"/>
          <p:cNvGrpSpPr/>
          <p:nvPr/>
        </p:nvGrpSpPr>
        <p:grpSpPr>
          <a:xfrm>
            <a:off x="2563742" y="450023"/>
            <a:ext cx="13160517" cy="1278212"/>
            <a:chOff x="0" y="-85725"/>
            <a:chExt cx="3463756" cy="336416"/>
          </a:xfrm>
        </p:grpSpPr>
        <p:sp>
          <p:nvSpPr>
            <p:cNvPr id="316" name="Google Shape;316;p10"/>
            <p:cNvSpPr/>
            <p:nvPr/>
          </p:nvSpPr>
          <p:spPr>
            <a:xfrm>
              <a:off x="0" y="0"/>
              <a:ext cx="3463756" cy="250691"/>
            </a:xfrm>
            <a:custGeom>
              <a:rect b="b" l="l" r="r" t="t"/>
              <a:pathLst>
                <a:path extrusionOk="0" h="250691" w="3463756">
                  <a:moveTo>
                    <a:pt x="30002" y="0"/>
                  </a:moveTo>
                  <a:lnTo>
                    <a:pt x="3433754" y="0"/>
                  </a:lnTo>
                  <a:cubicBezTo>
                    <a:pt x="3441711" y="0"/>
                    <a:pt x="3449342" y="3161"/>
                    <a:pt x="3454969" y="8787"/>
                  </a:cubicBezTo>
                  <a:cubicBezTo>
                    <a:pt x="3460595" y="14414"/>
                    <a:pt x="3463756" y="22045"/>
                    <a:pt x="3463756" y="30002"/>
                  </a:cubicBezTo>
                  <a:lnTo>
                    <a:pt x="3463756" y="220690"/>
                  </a:lnTo>
                  <a:cubicBezTo>
                    <a:pt x="3463756" y="237259"/>
                    <a:pt x="3450324" y="250691"/>
                    <a:pt x="3433754" y="250691"/>
                  </a:cubicBezTo>
                  <a:lnTo>
                    <a:pt x="30002" y="250691"/>
                  </a:lnTo>
                  <a:cubicBezTo>
                    <a:pt x="22045" y="250691"/>
                    <a:pt x="14414" y="247530"/>
                    <a:pt x="8787" y="241904"/>
                  </a:cubicBezTo>
                  <a:cubicBezTo>
                    <a:pt x="3161" y="236278"/>
                    <a:pt x="0" y="228646"/>
                    <a:pt x="0" y="220690"/>
                  </a:cubicBezTo>
                  <a:lnTo>
                    <a:pt x="0" y="30002"/>
                  </a:lnTo>
                  <a:cubicBezTo>
                    <a:pt x="0" y="13432"/>
                    <a:pt x="13432" y="0"/>
                    <a:pt x="30002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0"/>
            <p:cNvSpPr txBox="1"/>
            <p:nvPr/>
          </p:nvSpPr>
          <p:spPr>
            <a:xfrm>
              <a:off x="0" y="-85725"/>
              <a:ext cx="3463756" cy="3364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99"/>
                <a:buFont typeface="Arial"/>
                <a:buNone/>
              </a:pPr>
              <a:r>
                <a:rPr b="1" i="0" lang="en-US" sz="4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ANÁLISIS SINTÁCTICO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10"/>
          <p:cNvGrpSpPr/>
          <p:nvPr/>
        </p:nvGrpSpPr>
        <p:grpSpPr>
          <a:xfrm>
            <a:off x="13181346" y="5195235"/>
            <a:ext cx="3474509" cy="4579625"/>
            <a:chOff x="0" y="-38100"/>
            <a:chExt cx="914818" cy="1205789"/>
          </a:xfrm>
        </p:grpSpPr>
        <p:sp>
          <p:nvSpPr>
            <p:cNvPr id="319" name="Google Shape;319;p10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0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Esta etapa identifica y reporta cualquier error de sintaxis en el código fuente.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1"/>
          <p:cNvGrpSpPr/>
          <p:nvPr/>
        </p:nvGrpSpPr>
        <p:grpSpPr>
          <a:xfrm>
            <a:off x="1541022" y="3666377"/>
            <a:ext cx="3475845" cy="1477123"/>
            <a:chOff x="0" y="-38100"/>
            <a:chExt cx="914818" cy="388768"/>
          </a:xfrm>
        </p:grpSpPr>
        <p:sp>
          <p:nvSpPr>
            <p:cNvPr id="326" name="Google Shape;326;p11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1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Verificación de Tipos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11"/>
          <p:cNvGrpSpPr/>
          <p:nvPr/>
        </p:nvGrpSpPr>
        <p:grpSpPr>
          <a:xfrm>
            <a:off x="5443973" y="3666377"/>
            <a:ext cx="3475845" cy="1477123"/>
            <a:chOff x="0" y="-38100"/>
            <a:chExt cx="914818" cy="388768"/>
          </a:xfrm>
        </p:grpSpPr>
        <p:sp>
          <p:nvSpPr>
            <p:cNvPr id="329" name="Google Shape;329;p11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1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Resolución de Referencias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11"/>
          <p:cNvGrpSpPr/>
          <p:nvPr/>
        </p:nvGrpSpPr>
        <p:grpSpPr>
          <a:xfrm>
            <a:off x="9314236" y="3666377"/>
            <a:ext cx="3475845" cy="1477123"/>
            <a:chOff x="0" y="-38100"/>
            <a:chExt cx="914818" cy="388768"/>
          </a:xfrm>
        </p:grpSpPr>
        <p:sp>
          <p:nvSpPr>
            <p:cNvPr id="332" name="Google Shape;332;p11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1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Validación de Restricciones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p11"/>
          <p:cNvGrpSpPr/>
          <p:nvPr/>
        </p:nvGrpSpPr>
        <p:grpSpPr>
          <a:xfrm>
            <a:off x="13181346" y="3666377"/>
            <a:ext cx="3475845" cy="1477123"/>
            <a:chOff x="0" y="-38100"/>
            <a:chExt cx="914818" cy="388768"/>
          </a:xfrm>
        </p:grpSpPr>
        <p:sp>
          <p:nvSpPr>
            <p:cNvPr id="335" name="Google Shape;335;p11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1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Detección de Errores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" name="Google Shape;337;p11"/>
          <p:cNvGrpSpPr/>
          <p:nvPr/>
        </p:nvGrpSpPr>
        <p:grpSpPr>
          <a:xfrm>
            <a:off x="2635924" y="2943848"/>
            <a:ext cx="1286042" cy="1105192"/>
            <a:chOff x="0" y="0"/>
            <a:chExt cx="812800" cy="698500"/>
          </a:xfrm>
        </p:grpSpPr>
        <p:sp>
          <p:nvSpPr>
            <p:cNvPr id="338" name="Google Shape;338;p11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1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11"/>
          <p:cNvGrpSpPr/>
          <p:nvPr/>
        </p:nvGrpSpPr>
        <p:grpSpPr>
          <a:xfrm>
            <a:off x="10409138" y="2943848"/>
            <a:ext cx="1286042" cy="1105192"/>
            <a:chOff x="0" y="0"/>
            <a:chExt cx="812800" cy="698500"/>
          </a:xfrm>
        </p:grpSpPr>
        <p:sp>
          <p:nvSpPr>
            <p:cNvPr id="341" name="Google Shape;341;p11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1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" name="Google Shape;343;p11"/>
          <p:cNvGrpSpPr/>
          <p:nvPr/>
        </p:nvGrpSpPr>
        <p:grpSpPr>
          <a:xfrm>
            <a:off x="6538875" y="2943848"/>
            <a:ext cx="1286042" cy="1105192"/>
            <a:chOff x="0" y="0"/>
            <a:chExt cx="812800" cy="698500"/>
          </a:xfrm>
        </p:grpSpPr>
        <p:sp>
          <p:nvSpPr>
            <p:cNvPr id="344" name="Google Shape;344;p11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11"/>
          <p:cNvGrpSpPr/>
          <p:nvPr/>
        </p:nvGrpSpPr>
        <p:grpSpPr>
          <a:xfrm>
            <a:off x="14276248" y="2943848"/>
            <a:ext cx="1286042" cy="1105192"/>
            <a:chOff x="0" y="0"/>
            <a:chExt cx="812800" cy="698500"/>
          </a:xfrm>
        </p:grpSpPr>
        <p:sp>
          <p:nvSpPr>
            <p:cNvPr id="347" name="Google Shape;347;p11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1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99"/>
                <a:buFont typeface="Arial"/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49" name="Google Shape;349;p11"/>
          <p:cNvCxnSpPr/>
          <p:nvPr/>
        </p:nvCxnSpPr>
        <p:spPr>
          <a:xfrm flipH="1" rot="10800000">
            <a:off x="3281911" y="2221094"/>
            <a:ext cx="3880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11"/>
          <p:cNvCxnSpPr/>
          <p:nvPr/>
        </p:nvCxnSpPr>
        <p:spPr>
          <a:xfrm flipH="1" rot="10800000">
            <a:off x="7184862" y="2221094"/>
            <a:ext cx="3880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11"/>
          <p:cNvCxnSpPr/>
          <p:nvPr/>
        </p:nvCxnSpPr>
        <p:spPr>
          <a:xfrm rot="10800000">
            <a:off x="9137154" y="1471766"/>
            <a:ext cx="0" cy="748787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11"/>
          <p:cNvCxnSpPr/>
          <p:nvPr/>
        </p:nvCxnSpPr>
        <p:spPr>
          <a:xfrm>
            <a:off x="3278945" y="2220823"/>
            <a:ext cx="11626036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11"/>
          <p:cNvCxnSpPr/>
          <p:nvPr/>
        </p:nvCxnSpPr>
        <p:spPr>
          <a:xfrm rot="10800000">
            <a:off x="11047323" y="2221094"/>
            <a:ext cx="2741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11"/>
          <p:cNvCxnSpPr/>
          <p:nvPr/>
        </p:nvCxnSpPr>
        <p:spPr>
          <a:xfrm rot="10800000">
            <a:off x="14904981" y="2221094"/>
            <a:ext cx="8097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5" name="Google Shape;355;p11"/>
          <p:cNvGrpSpPr/>
          <p:nvPr/>
        </p:nvGrpSpPr>
        <p:grpSpPr>
          <a:xfrm>
            <a:off x="1530369" y="5195235"/>
            <a:ext cx="3474509" cy="4579625"/>
            <a:chOff x="0" y="-38100"/>
            <a:chExt cx="914818" cy="1205789"/>
          </a:xfrm>
        </p:grpSpPr>
        <p:sp>
          <p:nvSpPr>
            <p:cNvPr id="356" name="Google Shape;356;p11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1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Se verifica que las operaciones y asignaciones sean compatibles con los tipos de datos utilizados.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1"/>
          <p:cNvGrpSpPr/>
          <p:nvPr/>
        </p:nvGrpSpPr>
        <p:grpSpPr>
          <a:xfrm>
            <a:off x="5443973" y="5195235"/>
            <a:ext cx="3474509" cy="4579625"/>
            <a:chOff x="0" y="-38100"/>
            <a:chExt cx="914818" cy="1205789"/>
          </a:xfrm>
        </p:grpSpPr>
        <p:sp>
          <p:nvSpPr>
            <p:cNvPr id="359" name="Google Shape;359;p11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1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Las referencias a identificadores, como variables y funciones, se asocian con sus definiciones.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" name="Google Shape;361;p11"/>
          <p:cNvGrpSpPr/>
          <p:nvPr/>
        </p:nvGrpSpPr>
        <p:grpSpPr>
          <a:xfrm>
            <a:off x="9356632" y="5195235"/>
            <a:ext cx="3474509" cy="4579625"/>
            <a:chOff x="0" y="-38100"/>
            <a:chExt cx="914818" cy="1205789"/>
          </a:xfrm>
        </p:grpSpPr>
        <p:sp>
          <p:nvSpPr>
            <p:cNvPr id="362" name="Google Shape;362;p11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1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Se comprueban otras restricciones semánticas, como la no declaración de variables duplicadas.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11"/>
          <p:cNvGrpSpPr/>
          <p:nvPr/>
        </p:nvGrpSpPr>
        <p:grpSpPr>
          <a:xfrm>
            <a:off x="2563742" y="450023"/>
            <a:ext cx="13160517" cy="1278212"/>
            <a:chOff x="0" y="-85725"/>
            <a:chExt cx="3463756" cy="336416"/>
          </a:xfrm>
        </p:grpSpPr>
        <p:sp>
          <p:nvSpPr>
            <p:cNvPr id="365" name="Google Shape;365;p11"/>
            <p:cNvSpPr/>
            <p:nvPr/>
          </p:nvSpPr>
          <p:spPr>
            <a:xfrm>
              <a:off x="0" y="0"/>
              <a:ext cx="3463756" cy="250691"/>
            </a:xfrm>
            <a:custGeom>
              <a:rect b="b" l="l" r="r" t="t"/>
              <a:pathLst>
                <a:path extrusionOk="0" h="250691" w="3463756">
                  <a:moveTo>
                    <a:pt x="30002" y="0"/>
                  </a:moveTo>
                  <a:lnTo>
                    <a:pt x="3433754" y="0"/>
                  </a:lnTo>
                  <a:cubicBezTo>
                    <a:pt x="3441711" y="0"/>
                    <a:pt x="3449342" y="3161"/>
                    <a:pt x="3454969" y="8787"/>
                  </a:cubicBezTo>
                  <a:cubicBezTo>
                    <a:pt x="3460595" y="14414"/>
                    <a:pt x="3463756" y="22045"/>
                    <a:pt x="3463756" y="30002"/>
                  </a:cubicBezTo>
                  <a:lnTo>
                    <a:pt x="3463756" y="220690"/>
                  </a:lnTo>
                  <a:cubicBezTo>
                    <a:pt x="3463756" y="237259"/>
                    <a:pt x="3450324" y="250691"/>
                    <a:pt x="3433754" y="250691"/>
                  </a:cubicBezTo>
                  <a:lnTo>
                    <a:pt x="30002" y="250691"/>
                  </a:lnTo>
                  <a:cubicBezTo>
                    <a:pt x="22045" y="250691"/>
                    <a:pt x="14414" y="247530"/>
                    <a:pt x="8787" y="241904"/>
                  </a:cubicBezTo>
                  <a:cubicBezTo>
                    <a:pt x="3161" y="236278"/>
                    <a:pt x="0" y="228646"/>
                    <a:pt x="0" y="220690"/>
                  </a:cubicBezTo>
                  <a:lnTo>
                    <a:pt x="0" y="30002"/>
                  </a:lnTo>
                  <a:cubicBezTo>
                    <a:pt x="0" y="13432"/>
                    <a:pt x="13432" y="0"/>
                    <a:pt x="30002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1"/>
            <p:cNvSpPr txBox="1"/>
            <p:nvPr/>
          </p:nvSpPr>
          <p:spPr>
            <a:xfrm>
              <a:off x="0" y="-85725"/>
              <a:ext cx="3463756" cy="3364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99"/>
                <a:buFont typeface="Arial"/>
                <a:buNone/>
              </a:pPr>
              <a:r>
                <a:rPr b="1" i="0" lang="en-US" sz="4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ANÁLISIS SEMÁNTICO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7" name="Google Shape;367;p11"/>
          <p:cNvGrpSpPr/>
          <p:nvPr/>
        </p:nvGrpSpPr>
        <p:grpSpPr>
          <a:xfrm>
            <a:off x="13181346" y="5195235"/>
            <a:ext cx="3474509" cy="4579625"/>
            <a:chOff x="0" y="-38100"/>
            <a:chExt cx="914818" cy="1205789"/>
          </a:xfrm>
        </p:grpSpPr>
        <p:sp>
          <p:nvSpPr>
            <p:cNvPr id="368" name="Google Shape;368;p11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1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Esta etapa identifica cualquier incoherencia que hace que la estructura del código no tenga consistencia con las reglas definidas del lenguaje.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"/>
          <p:cNvSpPr txBox="1"/>
          <p:nvPr/>
        </p:nvSpPr>
        <p:spPr>
          <a:xfrm>
            <a:off x="1904222" y="1577033"/>
            <a:ext cx="13131496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GENERACIÓN DE CÓDIGO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75" name="Google Shape;375;p12"/>
          <p:cNvSpPr/>
          <p:nvPr/>
        </p:nvSpPr>
        <p:spPr>
          <a:xfrm>
            <a:off x="1720972" y="3401273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6" name="Google Shape;376;p12"/>
          <p:cNvGrpSpPr/>
          <p:nvPr/>
        </p:nvGrpSpPr>
        <p:grpSpPr>
          <a:xfrm>
            <a:off x="1720972" y="4376991"/>
            <a:ext cx="4833829" cy="511373"/>
            <a:chOff x="0" y="-95250"/>
            <a:chExt cx="6445105" cy="681832"/>
          </a:xfrm>
        </p:grpSpPr>
        <p:sp>
          <p:nvSpPr>
            <p:cNvPr id="377" name="Google Shape;377;p12"/>
            <p:cNvSpPr/>
            <p:nvPr/>
          </p:nvSpPr>
          <p:spPr>
            <a:xfrm>
              <a:off x="0" y="0"/>
              <a:ext cx="6445105" cy="586582"/>
            </a:xfrm>
            <a:custGeom>
              <a:rect b="b" l="l" r="r" t="t"/>
              <a:pathLst>
                <a:path extrusionOk="0" h="586582" w="6445105">
                  <a:moveTo>
                    <a:pt x="0" y="0"/>
                  </a:moveTo>
                  <a:lnTo>
                    <a:pt x="6445105" y="0"/>
                  </a:lnTo>
                  <a:lnTo>
                    <a:pt x="6445105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2"/>
            <p:cNvSpPr txBox="1"/>
            <p:nvPr/>
          </p:nvSpPr>
          <p:spPr>
            <a:xfrm>
              <a:off x="0" y="-95250"/>
              <a:ext cx="6445104" cy="68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50"/>
                <a:buFont typeface="Arial"/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Código Intermedio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9" name="Google Shape;379;p12"/>
          <p:cNvGrpSpPr/>
          <p:nvPr/>
        </p:nvGrpSpPr>
        <p:grpSpPr>
          <a:xfrm>
            <a:off x="1720972" y="4967838"/>
            <a:ext cx="5098702" cy="1536353"/>
            <a:chOff x="0" y="-133350"/>
            <a:chExt cx="6798270" cy="2048470"/>
          </a:xfrm>
        </p:grpSpPr>
        <p:sp>
          <p:nvSpPr>
            <p:cNvPr id="380" name="Google Shape;380;p12"/>
            <p:cNvSpPr/>
            <p:nvPr/>
          </p:nvSpPr>
          <p:spPr>
            <a:xfrm>
              <a:off x="0" y="0"/>
              <a:ext cx="6798270" cy="1915120"/>
            </a:xfrm>
            <a:custGeom>
              <a:rect b="b" l="l" r="r" t="t"/>
              <a:pathLst>
                <a:path extrusionOk="0" h="1915120" w="6798270">
                  <a:moveTo>
                    <a:pt x="0" y="0"/>
                  </a:moveTo>
                  <a:lnTo>
                    <a:pt x="6798270" y="0"/>
                  </a:lnTo>
                  <a:lnTo>
                    <a:pt x="6798270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2"/>
            <p:cNvSpPr txBox="1"/>
            <p:nvPr/>
          </p:nvSpPr>
          <p:spPr>
            <a:xfrm>
              <a:off x="0" y="-133350"/>
              <a:ext cx="6798270" cy="2048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6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12"/>
                <a:buFont typeface="Arial"/>
                <a:buNone/>
              </a:pPr>
              <a:r>
                <a:rPr b="0" i="0" lang="en-US" sz="19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genera un código intermedio que es más abstraído que el código máquina final.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382" name="Google Shape;382;p12"/>
          <p:cNvSpPr/>
          <p:nvPr/>
        </p:nvSpPr>
        <p:spPr>
          <a:xfrm>
            <a:off x="7061746" y="3401273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3" name="Google Shape;383;p12"/>
          <p:cNvGrpSpPr/>
          <p:nvPr/>
        </p:nvGrpSpPr>
        <p:grpSpPr>
          <a:xfrm>
            <a:off x="7061746" y="4376991"/>
            <a:ext cx="4322037" cy="511373"/>
            <a:chOff x="0" y="-95250"/>
            <a:chExt cx="5762716" cy="681832"/>
          </a:xfrm>
        </p:grpSpPr>
        <p:sp>
          <p:nvSpPr>
            <p:cNvPr id="384" name="Google Shape;384;p12"/>
            <p:cNvSpPr/>
            <p:nvPr/>
          </p:nvSpPr>
          <p:spPr>
            <a:xfrm>
              <a:off x="0" y="0"/>
              <a:ext cx="5762716" cy="586582"/>
            </a:xfrm>
            <a:custGeom>
              <a:rect b="b" l="l" r="r" t="t"/>
              <a:pathLst>
                <a:path extrusionOk="0" h="586582" w="5762716">
                  <a:moveTo>
                    <a:pt x="0" y="0"/>
                  </a:moveTo>
                  <a:lnTo>
                    <a:pt x="5762716" y="0"/>
                  </a:lnTo>
                  <a:lnTo>
                    <a:pt x="5762716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2"/>
            <p:cNvSpPr txBox="1"/>
            <p:nvPr/>
          </p:nvSpPr>
          <p:spPr>
            <a:xfrm>
              <a:off x="0" y="-95250"/>
              <a:ext cx="5762716" cy="68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50"/>
                <a:buFont typeface="Arial"/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Código Objeto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6" name="Google Shape;386;p12"/>
          <p:cNvGrpSpPr/>
          <p:nvPr/>
        </p:nvGrpSpPr>
        <p:grpSpPr>
          <a:xfrm>
            <a:off x="7061746" y="4967838"/>
            <a:ext cx="5098702" cy="1536353"/>
            <a:chOff x="0" y="-133350"/>
            <a:chExt cx="6798270" cy="2048470"/>
          </a:xfrm>
        </p:grpSpPr>
        <p:sp>
          <p:nvSpPr>
            <p:cNvPr id="387" name="Google Shape;387;p12"/>
            <p:cNvSpPr/>
            <p:nvPr/>
          </p:nvSpPr>
          <p:spPr>
            <a:xfrm>
              <a:off x="0" y="0"/>
              <a:ext cx="6798270" cy="1915120"/>
            </a:xfrm>
            <a:custGeom>
              <a:rect b="b" l="l" r="r" t="t"/>
              <a:pathLst>
                <a:path extrusionOk="0" h="1915120" w="6798270">
                  <a:moveTo>
                    <a:pt x="0" y="0"/>
                  </a:moveTo>
                  <a:lnTo>
                    <a:pt x="6798270" y="0"/>
                  </a:lnTo>
                  <a:lnTo>
                    <a:pt x="6798270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2"/>
            <p:cNvSpPr txBox="1"/>
            <p:nvPr/>
          </p:nvSpPr>
          <p:spPr>
            <a:xfrm>
              <a:off x="0" y="-133350"/>
              <a:ext cx="6798270" cy="2048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6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12"/>
                <a:buFont typeface="Arial"/>
                <a:buNone/>
              </a:pPr>
              <a:r>
                <a:rPr b="0" i="0" lang="en-US" sz="19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 código intermedio se traduce a código máquina que puede ser ejecutado directamente.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9" name="Google Shape;389;p12"/>
          <p:cNvSpPr/>
          <p:nvPr/>
        </p:nvSpPr>
        <p:spPr>
          <a:xfrm>
            <a:off x="12160449" y="4454918"/>
            <a:ext cx="4304978" cy="439936"/>
          </a:xfrm>
          <a:custGeom>
            <a:rect b="b" l="l" r="r" t="t"/>
            <a:pathLst>
              <a:path extrusionOk="0" h="586582" w="5739970">
                <a:moveTo>
                  <a:pt x="0" y="0"/>
                </a:moveTo>
                <a:lnTo>
                  <a:pt x="5739970" y="0"/>
                </a:lnTo>
                <a:lnTo>
                  <a:pt x="5739970" y="586582"/>
                </a:lnTo>
                <a:lnTo>
                  <a:pt x="0" y="58658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4" name="Google Shape;3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538" y="3300413"/>
            <a:ext cx="7069410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7"/>
          <p:cNvSpPr txBox="1"/>
          <p:nvPr/>
        </p:nvSpPr>
        <p:spPr>
          <a:xfrm>
            <a:off x="871538" y="871538"/>
            <a:ext cx="17372171" cy="1038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Jerarquía de Chomsky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7"/>
          <p:cNvSpPr txBox="1"/>
          <p:nvPr/>
        </p:nvSpPr>
        <p:spPr>
          <a:xfrm>
            <a:off x="1528763" y="3871913"/>
            <a:ext cx="5840685" cy="6241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Todos los </a:t>
            </a:r>
            <a:r>
              <a:rPr b="1" i="0" lang="en-US" sz="33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tipo 3</a:t>
            </a:r>
            <a:r>
              <a:rPr b="0" i="0" lang="en-US" sz="33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son tipo 2, tipo 1 y tipo 0. </a:t>
            </a:r>
            <a:b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3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Hay un segmento de la </a:t>
            </a:r>
            <a:r>
              <a:rPr b="0" i="0" lang="en-US" sz="3375" u="none" cap="none" strike="noStrike">
                <a:solidFill>
                  <a:srgbClr val="A3E63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tipo 2</a:t>
            </a:r>
            <a:r>
              <a:rPr b="0" i="0" lang="en-US" sz="33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que no puedo reconocer como tipo 3.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75" u="none" cap="none" strike="noStrike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 3 ⊂ Tipo 2 ⊂ Tipo 1 ⊂ Tipo 0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Jerarquía de Chomsky (Chomsky 1959). La Jerarquía de Chomsky define una...  | Download Scientific Diagram" id="397" name="Google Shape;39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7831" y="3300413"/>
            <a:ext cx="8271303" cy="473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"/>
          <p:cNvSpPr txBox="1"/>
          <p:nvPr/>
        </p:nvSpPr>
        <p:spPr>
          <a:xfrm>
            <a:off x="1904222" y="1577033"/>
            <a:ext cx="13131496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JERARQUÍA DE CHOMSKY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3" name="Google Shape;403;p14"/>
          <p:cNvGraphicFramePr/>
          <p:nvPr/>
        </p:nvGraphicFramePr>
        <p:xfrm>
          <a:off x="1028700" y="25815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{34856A77-007F-4721-9B33-177BD9D7B90C}</a:tableStyleId>
              </a:tblPr>
              <a:tblGrid>
                <a:gridCol w="2688200"/>
                <a:gridCol w="3378875"/>
                <a:gridCol w="10163500"/>
              </a:tblGrid>
              <a:tr h="75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Lenguaje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CD"/>
                    </a:solidFill>
                  </a:tcPr>
                </a:tc>
              </a:tr>
              <a:tr h="144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99"/>
                        <a:buFont typeface="Arial"/>
                        <a:buNone/>
                      </a:pPr>
                      <a:r>
                        <a:rPr lang="en-US" sz="15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Lenguajes Regulares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pueden describir mediante expresiones regulares y ser reconocidos por autómatas finitos deterministas (DFA) o no deterministas (NFA).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 Libre del Contexto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Son más complejos que los lenguajes regulares y pueden ser descritos mediante gramáticas libres de contexto (CFG). Estos lenguajes pueden ser reconocidos por autómatas de pila (PDA).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 Sensible al Contexto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Son más complejos que los lenguajes libres de contexto y pueden ser descritos mediante gramáticas sensibles al contexto. Estos lenguajes pueden ser reconocidos por máquinas de Turing lineales limitadas (LBA).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 Recursivamente Enumerable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Son los lenguajes más generales en la jerarquía y se pueden describir mediante gramáticas no restringidas. Son reconocidos por máquinas de Turing, que pueden realizar cualquier cómputo.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"/>
          <p:cNvSpPr txBox="1"/>
          <p:nvPr/>
        </p:nvSpPr>
        <p:spPr>
          <a:xfrm>
            <a:off x="1464052" y="2923362"/>
            <a:ext cx="12632411" cy="51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4"/>
              <a:buFont typeface="Arial"/>
              <a:buNone/>
            </a:pPr>
            <a:r>
              <a:rPr b="1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Intérprete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Ejecuta el código línea por línea.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Traduce y ejecuta en tiempo de ejecución.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Más flexible pero menos eficiente que un compilador.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Ejemplo: Python, JavaScript.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4"/>
              <a:buFont typeface="Arial"/>
              <a:buNone/>
            </a:pPr>
            <a:r>
              <a:rPr b="1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Compilador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Traduce todo el código fuente a código máquina o intermedio antes de ejecutarlo.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Proceso más largo al inicio, pero la ejecución es más rápida.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Ejemplo: C, C++.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6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 txBox="1"/>
          <p:nvPr/>
        </p:nvSpPr>
        <p:spPr>
          <a:xfrm>
            <a:off x="1464052" y="2923362"/>
            <a:ext cx="12632411" cy="40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4"/>
              <a:buFont typeface="Arial"/>
              <a:buNone/>
            </a:pPr>
            <a:r>
              <a:rPr b="1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Estructura de un Compilador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léxico: convierte el código fuente en tokens.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sintáctico: construye árboles sintácticos (parsing).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semántico: verifica el significado del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Generación de código intermedio.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Optimización del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Generación de código final (ejecutable).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Gestión de errores en todas las fases.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7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"/>
          <p:cNvSpPr txBox="1"/>
          <p:nvPr/>
        </p:nvSpPr>
        <p:spPr>
          <a:xfrm>
            <a:off x="1464052" y="2932887"/>
            <a:ext cx="15276664" cy="6293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4"/>
              <a:buFont typeface="Arial"/>
              <a:buNone/>
            </a:pPr>
            <a:r>
              <a:rPr b="1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Jerarquía de Chomsky (clasificación de lenguajes formales)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Tipo 0 – Lenguajes irrestrictos (Turing-completos)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Tipo 1 – Gramáticas sensibles al 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Tipo 2 – Gramáticas libres del contexto (usadas en la mayoría de los lenguajes de programación)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Tipo 3 – Gramáticas regulares (usadas en expresiones regulares y análisis léxico)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4"/>
              <a:buFont typeface="Arial"/>
              <a:buNone/>
            </a:pPr>
            <a:r>
              <a:rPr b="1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Clasificación de Gramáticas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Regulares (Tipo 3): autómatas finitos, usadas para el análisis léxico.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Libres de contexto (Tipo 2): autómatas de pila, usadas para análisis sintáctico.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Sensibles al contexto (Tipo 1): más complejas, raramente usadas en compiladores.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Irrestritas (Tipo 0): teóricas, relacionadas con máquinas de Turing.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8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"/>
          <p:cNvSpPr txBox="1"/>
          <p:nvPr/>
        </p:nvSpPr>
        <p:spPr>
          <a:xfrm>
            <a:off x="1793489" y="3276384"/>
            <a:ext cx="14701023" cy="595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None/>
            </a:pPr>
            <a:r>
              <a:rPr b="1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Pensamiento Lógico y Analítico</a:t>
            </a:r>
            <a:r>
              <a:rPr b="0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Es esencial para comprender cómo se procesan las instrucciones, cómo se generan los errores y cómo se optimizan los procesos de traducción de lenguajes.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None/>
            </a:pPr>
            <a:r>
              <a:rPr b="1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Paciencia</a:t>
            </a:r>
            <a:r>
              <a:rPr b="0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Es esencial para superar los obstáculos que se presentan al implementar o estudiar estas herramientas ya que comprender cómo funcionan los compiladores e intérpretes y las estructuras que los componen puede ser desafiante y requerir tiempo.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None/>
            </a:pPr>
            <a:r>
              <a:rPr b="1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Curiosidad</a:t>
            </a:r>
            <a:r>
              <a:rPr b="0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Por cómo funcionan los lenguajes formales y los autómatas, y cómo se aplican en la teoría de lenguajes y la computación es importante ser autodidacta y estudiar por cuenta propia.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9"/>
          <p:cNvSpPr txBox="1"/>
          <p:nvPr/>
        </p:nvSpPr>
        <p:spPr>
          <a:xfrm>
            <a:off x="2392343" y="2262543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0"/>
          <p:cNvSpPr txBox="1"/>
          <p:nvPr/>
        </p:nvSpPr>
        <p:spPr>
          <a:xfrm>
            <a:off x="1793489" y="4312620"/>
            <a:ext cx="14701023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28" lvl="1" marL="734056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"Introducción a los lenguajes formales y a la teoría de autómatas" de Peter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28" lvl="1" marL="734056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"Teoría de Lenguajes Formales y Autómatas" de Jörg S. M. Hock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0"/>
          <p:cNvSpPr txBox="1"/>
          <p:nvPr/>
        </p:nvSpPr>
        <p:spPr>
          <a:xfrm>
            <a:off x="2392343" y="2849441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1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